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1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65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210" y="5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06.10.2026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这一页说具体交付物。工作面板把文本框、图片上传、检索、结果列表和 QA 报告放在一个界面。生成侧：文本能出支撑板和法兰，单图上传后提尺寸，多图分组后会检查视图间尺寸冲突。检索侧：文本按标签和同义名排序，单图多图做特征比对，详情分溯源、规格、版本三块。QA 侧：几何判单实体和开口，尺寸查 X/Y/Z 和孔径，默认 0.2 毫米公差，列出超差。另外有一批带五个字段的测试零件目录，以及 AT01 到 AT12 每条用例的输入、预期、实际和截图，最后还有端到端跑通记录和遗留问题清单。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52400" cy="6858000"/>
          </a:xfrm>
          <a:prstGeom prst="roundRect">
            <a:avLst>
              <a:gd name="adj" fmla="val 0"/>
            </a:avLst>
          </a:prstGeom>
          <a:solidFill>
            <a:srgbClr val="4472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1524000"/>
            <a:ext cx="762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ED7D31"/>
                </a:solidFill>
                <a:latin typeface="Noto Sans SC"/>
                <a:ea typeface="Noto Sans SC"/>
                <a:cs typeface="Noto Sans SC"/>
                <a:sym typeface="Noto Sans SC"/>
              </a:rPr>
              <a:t>软件项目组织与管理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57290">
            <a:off x="1016053" y="2089150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ED7D31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5" name="AutoShape 5"/>
          <p:cNvSpPr/>
          <p:nvPr/>
        </p:nvSpPr>
        <p:spPr>
          <a:xfrm>
            <a:off x="1016000" y="2413000"/>
            <a:ext cx="1016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4400" b="1" i="0" u="none" strike="noStrike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讨论三：项目计划会议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4064000"/>
            <a:ext cx="990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0" i="0" u="none" strike="noStrike">
                <a:solidFill>
                  <a:srgbClr val="44546A"/>
                </a:solidFill>
                <a:latin typeface="Noto Sans SC"/>
                <a:ea typeface="Noto Sans SC"/>
                <a:cs typeface="Noto Sans SC"/>
                <a:sym typeface="Noto Sans SC"/>
              </a:rPr>
              <a:t>SimpleCADforDSH：面向 DeepSeek Harness 的智能参数化 CAD 生成检索插件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4297">
            <a:off x="1016004" y="5454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E1E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1016000" y="5689600"/>
            <a:ext cx="635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 dirty="0" err="1">
                <a:solidFill>
                  <a:srgbClr val="788291"/>
                </a:solidFill>
                <a:latin typeface="Noto Sans SC"/>
                <a:ea typeface="Noto Sans SC"/>
                <a:cs typeface="Noto Sans SC"/>
                <a:sym typeface="Noto Sans SC"/>
              </a:rPr>
              <a:t>第十二组</a:t>
            </a:r>
            <a:r>
              <a:rPr lang="en-US" sz="1300" b="0" i="0" u="none" strike="noStrike" dirty="0">
                <a:solidFill>
                  <a:srgbClr val="788291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sp>
        <p:nvSpPr>
          <p:cNvPr id="9" name="AutoShape 9"/>
          <p:cNvSpPr/>
          <p:nvPr/>
        </p:nvSpPr>
        <p:spPr>
          <a:xfrm>
            <a:off x="8636000" y="5689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88291"/>
                </a:solidFill>
                <a:latin typeface="Noto Sans SC"/>
                <a:ea typeface="Noto Sans SC"/>
                <a:cs typeface="Noto Sans SC"/>
                <a:sym typeface="Noto Sans SC"/>
              </a:rPr>
              <a:t>2026 年 9 月 28 日</a:t>
            </a:r>
            <a:endParaRPr lang="en-US" sz="11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E48A046-3ADA-7F8D-451C-C4452B5369DA}"/>
              </a:ext>
            </a:extLst>
          </p:cNvPr>
          <p:cNvSpPr txBox="1"/>
          <p:nvPr/>
        </p:nvSpPr>
        <p:spPr>
          <a:xfrm>
            <a:off x="9734580" y="5041900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汇报人：庞佳泽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112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ED7D31"/>
                </a:solidFill>
                <a:latin typeface="Noto Sans SC"/>
                <a:ea typeface="Noto Sans SC"/>
                <a:cs typeface="Noto Sans SC"/>
                <a:sym typeface="Noto Sans SC"/>
              </a:rPr>
              <a:t>AGENDA · 汇报内容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0922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汇报内容简介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297">
            <a:off x="1016004" y="2025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E1E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AutoShape 5"/>
          <p:cNvSpPr/>
          <p:nvPr/>
        </p:nvSpPr>
        <p:spPr>
          <a:xfrm>
            <a:off x="1016000" y="2540000"/>
            <a:ext cx="101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ED7D31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2286000" y="2603500"/>
            <a:ext cx="3810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项目范围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2286000" y="3149600"/>
            <a:ext cx="355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400" b="0" i="0" u="none" strike="noStrike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如何划分迭代，故事完成的迭代数，故事点和优先级的确定。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5373556">
            <a:off x="5270500" y="3359174"/>
            <a:ext cx="165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E1E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6604000" y="2540000"/>
            <a:ext cx="101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4472C4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723517" y="2616200"/>
            <a:ext cx="3556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 dirty="0" err="1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迭代分工</a:t>
            </a:r>
            <a:endParaRPr lang="en-US" sz="1100" dirty="0"/>
          </a:p>
        </p:txBody>
      </p:sp>
      <p:sp>
        <p:nvSpPr>
          <p:cNvPr id="11" name="AutoShape 11"/>
          <p:cNvSpPr/>
          <p:nvPr/>
        </p:nvSpPr>
        <p:spPr>
          <a:xfrm>
            <a:off x="7723517" y="3149600"/>
            <a:ext cx="3452483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4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本次会议确定了12 个故事、38 </a:t>
            </a:r>
            <a:r>
              <a:rPr lang="en-US" sz="14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个故事点，小组六人的工作安排，交付物验收标准</a:t>
            </a:r>
            <a:r>
              <a:rPr lang="en-US" sz="14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12" name="AutoShape 12"/>
          <p:cNvSpPr/>
          <p:nvPr/>
        </p:nvSpPr>
        <p:spPr>
          <a:xfrm>
            <a:off x="1016000" y="4826000"/>
            <a:ext cx="10160000" cy="889000"/>
          </a:xfrm>
          <a:prstGeom prst="roundRect">
            <a:avLst>
              <a:gd name="adj" fmla="val 0"/>
            </a:avLst>
          </a:prstGeom>
          <a:solidFill>
            <a:srgbClr val="F5F7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1320800" y="4978400"/>
            <a:ext cx="9652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 dirty="0" err="1">
                <a:solidFill>
                  <a:srgbClr val="44546A"/>
                </a:solidFill>
                <a:latin typeface="Noto Sans SC"/>
                <a:ea typeface="Noto Sans SC"/>
                <a:cs typeface="Noto Sans SC"/>
                <a:sym typeface="Noto Sans SC"/>
              </a:rPr>
              <a:t>目标：完成一个能演示的版本，生成模型、检索历史零件、自动检查几何和尺寸，每步留下验收记录</a:t>
            </a:r>
            <a:r>
              <a:rPr lang="en-US" sz="1400" b="0" i="0" u="none" strike="noStrike" dirty="0">
                <a:solidFill>
                  <a:srgbClr val="44546A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14" name="AutoShape 14"/>
          <p:cNvSpPr/>
          <p:nvPr/>
        </p:nvSpPr>
        <p:spPr>
          <a:xfrm>
            <a:off x="1016000" y="63500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A0A8B4"/>
                </a:solidFill>
                <a:latin typeface="Noto Sans SC"/>
                <a:ea typeface="Noto Sans SC"/>
                <a:cs typeface="Noto Sans SC"/>
                <a:sym typeface="Noto Sans SC"/>
              </a:rPr>
              <a:t>SimpleCADforDSH ｜ 讨论三 · 项目计划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10668000" y="6350000"/>
            <a:ext cx="50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 dirty="0">
                <a:solidFill>
                  <a:srgbClr val="A0A8B4"/>
                </a:solidFill>
                <a:latin typeface="Noto Sans SC"/>
                <a:ea typeface="Noto Sans SC"/>
                <a:cs typeface="Noto Sans SC"/>
                <a:sym typeface="Noto Sans SC"/>
              </a:rPr>
              <a:t>02 / 11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112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ED7D31"/>
                </a:solidFill>
                <a:latin typeface="Noto Sans SC"/>
                <a:ea typeface="Noto Sans SC"/>
                <a:cs typeface="Noto Sans SC"/>
                <a:sym typeface="Noto Sans SC"/>
              </a:rPr>
              <a:t>SCOPE · 项目范围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0922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迭代任务讨论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159000"/>
            <a:ext cx="4572000" cy="2921000"/>
          </a:xfrm>
          <a:prstGeom prst="roundRect">
            <a:avLst>
              <a:gd name="adj" fmla="val 0"/>
            </a:avLst>
          </a:prstGeom>
          <a:solidFill>
            <a:srgbClr val="4472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270000" y="2362200"/>
            <a:ext cx="4064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迭代 1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270000" y="27432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12 个故事 · 38 故事点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270000" y="3276600"/>
            <a:ext cx="4064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300" b="0" i="0" u="none" strike="noStrike" dirty="0">
                <a:solidFill>
                  <a:srgbClr val="FFFFF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G1 生成：US01–US04（文本/</a:t>
            </a:r>
            <a:r>
              <a:rPr lang="en-US" sz="1300" b="0" i="0" u="none" strike="noStrike" dirty="0" err="1">
                <a:solidFill>
                  <a:srgbClr val="FFFFF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单图</a:t>
            </a:r>
            <a:r>
              <a:rPr lang="en-US" sz="1300" b="0" i="0" u="none" strike="noStrike" dirty="0">
                <a:solidFill>
                  <a:srgbClr val="FFFFF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en-US" sz="1300" b="0" i="0" u="none" strike="noStrike" dirty="0" err="1">
                <a:solidFill>
                  <a:srgbClr val="FFFFF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多图生成、参数查看</a:t>
            </a:r>
            <a:r>
              <a:rPr lang="en-US" sz="1300" b="0" i="0" u="none" strike="noStrike" dirty="0">
                <a:solidFill>
                  <a:srgbClr val="FFFFF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）</a:t>
            </a:r>
            <a:endParaRPr lang="en-US" sz="1100" dirty="0"/>
          </a:p>
          <a:p>
            <a:pPr marL="0" indent="0" algn="l">
              <a:lnSpc>
                <a:spcPct val="141666"/>
              </a:lnSpc>
            </a:pPr>
            <a:r>
              <a:rPr lang="en-US" sz="1300" b="0" i="0" u="none" strike="noStrike" dirty="0">
                <a:solidFill>
                  <a:srgbClr val="FFFFF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G2 检索：US05–US10（文本/</a:t>
            </a:r>
            <a:r>
              <a:rPr lang="en-US" sz="1300" b="0" i="0" u="none" strike="noStrike" dirty="0" err="1">
                <a:solidFill>
                  <a:srgbClr val="FFFFF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单图</a:t>
            </a:r>
            <a:r>
              <a:rPr lang="en-US" sz="1300" b="0" i="0" u="none" strike="noStrike" dirty="0">
                <a:solidFill>
                  <a:srgbClr val="FFFFF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en-US" sz="1300" b="0" i="0" u="none" strike="noStrike" dirty="0" err="1">
                <a:solidFill>
                  <a:srgbClr val="FFFFF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多图检索、来源</a:t>
            </a:r>
            <a:r>
              <a:rPr lang="en-US" sz="1300" b="0" i="0" u="none" strike="noStrike" dirty="0">
                <a:solidFill>
                  <a:srgbClr val="FFFFF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en-US" sz="1300" b="0" i="0" u="none" strike="noStrike" dirty="0" err="1">
                <a:solidFill>
                  <a:srgbClr val="FFFFF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规格</a:t>
            </a:r>
            <a:r>
              <a:rPr lang="en-US" sz="1300" b="0" i="0" u="none" strike="noStrike" dirty="0">
                <a:solidFill>
                  <a:srgbClr val="FFFFF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en-US" sz="1300" b="0" i="0" u="none" strike="noStrike" dirty="0" err="1">
                <a:solidFill>
                  <a:srgbClr val="FFFFF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版本</a:t>
            </a:r>
            <a:r>
              <a:rPr lang="en-US" sz="1300" b="0" i="0" u="none" strike="noStrike" dirty="0">
                <a:solidFill>
                  <a:srgbClr val="FFFFF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）</a:t>
            </a:r>
          </a:p>
          <a:p>
            <a:pPr marL="0" indent="0" algn="l">
              <a:lnSpc>
                <a:spcPct val="141666"/>
              </a:lnSpc>
            </a:pPr>
            <a:r>
              <a:rPr lang="en-US" sz="1300" b="0" i="0" u="none" strike="noStrike" dirty="0">
                <a:solidFill>
                  <a:srgbClr val="FFFFF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G3 检查：US11–US12（几何是否合法、尺寸合规）</a:t>
            </a:r>
          </a:p>
        </p:txBody>
      </p:sp>
      <p:sp>
        <p:nvSpPr>
          <p:cNvPr id="8" name="AutoShape 8"/>
          <p:cNvSpPr/>
          <p:nvPr/>
        </p:nvSpPr>
        <p:spPr>
          <a:xfrm>
            <a:off x="5969000" y="2159000"/>
            <a:ext cx="2540000" cy="2921000"/>
          </a:xfrm>
          <a:prstGeom prst="roundRect">
            <a:avLst>
              <a:gd name="adj" fmla="val 0"/>
            </a:avLst>
          </a:prstGeom>
          <a:solidFill>
            <a:srgbClr val="F5F7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6197600" y="2362200"/>
            <a:ext cx="2159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788291"/>
                </a:solidFill>
                <a:latin typeface="Noto Sans SC"/>
                <a:ea typeface="Noto Sans SC"/>
                <a:cs typeface="Noto Sans SC"/>
                <a:sym typeface="Noto Sans SC"/>
              </a:rPr>
              <a:t>迭代 2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197600" y="2870200"/>
            <a:ext cx="2159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300" b="0" i="0" u="none" strike="noStrike" dirty="0" err="1">
                <a:solidFill>
                  <a:srgbClr val="788291"/>
                </a:solidFill>
                <a:latin typeface="Noto Sans SC"/>
                <a:ea typeface="Noto Sans SC"/>
                <a:cs typeface="Noto Sans SC"/>
                <a:sym typeface="Noto Sans SC"/>
              </a:rPr>
              <a:t>编辑和改图功能</a:t>
            </a:r>
            <a:endParaRPr lang="en-US" sz="1100" dirty="0"/>
          </a:p>
          <a:p>
            <a:pPr marL="0" indent="0" algn="l">
              <a:lnSpc>
                <a:spcPct val="141666"/>
              </a:lnSpc>
            </a:pPr>
            <a:r>
              <a:rPr lang="en-US" sz="1300" b="0" i="0" u="none" strike="noStrike" dirty="0" err="1">
                <a:solidFill>
                  <a:srgbClr val="788291"/>
                </a:solidFill>
                <a:latin typeface="Noto Sans SC"/>
                <a:ea typeface="Noto Sans SC"/>
                <a:cs typeface="Noto Sans SC"/>
                <a:sym typeface="Noto Sans SC"/>
              </a:rPr>
              <a:t>修改尺寸、重新生成、拉伸、布尔、圆角倒角、撤销等</a:t>
            </a:r>
            <a:endParaRPr lang="en-US" sz="1300" b="0" i="0" u="none" strike="noStrike" dirty="0">
              <a:solidFill>
                <a:srgbClr val="788291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890000" y="2159000"/>
            <a:ext cx="2286000" cy="2921000"/>
          </a:xfrm>
          <a:prstGeom prst="roundRect">
            <a:avLst>
              <a:gd name="adj" fmla="val 0"/>
            </a:avLst>
          </a:prstGeom>
          <a:solidFill>
            <a:srgbClr val="F5F7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9118600" y="2362200"/>
            <a:ext cx="1905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788291"/>
                </a:solidFill>
                <a:latin typeface="Noto Sans SC"/>
                <a:ea typeface="Noto Sans SC"/>
                <a:cs typeface="Noto Sans SC"/>
                <a:sym typeface="Noto Sans SC"/>
              </a:rPr>
              <a:t>迭代 3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9118600" y="2870200"/>
            <a:ext cx="1905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300" b="0" i="0" u="none" strike="noStrike">
                <a:solidFill>
                  <a:srgbClr val="788291"/>
                </a:solidFill>
                <a:latin typeface="Noto Sans SC"/>
                <a:ea typeface="Noto Sans SC"/>
                <a:cs typeface="Noto Sans SC"/>
                <a:sym typeface="Noto Sans SC"/>
              </a:rPr>
              <a:t>导出文件功能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r>
              <a:rPr lang="en-US" sz="1300" b="0" i="0" u="none" strike="noStrike">
                <a:solidFill>
                  <a:srgbClr val="788291"/>
                </a:solidFill>
                <a:latin typeface="Noto Sans SC"/>
                <a:ea typeface="Noto Sans SC"/>
                <a:cs typeface="Noto Sans SC"/>
                <a:sym typeface="Noto Sans SC"/>
              </a:rPr>
              <a:t>STEP / STL / GLB 三种格式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016000" y="53975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排期按</a:t>
            </a:r>
            <a:r>
              <a:rPr 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 6 人、两天计算，96 </a:t>
            </a: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人时，除去会议时长，项目工时约</a:t>
            </a:r>
            <a:r>
              <a:rPr 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1300" b="1" i="0" u="none" strike="noStrike" dirty="0">
                <a:solidFill>
                  <a:srgbClr val="4472C4"/>
                </a:solidFill>
                <a:latin typeface="Noto Sans SC"/>
                <a:ea typeface="Noto Sans SC"/>
                <a:cs typeface="Noto Sans SC"/>
                <a:sym typeface="Noto Sans SC"/>
              </a:rPr>
              <a:t>72 </a:t>
            </a:r>
            <a:r>
              <a:rPr lang="en-US" sz="1300" b="1" i="0" u="none" strike="noStrike" dirty="0" err="1">
                <a:solidFill>
                  <a:srgbClr val="4472C4"/>
                </a:solidFill>
                <a:latin typeface="Noto Sans SC"/>
                <a:ea typeface="Noto Sans SC"/>
                <a:cs typeface="Noto Sans SC"/>
                <a:sym typeface="Noto Sans SC"/>
              </a:rPr>
              <a:t>小时</a:t>
            </a: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，人均</a:t>
            </a:r>
            <a:r>
              <a:rPr 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 12 </a:t>
            </a: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小时</a:t>
            </a:r>
            <a:r>
              <a:rPr 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15" name="AutoShape 15"/>
          <p:cNvSpPr/>
          <p:nvPr/>
        </p:nvSpPr>
        <p:spPr>
          <a:xfrm>
            <a:off x="1016000" y="63500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A0A8B4"/>
                </a:solidFill>
                <a:latin typeface="Noto Sans SC"/>
                <a:ea typeface="Noto Sans SC"/>
                <a:cs typeface="Noto Sans SC"/>
                <a:sym typeface="Noto Sans SC"/>
              </a:rPr>
              <a:t>SimpleCADforDSH ｜ 讨论三 · 项目计划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0668000" y="6344249"/>
            <a:ext cx="50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 dirty="0">
                <a:solidFill>
                  <a:srgbClr val="A0A8B4"/>
                </a:solidFill>
                <a:latin typeface="Noto Sans SC"/>
                <a:ea typeface="Noto Sans SC"/>
                <a:cs typeface="Noto Sans SC"/>
                <a:sym typeface="Noto Sans SC"/>
              </a:rPr>
              <a:t>03 / 11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11200"/>
            <a:ext cx="635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ED7D31"/>
                </a:solidFill>
                <a:latin typeface="Noto Sans SC"/>
                <a:ea typeface="Noto Sans SC"/>
                <a:cs typeface="Noto Sans SC"/>
                <a:sym typeface="Noto Sans SC"/>
              </a:rPr>
              <a:t>BACKLOG · 用户故事与故事点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0922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 dirty="0" err="1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故事点分析</a:t>
            </a:r>
            <a:endParaRPr lang="en-US" sz="1100" dirty="0"/>
          </a:p>
        </p:txBody>
      </p:sp>
      <p:graphicFrame>
        <p:nvGraphicFramePr>
          <p:cNvPr id="4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1898736"/>
              </p:ext>
            </p:extLst>
          </p:nvPr>
        </p:nvGraphicFramePr>
        <p:xfrm>
          <a:off x="1016000" y="1651000"/>
          <a:ext cx="6880045" cy="409956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82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27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 dirty="0" err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目标</a:t>
                      </a:r>
                      <a:endParaRPr lang="en-US" sz="1100" dirty="0"/>
                    </a:p>
                  </a:txBody>
                  <a:tcPr marL="101600" marR="101600" marT="88900" marB="889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故事号</a:t>
                      </a:r>
                      <a:endParaRPr lang="en-US" sz="1100"/>
                    </a:p>
                  </a:txBody>
                  <a:tcPr marL="101600" marR="101600" marT="88900" marB="889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 dirty="0" err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用户故事</a:t>
                      </a:r>
                      <a:endParaRPr lang="en-US" sz="1100" dirty="0"/>
                    </a:p>
                  </a:txBody>
                  <a:tcPr marL="101600" marR="101600" marT="88900" marB="889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 dirty="0" err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故事点</a:t>
                      </a:r>
                      <a:endParaRPr lang="en-US" sz="1100" dirty="0"/>
                    </a:p>
                  </a:txBody>
                  <a:tcPr marL="101600" marR="101600" marT="88900" marB="889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472C4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G1 生成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A647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US01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文本描述生成 CAD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sym typeface="Noto Sans SC"/>
                        </a:rPr>
                        <a:t>8</a:t>
                      </a:r>
                      <a:endParaRPr lang="en-US" sz="1100" dirty="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472C4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G1 生成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A647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US02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单视角图像生成 CAD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sym typeface="Noto Sans SC"/>
                        </a:rPr>
                        <a:t>8</a:t>
                      </a:r>
                      <a:endParaRPr lang="en-US" sz="1100" dirty="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472C4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G1 生成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A647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US03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多视角图像生成 CAD（视图间尺寸冲突校验）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sym typeface="Noto Sans SC"/>
                        </a:rPr>
                        <a:t>8</a:t>
                      </a:r>
                      <a:endParaRPr lang="en-US" sz="1100" dirty="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472C4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G1 生成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A647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US04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查看生成模型的可编辑参数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2</a:t>
                      </a:r>
                      <a:endParaRPr lang="en-US" sz="1100" dirty="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ED7D3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G2 检索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A647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US05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文本检索相似 CAD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sym typeface="Noto Sans SC"/>
                        </a:rPr>
                        <a:t>5</a:t>
                      </a:r>
                      <a:endParaRPr lang="en-US" sz="1100" dirty="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ED7D3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G2 检索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A647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US06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单张图像检索相似 CAD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sym typeface="Noto Sans SC"/>
                        </a:rPr>
                        <a:t>5</a:t>
                      </a:r>
                      <a:endParaRPr lang="en-US" sz="1100" dirty="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ED7D3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G2 检索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A647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US07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多张图像检索相似 CAD（多图一致性判断）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5</a:t>
                      </a:r>
                      <a:endParaRPr lang="en-US" sz="1100" dirty="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ED7D3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G2 检索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A647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US08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查看检索模型溯源信息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sym typeface="Noto Sans SC"/>
                        </a:rPr>
                        <a:t>3</a:t>
                      </a:r>
                      <a:endParaRPr lang="en-US" sz="1100" dirty="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ED7D3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G2 检索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A647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US09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查看检索模型规格信息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sym typeface="Noto Sans SC"/>
                        </a:rPr>
                        <a:t>3</a:t>
                      </a:r>
                      <a:endParaRPr lang="en-US" sz="1100" dirty="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ED7D3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G2 检索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A647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US10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查看检索模型版本信息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sym typeface="Noto Sans SC"/>
                        </a:rPr>
                        <a:t>3</a:t>
                      </a:r>
                      <a:endParaRPr lang="en-US" sz="1100" dirty="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70AD47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G3 质检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A647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US11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模型几何合法性检查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3</a:t>
                      </a:r>
                      <a:endParaRPr lang="en-US" sz="1100"/>
                    </a:p>
                  </a:txBody>
                  <a:tcPr marL="101600" marR="101600" marT="69850" marB="698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70AD47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G3 </a:t>
                      </a:r>
                      <a:r>
                        <a:rPr lang="en-US" sz="1100" b="0" i="0" u="none" strike="noStrike" dirty="0" err="1">
                          <a:solidFill>
                            <a:srgbClr val="70AD47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质检</a:t>
                      </a:r>
                      <a:endParaRPr lang="en-US" sz="1100" dirty="0"/>
                    </a:p>
                  </a:txBody>
                  <a:tcPr marL="101600" marR="1016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7F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5A647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US12</a:t>
                      </a:r>
                      <a:endParaRPr lang="en-US" sz="1100" dirty="0"/>
                    </a:p>
                  </a:txBody>
                  <a:tcPr marL="101600" marR="1016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7F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模型尺寸符合性检查</a:t>
                      </a:r>
                      <a:endParaRPr lang="en-US" sz="1100" dirty="0"/>
                    </a:p>
                  </a:txBody>
                  <a:tcPr marL="101600" marR="1016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7F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5</a:t>
                      </a:r>
                      <a:endParaRPr lang="en-US" sz="1100" dirty="0"/>
                    </a:p>
                  </a:txBody>
                  <a:tcPr marL="101600" marR="1016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7F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AutoShape 6"/>
          <p:cNvSpPr/>
          <p:nvPr/>
        </p:nvSpPr>
        <p:spPr>
          <a:xfrm>
            <a:off x="10668000" y="6350000"/>
            <a:ext cx="50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 dirty="0">
                <a:solidFill>
                  <a:srgbClr val="A0A8B4"/>
                </a:solidFill>
                <a:latin typeface="Noto Sans SC"/>
                <a:ea typeface="Noto Sans SC"/>
                <a:cs typeface="Noto Sans SC"/>
                <a:sym typeface="Noto Sans SC"/>
              </a:rPr>
              <a:t>04 / 11</a:t>
            </a:r>
            <a:endParaRPr lang="en-US" sz="11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22FFF16-5F58-2BC2-CA52-F19828912807}"/>
              </a:ext>
            </a:extLst>
          </p:cNvPr>
          <p:cNvSpPr txBox="1"/>
          <p:nvPr/>
        </p:nvSpPr>
        <p:spPr>
          <a:xfrm>
            <a:off x="7993810" y="1618015"/>
            <a:ext cx="414643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en-US" sz="1400" dirty="0">
                <a:solidFill>
                  <a:srgbClr val="000000"/>
                </a:solidFill>
                <a:effectLst/>
                <a:latin typeface="Arial"/>
                <a:ea typeface="Noto Sans SC" panose="020B0200000000000000" pitchFamily="34" charset="-122"/>
              </a:rPr>
              <a:t>故事点数由</a:t>
            </a:r>
            <a:r>
              <a:rPr lang="zh-CN" altLang="zh-CN" sz="1400" dirty="0">
                <a:solidFill>
                  <a:srgbClr val="000000"/>
                </a:solidFill>
                <a:effectLst/>
                <a:latin typeface="Arial"/>
                <a:ea typeface="Noto Sans SC" panose="020B0200000000000000" pitchFamily="34" charset="-122"/>
              </a:rPr>
              <a:t>验收用例</a:t>
            </a:r>
            <a:r>
              <a:rPr lang="zh-CN" altLang="en-US" dirty="0">
                <a:ea typeface="Noto Sans SC" panose="020B0200000000000000" pitchFamily="34" charset="-122"/>
              </a:rPr>
              <a:t>量</a:t>
            </a:r>
            <a:r>
              <a:rPr lang="zh-CN" altLang="zh-CN" sz="1400" dirty="0">
                <a:solidFill>
                  <a:srgbClr val="000000"/>
                </a:solidFill>
                <a:effectLst/>
                <a:latin typeface="Arial"/>
                <a:ea typeface="Noto Sans SC" panose="020B0200000000000000" pitchFamily="34" charset="-122"/>
              </a:rPr>
              <a:t>、技术风险、工作量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Arial"/>
                <a:ea typeface="Noto Sans SC" panose="020B0200000000000000" pitchFamily="34" charset="-122"/>
              </a:rPr>
              <a:t>确定</a:t>
            </a:r>
            <a:r>
              <a:rPr lang="zh-CN" altLang="zh-CN" sz="1400" dirty="0">
                <a:solidFill>
                  <a:srgbClr val="000000"/>
                </a:solidFill>
                <a:effectLst/>
                <a:latin typeface="Arial"/>
                <a:ea typeface="Noto Sans SC" panose="020B0200000000000000" pitchFamily="34" charset="-122"/>
              </a:rPr>
              <a:t>。</a:t>
            </a:r>
            <a:endParaRPr lang="zh-CN" altLang="zh-CN" dirty="0">
              <a:effectLst/>
            </a:endParaRPr>
          </a:p>
          <a:p>
            <a:pPr>
              <a:buNone/>
            </a:pPr>
            <a:r>
              <a:rPr lang="en-US" altLang="zh-CN" b="1" dirty="0">
                <a:ea typeface="Noto Sans SC" panose="020B0200000000000000" pitchFamily="34" charset="-122"/>
              </a:rPr>
              <a:t>1</a:t>
            </a:r>
            <a:r>
              <a:rPr lang="zh-CN" altLang="en-US" b="1" dirty="0">
                <a:ea typeface="Noto Sans SC" panose="020B0200000000000000" pitchFamily="34" charset="-122"/>
              </a:rPr>
              <a:t>点</a:t>
            </a:r>
            <a:r>
              <a:rPr lang="zh-CN" altLang="zh-CN" sz="1400" dirty="0">
                <a:solidFill>
                  <a:srgbClr val="000000"/>
                </a:solidFill>
                <a:effectLst/>
                <a:latin typeface="Arial"/>
                <a:ea typeface="Noto Sans SC" panose="020B0200000000000000" pitchFamily="34" charset="-122"/>
              </a:rPr>
              <a:t>是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Arial"/>
                <a:ea typeface="Noto Sans SC" panose="020B0200000000000000" pitchFamily="34" charset="-122"/>
              </a:rPr>
              <a:t>非常简单</a:t>
            </a:r>
            <a:r>
              <a:rPr lang="zh-CN" altLang="zh-CN" sz="1400" dirty="0">
                <a:solidFill>
                  <a:srgbClr val="000000"/>
                </a:solidFill>
                <a:effectLst/>
                <a:latin typeface="Arial"/>
                <a:ea typeface="Noto Sans SC" panose="020B0200000000000000" pitchFamily="34" charset="-122"/>
              </a:rPr>
              <a:t>，</a:t>
            </a:r>
            <a:r>
              <a:rPr lang="en-US" altLang="zh-CN" b="1" dirty="0">
                <a:ea typeface="Noto Sans SC" panose="020B0200000000000000" pitchFamily="34" charset="-122"/>
              </a:rPr>
              <a:t>2</a:t>
            </a:r>
            <a:r>
              <a:rPr lang="zh-CN" altLang="zh-CN" sz="1400" b="1" dirty="0">
                <a:solidFill>
                  <a:srgbClr val="000000"/>
                </a:solidFill>
                <a:effectLst/>
                <a:latin typeface="Arial"/>
                <a:ea typeface="Noto Sans SC" panose="020B0200000000000000" pitchFamily="34" charset="-122"/>
              </a:rPr>
              <a:t> 点</a:t>
            </a:r>
            <a:r>
              <a:rPr lang="zh-CN" altLang="zh-CN" sz="1400" dirty="0">
                <a:solidFill>
                  <a:srgbClr val="000000"/>
                </a:solidFill>
                <a:effectLst/>
                <a:latin typeface="Arial"/>
                <a:ea typeface="Noto Sans SC" panose="020B0200000000000000" pitchFamily="34" charset="-122"/>
              </a:rPr>
              <a:t>是</a:t>
            </a:r>
            <a:r>
              <a:rPr lang="zh-CN" altLang="en-US" dirty="0">
                <a:ea typeface="Noto Sans SC" panose="020B0200000000000000" pitchFamily="34" charset="-122"/>
              </a:rPr>
              <a:t>简单</a:t>
            </a:r>
            <a:r>
              <a:rPr lang="zh-CN" altLang="zh-CN" sz="1400" dirty="0">
                <a:solidFill>
                  <a:srgbClr val="000000"/>
                </a:solidFill>
                <a:effectLst/>
                <a:latin typeface="Arial"/>
                <a:ea typeface="Noto Sans SC" panose="020B0200000000000000" pitchFamily="34" charset="-122"/>
              </a:rPr>
              <a:t>，</a:t>
            </a:r>
            <a:r>
              <a:rPr lang="en-US" altLang="zh-CN" b="1" dirty="0">
                <a:ea typeface="Noto Sans SC" panose="020B0200000000000000" pitchFamily="34" charset="-122"/>
              </a:rPr>
              <a:t>3</a:t>
            </a:r>
            <a:r>
              <a:rPr lang="zh-CN" altLang="zh-CN" sz="1400" b="1" dirty="0">
                <a:solidFill>
                  <a:srgbClr val="000000"/>
                </a:solidFill>
                <a:effectLst/>
                <a:latin typeface="Arial"/>
                <a:ea typeface="Noto Sans SC" panose="020B0200000000000000" pitchFamily="34" charset="-122"/>
              </a:rPr>
              <a:t> 点</a:t>
            </a:r>
            <a:r>
              <a:rPr lang="zh-CN" altLang="en-US" dirty="0">
                <a:ea typeface="Noto Sans SC" panose="020B0200000000000000" pitchFamily="34" charset="-122"/>
              </a:rPr>
              <a:t>是一般，</a:t>
            </a:r>
            <a:r>
              <a:rPr lang="en-US" altLang="zh-CN" b="1" dirty="0">
                <a:ea typeface="Noto Sans SC" panose="020B0200000000000000" pitchFamily="34" charset="-122"/>
              </a:rPr>
              <a:t>5</a:t>
            </a:r>
            <a:r>
              <a:rPr lang="zh-CN" altLang="en-US" b="1" dirty="0">
                <a:ea typeface="Noto Sans SC" panose="020B0200000000000000" pitchFamily="34" charset="-122"/>
              </a:rPr>
              <a:t>点</a:t>
            </a:r>
            <a:r>
              <a:rPr lang="zh-CN" altLang="en-US" dirty="0">
                <a:ea typeface="Noto Sans SC" panose="020B0200000000000000" pitchFamily="34" charset="-122"/>
              </a:rPr>
              <a:t>是较复杂，</a:t>
            </a:r>
            <a:r>
              <a:rPr lang="en-US" altLang="zh-CN" b="1" dirty="0">
                <a:ea typeface="Noto Sans SC" panose="020B0200000000000000" pitchFamily="34" charset="-122"/>
              </a:rPr>
              <a:t>8</a:t>
            </a:r>
            <a:r>
              <a:rPr lang="zh-CN" altLang="en-US" b="1" dirty="0">
                <a:ea typeface="Noto Sans SC" panose="020B0200000000000000" pitchFamily="34" charset="-122"/>
              </a:rPr>
              <a:t>点</a:t>
            </a:r>
            <a:r>
              <a:rPr lang="zh-CN" altLang="en-US" dirty="0">
                <a:ea typeface="Noto Sans SC" panose="020B0200000000000000" pitchFamily="34" charset="-122"/>
              </a:rPr>
              <a:t>是很复杂，</a:t>
            </a:r>
            <a:r>
              <a:rPr lang="en-US" altLang="zh-CN" b="1" dirty="0">
                <a:ea typeface="Noto Sans SC" panose="020B0200000000000000" pitchFamily="34" charset="-122"/>
              </a:rPr>
              <a:t>13</a:t>
            </a:r>
            <a:r>
              <a:rPr lang="zh-CN" altLang="en-US" b="1" dirty="0">
                <a:ea typeface="Noto Sans SC" panose="020B0200000000000000" pitchFamily="34" charset="-122"/>
              </a:rPr>
              <a:t>点</a:t>
            </a:r>
            <a:r>
              <a:rPr lang="zh-CN" altLang="en-US" dirty="0">
                <a:ea typeface="Noto Sans SC" panose="020B0200000000000000" pitchFamily="34" charset="-122"/>
              </a:rPr>
              <a:t>是太大</a:t>
            </a:r>
            <a:r>
              <a:rPr lang="zh-CN" altLang="zh-CN" sz="1400" dirty="0">
                <a:solidFill>
                  <a:srgbClr val="000000"/>
                </a:solidFill>
                <a:effectLst/>
                <a:latin typeface="Arial"/>
                <a:ea typeface="Noto Sans SC" panose="020B0200000000000000" pitchFamily="34" charset="-122"/>
              </a:rPr>
              <a:t>。合计 38 点，本迭代点数留作后续速度基线。</a:t>
            </a:r>
            <a:endParaRPr lang="zh-CN" altLang="zh-CN" dirty="0">
              <a:effectLst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7F426C4-EA17-1FC5-45EB-C0637509F014}"/>
              </a:ext>
            </a:extLst>
          </p:cNvPr>
          <p:cNvSpPr txBox="1"/>
          <p:nvPr/>
        </p:nvSpPr>
        <p:spPr>
          <a:xfrm>
            <a:off x="1016000" y="5917721"/>
            <a:ext cx="305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篇幅原因，此处仅以生成检索组为例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11200"/>
            <a:ext cx="635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ED7D31"/>
                </a:solidFill>
                <a:latin typeface="Noto Sans SC"/>
                <a:ea typeface="Noto Sans SC"/>
                <a:cs typeface="Noto Sans SC"/>
                <a:sym typeface="Noto Sans SC"/>
              </a:rPr>
              <a:t>PRIORITY · 优先级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0922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800" b="1" i="0" u="none" strike="noStrike" dirty="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优先级排序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3175000" cy="558800"/>
          </a:xfrm>
          <a:prstGeom prst="roundRect">
            <a:avLst>
              <a:gd name="adj" fmla="val 0"/>
            </a:avLst>
          </a:prstGeom>
          <a:solidFill>
            <a:srgbClr val="4472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219200" y="21336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高 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743200"/>
            <a:ext cx="3175000" cy="330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300" b="1" i="0" u="none" strike="noStrike" dirty="0">
                <a:solidFill>
                  <a:srgbClr val="4472C4"/>
                </a:solidFill>
                <a:latin typeface="Noto Sans SC"/>
                <a:ea typeface="Noto Sans SC"/>
                <a:cs typeface="Noto Sans SC"/>
                <a:sym typeface="Noto Sans SC"/>
              </a:rPr>
              <a:t>US01</a:t>
            </a:r>
            <a:r>
              <a:rPr lang="en-US" sz="1300" b="0" i="0" u="none" strike="noStrike" dirty="0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1300" b="0" i="0" u="none" strike="noStrike" dirty="0" err="1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文本生成</a:t>
            </a:r>
            <a:endParaRPr lang="en-US" sz="1100" dirty="0"/>
          </a:p>
          <a:p>
            <a:pPr>
              <a:lnSpc>
                <a:spcPct val="141666"/>
              </a:lnSpc>
            </a:pPr>
            <a:r>
              <a:rPr lang="en-US" sz="1300" dirty="0" err="1">
                <a:solidFill>
                  <a:srgbClr val="3C4655"/>
                </a:solidFill>
                <a:latin typeface="Noto Sans SC"/>
                <a:ea typeface="Noto Sans SC"/>
                <a:sym typeface="Noto Sans SC"/>
              </a:rPr>
              <a:t>文本输入使用频率高</a:t>
            </a:r>
            <a:r>
              <a:rPr lang="zh-CN" altLang="zh-CN" sz="1300" dirty="0">
                <a:solidFill>
                  <a:srgbClr val="3C4655"/>
                </a:solidFill>
                <a:latin typeface="Noto Sans SC"/>
                <a:ea typeface="Noto Sans SC"/>
              </a:rPr>
              <a:t>能最早验证本项目的最大技术风险点</a:t>
            </a:r>
            <a:r>
              <a:rPr lang="en-US" sz="1300" dirty="0">
                <a:solidFill>
                  <a:srgbClr val="3C4655"/>
                </a:solidFill>
                <a:latin typeface="Noto Sans SC"/>
                <a:ea typeface="Noto Sans SC"/>
                <a:sym typeface="Noto Sans SC"/>
              </a:rPr>
              <a:t>。</a:t>
            </a:r>
            <a:endParaRPr lang="en-US" sz="1300" b="0" i="0" u="none" strike="noStrike" dirty="0">
              <a:solidFill>
                <a:srgbClr val="3C46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0" indent="0" algn="l">
              <a:lnSpc>
                <a:spcPct val="141666"/>
              </a:lnSpc>
            </a:pPr>
            <a:r>
              <a:rPr lang="en-US" sz="1300" b="1" i="0" u="none" strike="noStrike" dirty="0">
                <a:solidFill>
                  <a:srgbClr val="4472C4"/>
                </a:solidFill>
                <a:latin typeface="Noto Sans SC"/>
                <a:ea typeface="Noto Sans SC"/>
                <a:cs typeface="Noto Sans SC"/>
                <a:sym typeface="Noto Sans SC"/>
              </a:rPr>
              <a:t>US05</a:t>
            </a:r>
            <a:r>
              <a:rPr lang="en-US" sz="1300" b="0" i="0" u="none" strike="noStrike" dirty="0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1300" b="0" i="0" u="none" strike="noStrike" dirty="0" err="1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文本检索</a:t>
            </a:r>
            <a:endParaRPr lang="en-US" sz="1300" b="0" i="0" u="none" strike="noStrike" dirty="0">
              <a:solidFill>
                <a:srgbClr val="3C46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r>
              <a:rPr lang="zh-CN" altLang="zh-CN" sz="1300" dirty="0">
                <a:solidFill>
                  <a:srgbClr val="3C4655"/>
                </a:solidFill>
                <a:latin typeface="Noto Sans SC"/>
                <a:ea typeface="Noto Sans SC"/>
              </a:rPr>
              <a:t>自然语言检索是实现 G2（文本/图像检索）的基础</a:t>
            </a:r>
            <a:r>
              <a:rPr lang="zh-CN" altLang="en-US" sz="1300" dirty="0">
                <a:solidFill>
                  <a:srgbClr val="3C4655"/>
                </a:solidFill>
                <a:latin typeface="Noto Sans SC"/>
                <a:ea typeface="Noto Sans SC"/>
              </a:rPr>
              <a:t>，</a:t>
            </a:r>
            <a:r>
              <a:rPr lang="en-US" sz="1300" dirty="0" err="1">
                <a:solidFill>
                  <a:srgbClr val="3C4655"/>
                </a:solidFill>
                <a:latin typeface="Noto Sans SC"/>
                <a:ea typeface="Noto Sans SC"/>
                <a:sym typeface="Noto Sans SC"/>
              </a:rPr>
              <a:t>文本搜索做法成熟，优先实现</a:t>
            </a:r>
            <a:r>
              <a:rPr lang="en-US" sz="1300" dirty="0">
                <a:solidFill>
                  <a:srgbClr val="3C4655"/>
                </a:solidFill>
                <a:latin typeface="Noto Sans SC"/>
                <a:ea typeface="Noto Sans SC"/>
                <a:sym typeface="Noto Sans SC"/>
              </a:rPr>
              <a:t>。</a:t>
            </a:r>
          </a:p>
          <a:p>
            <a:pPr marL="0" indent="0" algn="l">
              <a:lnSpc>
                <a:spcPct val="141666"/>
              </a:lnSpc>
            </a:pPr>
            <a:r>
              <a:rPr lang="en-US" sz="1300" b="1" i="0" u="none" strike="noStrike" dirty="0">
                <a:solidFill>
                  <a:srgbClr val="4472C4"/>
                </a:solidFill>
                <a:latin typeface="Noto Sans SC"/>
                <a:ea typeface="Noto Sans SC"/>
                <a:cs typeface="Noto Sans SC"/>
                <a:sym typeface="Noto Sans SC"/>
              </a:rPr>
              <a:t>US02</a:t>
            </a:r>
            <a:r>
              <a:rPr lang="en-US" sz="1300" b="0" i="0" u="none" strike="noStrike" dirty="0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1300" b="0" i="0" u="none" strike="noStrike" dirty="0" err="1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单图生成</a:t>
            </a:r>
            <a:endParaRPr lang="en-US" sz="1300" b="0" i="0" u="none" strike="noStrike" dirty="0">
              <a:solidFill>
                <a:srgbClr val="3C46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r>
              <a:rPr lang="zh-CN" altLang="zh-CN" sz="1300" dirty="0">
                <a:solidFill>
                  <a:srgbClr val="3C4655"/>
                </a:solidFill>
                <a:latin typeface="Noto Sans SC"/>
                <a:ea typeface="Noto Sans SC"/>
              </a:rPr>
              <a:t>单图生模是多模态扩展的核心能力。虽然技术风险较高，但这是达成 G1“单多视角 image 生成”的关键一环。</a:t>
            </a:r>
            <a:endParaRPr lang="en-US" sz="1300" dirty="0">
              <a:solidFill>
                <a:srgbClr val="3C4655"/>
              </a:solidFill>
              <a:latin typeface="Noto Sans SC"/>
              <a:ea typeface="Noto Sans SC"/>
              <a:sym typeface="Noto Sans SC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4508500" y="2032000"/>
            <a:ext cx="3175000" cy="558800"/>
          </a:xfrm>
          <a:prstGeom prst="roundRect">
            <a:avLst>
              <a:gd name="adj" fmla="val 0"/>
            </a:avLst>
          </a:prstGeom>
          <a:solidFill>
            <a:srgbClr val="ED7D3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4711700" y="21336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中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508500" y="2743200"/>
            <a:ext cx="3175000" cy="330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300" b="1" i="0" u="none" strike="noStrike" dirty="0">
                <a:solidFill>
                  <a:srgbClr val="ED7D31"/>
                </a:solidFill>
                <a:latin typeface="Noto Sans SC"/>
                <a:ea typeface="Noto Sans SC"/>
                <a:cs typeface="Noto Sans SC"/>
                <a:sym typeface="Noto Sans SC"/>
              </a:rPr>
              <a:t>US06</a:t>
            </a:r>
            <a:r>
              <a:rPr lang="en-US" sz="1300" b="0" i="0" u="none" strike="noStrike" dirty="0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1300" b="0" i="0" u="none" strike="noStrike" dirty="0" err="1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单图检索</a:t>
            </a:r>
            <a:endParaRPr lang="en-US" sz="1100" dirty="0"/>
          </a:p>
          <a:p>
            <a:pPr>
              <a:lnSpc>
                <a:spcPct val="141666"/>
              </a:lnSpc>
            </a:pPr>
            <a:r>
              <a:rPr lang="zh-CN" altLang="zh-CN" sz="1300" dirty="0">
                <a:solidFill>
                  <a:srgbClr val="3C4655"/>
                </a:solidFill>
                <a:latin typeface="Noto Sans SC"/>
                <a:ea typeface="Noto Sans SC"/>
              </a:rPr>
              <a:t>单图检索是对文本检索能力的补充，实现 G2 的另一半目标。但它的技术实现依赖检索基础设施（如向量库）的搭建</a:t>
            </a:r>
            <a:r>
              <a:rPr lang="zh-CN" altLang="en-US" sz="1300" dirty="0">
                <a:solidFill>
                  <a:srgbClr val="3C4655"/>
                </a:solidFill>
                <a:latin typeface="Noto Sans SC"/>
                <a:ea typeface="Noto Sans SC"/>
              </a:rPr>
              <a:t>。</a:t>
            </a:r>
            <a:endParaRPr lang="en-US" altLang="zh-CN" sz="1300" dirty="0">
              <a:solidFill>
                <a:srgbClr val="3C4655"/>
              </a:solidFill>
              <a:latin typeface="Noto Sans SC"/>
              <a:ea typeface="Noto Sans SC"/>
            </a:endParaRPr>
          </a:p>
          <a:p>
            <a:pPr>
              <a:lnSpc>
                <a:spcPct val="141666"/>
              </a:lnSpc>
            </a:pPr>
            <a:r>
              <a:rPr lang="en-US" sz="1300" b="1" dirty="0">
                <a:solidFill>
                  <a:srgbClr val="ED7D31"/>
                </a:solidFill>
                <a:latin typeface="Noto Sans SC"/>
                <a:ea typeface="Noto Sans SC"/>
                <a:sym typeface="Noto Sans SC"/>
              </a:rPr>
              <a:t>US03</a:t>
            </a:r>
            <a:r>
              <a:rPr lang="en-US" sz="1300" dirty="0">
                <a:solidFill>
                  <a:srgbClr val="3C4655"/>
                </a:solidFill>
                <a:latin typeface="Noto Sans SC"/>
                <a:ea typeface="Noto Sans SC"/>
                <a:sym typeface="Noto Sans SC"/>
              </a:rPr>
              <a:t> </a:t>
            </a:r>
            <a:r>
              <a:rPr lang="en-US" sz="1300" dirty="0" err="1">
                <a:solidFill>
                  <a:srgbClr val="3C4655"/>
                </a:solidFill>
                <a:latin typeface="Noto Sans SC"/>
                <a:ea typeface="Noto Sans SC"/>
                <a:sym typeface="Noto Sans SC"/>
              </a:rPr>
              <a:t>多视角生成</a:t>
            </a:r>
            <a:endParaRPr lang="en-US" sz="1300" dirty="0">
              <a:solidFill>
                <a:srgbClr val="3C4655"/>
              </a:solidFill>
              <a:latin typeface="Noto Sans SC"/>
              <a:ea typeface="Noto Sans SC"/>
              <a:sym typeface="Noto Sans SC"/>
            </a:endParaRPr>
          </a:p>
          <a:p>
            <a:pPr>
              <a:lnSpc>
                <a:spcPct val="141666"/>
              </a:lnSpc>
            </a:pPr>
            <a:r>
              <a:rPr lang="zh-CN" altLang="zh-CN" sz="1300" dirty="0">
                <a:solidFill>
                  <a:srgbClr val="3C4655"/>
                </a:solidFill>
                <a:latin typeface="Noto Sans SC"/>
                <a:ea typeface="Noto Sans SC"/>
              </a:rPr>
              <a:t>多视图生成是高阶需求，能显著提升生成成功率，但需要更多的图像预处理和特征融合逻辑</a:t>
            </a:r>
            <a:r>
              <a:rPr lang="en-US" sz="1300" dirty="0">
                <a:solidFill>
                  <a:srgbClr val="3C4655"/>
                </a:solidFill>
                <a:latin typeface="Noto Sans SC"/>
                <a:ea typeface="Noto Sans SC"/>
                <a:sym typeface="Noto Sans SC"/>
              </a:rPr>
              <a:t>。</a:t>
            </a:r>
          </a:p>
          <a:p>
            <a:pPr marL="0" indent="0" algn="l">
              <a:lnSpc>
                <a:spcPct val="141666"/>
              </a:lnSpc>
            </a:pPr>
            <a:r>
              <a:rPr lang="en-US" sz="1300" b="1" i="0" u="none" strike="noStrike" dirty="0">
                <a:solidFill>
                  <a:srgbClr val="ED7D31"/>
                </a:solidFill>
                <a:latin typeface="Noto Sans SC"/>
                <a:ea typeface="Noto Sans SC"/>
                <a:cs typeface="Noto Sans SC"/>
                <a:sym typeface="Noto Sans SC"/>
              </a:rPr>
              <a:t>US07</a:t>
            </a:r>
            <a:r>
              <a:rPr lang="en-US" sz="1300" b="0" i="0" u="none" strike="noStrike" dirty="0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1300" b="0" i="0" u="none" strike="noStrike" dirty="0" err="1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多图检索</a:t>
            </a:r>
            <a:endParaRPr lang="en-US" sz="1300" b="0" i="0" u="none" strike="noStrike" dirty="0">
              <a:solidFill>
                <a:srgbClr val="3C46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0" indent="0" algn="l">
              <a:lnSpc>
                <a:spcPct val="141666"/>
              </a:lnSpc>
            </a:pPr>
            <a:r>
              <a:rPr lang="en-US" sz="1300" b="0" i="0" u="none" strike="noStrike" dirty="0" err="1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同样依赖单图检索；判断多图是否为同一零件，难度较高</a:t>
            </a:r>
            <a:r>
              <a:rPr lang="en-US" sz="1300" b="0" i="0" u="none" strike="noStrike" dirty="0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</p:txBody>
      </p:sp>
      <p:sp>
        <p:nvSpPr>
          <p:cNvPr id="10" name="AutoShape 10"/>
          <p:cNvSpPr/>
          <p:nvPr/>
        </p:nvSpPr>
        <p:spPr>
          <a:xfrm>
            <a:off x="8001000" y="2032000"/>
            <a:ext cx="3175000" cy="558800"/>
          </a:xfrm>
          <a:prstGeom prst="roundRect">
            <a:avLst>
              <a:gd name="adj" fmla="val 0"/>
            </a:avLst>
          </a:prstGeom>
          <a:solidFill>
            <a:srgbClr val="78829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8204200" y="21336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低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8001000" y="2743200"/>
            <a:ext cx="3175000" cy="330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300" b="1" i="0" u="none" strike="noStrike" dirty="0">
                <a:solidFill>
                  <a:srgbClr val="788291"/>
                </a:solidFill>
                <a:latin typeface="Noto Sans SC"/>
                <a:ea typeface="Noto Sans SC"/>
                <a:cs typeface="Noto Sans SC"/>
                <a:sym typeface="Noto Sans SC"/>
              </a:rPr>
              <a:t>US08 / US09 / US10</a:t>
            </a:r>
            <a:endParaRPr lang="en-US" sz="1100" dirty="0"/>
          </a:p>
          <a:p>
            <a:pPr marL="0" indent="0" algn="l">
              <a:lnSpc>
                <a:spcPct val="141666"/>
              </a:lnSpc>
            </a:pPr>
            <a:r>
              <a:rPr lang="en-US" sz="1300" b="0" i="0" u="none" strike="noStrike" dirty="0" err="1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来源、规格、版本信息展示</a:t>
            </a:r>
            <a:r>
              <a:rPr lang="en-US" sz="1300" b="0" i="0" u="none" strike="noStrike" dirty="0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  <a:p>
            <a:pPr>
              <a:lnSpc>
                <a:spcPct val="141666"/>
              </a:lnSpc>
              <a:defRPr/>
            </a:pPr>
            <a:r>
              <a:rPr lang="zh-CN" altLang="zh-CN" sz="1300" dirty="0">
                <a:solidFill>
                  <a:srgbClr val="3C4655"/>
                </a:solidFill>
                <a:latin typeface="Noto Sans SC"/>
                <a:ea typeface="Noto Sans SC"/>
              </a:rPr>
              <a:t> 这三个用户故事主要服务于检索结果的信息呈现，属于 G2 目标的附属部分。在核心的检索算法（US05-07）尚未稳定返回准确结果前，展示溯源、规格、版本等详细数据没有实际意义。</a:t>
            </a:r>
            <a:endParaRPr lang="en-US" altLang="zh-CN" sz="1300" dirty="0">
              <a:solidFill>
                <a:srgbClr val="3C4655"/>
              </a:solidFill>
              <a:latin typeface="Noto Sans SC"/>
              <a:ea typeface="Noto Sans SC"/>
            </a:endParaRPr>
          </a:p>
          <a:p>
            <a:endParaRPr lang="en-US" sz="1300" b="0" i="0" u="none" strike="noStrike" dirty="0">
              <a:solidFill>
                <a:srgbClr val="3C46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1016000" y="63500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A0A8B4"/>
                </a:solidFill>
                <a:latin typeface="Noto Sans SC"/>
                <a:ea typeface="Noto Sans SC"/>
                <a:cs typeface="Noto Sans SC"/>
                <a:sym typeface="Noto Sans SC"/>
              </a:rPr>
              <a:t>SimpleCADforDSH ｜ 讨论三 · 项目计划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0668000" y="6350000"/>
            <a:ext cx="50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 dirty="0">
                <a:solidFill>
                  <a:srgbClr val="A0A8B4"/>
                </a:solidFill>
                <a:latin typeface="Noto Sans SC"/>
                <a:ea typeface="Noto Sans SC"/>
                <a:cs typeface="Noto Sans SC"/>
                <a:sym typeface="Noto Sans SC"/>
              </a:rPr>
              <a:t>05 / 11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1016000" y="10922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800" b="1" dirty="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首轮迭代任务分工概述</a:t>
            </a:r>
            <a:endParaRPr lang="en-US" sz="1100" dirty="0"/>
          </a:p>
        </p:txBody>
      </p:sp>
      <p:graphicFrame>
        <p:nvGraphicFramePr>
          <p:cNvPr id="4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09273"/>
              </p:ext>
            </p:extLst>
          </p:nvPr>
        </p:nvGraphicFramePr>
        <p:xfrm>
          <a:off x="1016000" y="1905000"/>
          <a:ext cx="10160000" cy="25908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3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成员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负责故事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故事点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内容</a:t>
                      </a:r>
                      <a:endParaRPr lang="en-US" sz="1100"/>
                    </a:p>
                  </a:txBody>
                  <a:tcPr marL="101600" marR="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常诚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A647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US01 · US04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sym typeface="Noto Sans SC"/>
                        </a:rPr>
                        <a:t>18</a:t>
                      </a:r>
                      <a:endParaRPr lang="en-US" sz="11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3C4655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固定文本样例，跑通生成；空输入、缺尺寸、尺寸矛盾、服务报错时弹出提示；验证参数可修改。</a:t>
                      </a:r>
                      <a:endParaRPr lang="en-US" sz="1100"/>
                    </a:p>
                  </a:txBody>
                  <a:tcPr marL="101600" marR="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刘子轩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A647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US02 · US03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sym typeface="Noto Sans SC"/>
                        </a:rPr>
                        <a:t>32</a:t>
                      </a:r>
                      <a:endParaRPr lang="en-US" sz="11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rgbClr val="3C4655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处理图片上传和格式检查；从单张图里读尺寸；多张图分组一起生成，尺寸错误及时报错</a:t>
                      </a:r>
                      <a:r>
                        <a:rPr lang="en-US" sz="1100" b="0" i="0" u="none" strike="noStrike" dirty="0">
                          <a:solidFill>
                            <a:srgbClr val="3C4655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。</a:t>
                      </a:r>
                      <a:endParaRPr lang="en-US" sz="1100" dirty="0"/>
                    </a:p>
                  </a:txBody>
                  <a:tcPr marL="101600" marR="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 dirty="0" err="1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余智皓</a:t>
                      </a:r>
                      <a:endParaRPr lang="en-US" sz="11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A647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US09 · US10 · US11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sym typeface="Noto Sans SC"/>
                        </a:rPr>
                        <a:t>3</a:t>
                      </a:r>
                      <a:endParaRPr lang="en-US" sz="11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rgbClr val="3C4655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显示尺寸规格和版本号；准备几个几何对的、错的样例，检查模型是不是单一实体、有没有开口</a:t>
                      </a:r>
                      <a:r>
                        <a:rPr lang="en-US" sz="1100" b="0" i="0" u="none" strike="noStrike" dirty="0">
                          <a:solidFill>
                            <a:srgbClr val="3C4655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。</a:t>
                      </a:r>
                      <a:endParaRPr lang="en-US" sz="1100" dirty="0"/>
                    </a:p>
                  </a:txBody>
                  <a:tcPr marL="101600" marR="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 dirty="0" err="1">
                          <a:solidFill>
                            <a:srgbClr val="ED7D3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严翊航</a:t>
                      </a:r>
                      <a:endParaRPr lang="en-US" sz="11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A647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US12 + 联调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2B2F3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5</a:t>
                      </a:r>
                      <a:endParaRPr lang="en-US" sz="11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rgbClr val="3C4655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量长宽高和孔径，按公差判断是否合格；把生成、检索、检查几个面板结合起来；最后整体测试一遍</a:t>
                      </a:r>
                      <a:r>
                        <a:rPr lang="en-US" sz="1100" b="0" i="0" u="none" strike="noStrike" dirty="0">
                          <a:solidFill>
                            <a:srgbClr val="3C4655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。</a:t>
                      </a:r>
                      <a:endParaRPr lang="en-US" sz="1100" dirty="0"/>
                    </a:p>
                  </a:txBody>
                  <a:tcPr marL="101600" marR="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AutoShape 5"/>
          <p:cNvSpPr/>
          <p:nvPr/>
        </p:nvSpPr>
        <p:spPr>
          <a:xfrm>
            <a:off x="1016000" y="5842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PO </a:t>
            </a:r>
            <a:r>
              <a:rPr lang="en-US" sz="12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许祖嘉：定范围、对照用例验收</a:t>
            </a:r>
            <a:r>
              <a:rPr lang="en-US" sz="12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 ｜ Scrum Master </a:t>
            </a:r>
            <a:r>
              <a:rPr lang="en-US" sz="12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李健博：建看板、组织站会和评审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10668000" y="6350000"/>
            <a:ext cx="50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 dirty="0">
                <a:solidFill>
                  <a:srgbClr val="A0A8B4"/>
                </a:solidFill>
                <a:latin typeface="Noto Sans SC"/>
                <a:ea typeface="Noto Sans SC"/>
                <a:cs typeface="Noto Sans SC"/>
                <a:sym typeface="Noto Sans SC"/>
              </a:rPr>
              <a:t>06 / 11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11200"/>
            <a:ext cx="635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ED7D31"/>
                </a:solidFill>
                <a:latin typeface="Noto Sans SC"/>
                <a:ea typeface="Noto Sans SC"/>
                <a:cs typeface="Noto Sans SC"/>
                <a:sym typeface="Noto Sans SC"/>
              </a:rPr>
              <a:t>DEPENDENCY · 依赖性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0922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800" b="1" dirty="0">
                <a:solidFill>
                  <a:srgbClr val="2B2F36"/>
                </a:solidFill>
                <a:latin typeface="Noto Sans SC"/>
                <a:ea typeface="Noto Sans SC"/>
                <a:sym typeface="Noto Sans SC"/>
              </a:rPr>
              <a:t>依赖与交接顺序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4472C4"/>
                </a:solidFill>
                <a:latin typeface="Noto Sans SC"/>
                <a:ea typeface="Noto Sans SC"/>
                <a:cs typeface="Noto Sans SC"/>
                <a:sym typeface="Noto Sans SC"/>
              </a:rPr>
              <a:t>生成组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413000"/>
            <a:ext cx="2794000" cy="711200"/>
          </a:xfrm>
          <a:prstGeom prst="roundRect">
            <a:avLst>
              <a:gd name="adj" fmla="val 0"/>
            </a:avLst>
          </a:prstGeom>
          <a:solidFill>
            <a:srgbClr val="E8EEF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1168400" y="2489200"/>
            <a:ext cx="2540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1" i="0" u="none" strike="noStrike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US01 / US02 / US03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200" b="0" i="0" u="none" strike="noStrike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文本、单图、多图生成模型</a:t>
            </a:r>
          </a:p>
        </p:txBody>
      </p:sp>
      <p:cxnSp>
        <p:nvCxnSpPr>
          <p:cNvPr id="7" name="Connector 7"/>
          <p:cNvCxnSpPr/>
          <p:nvPr/>
        </p:nvCxnSpPr>
        <p:spPr>
          <a:xfrm rot="-76381">
            <a:off x="3810071" y="2762250"/>
            <a:ext cx="571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788291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id="8" name="AutoShape 8"/>
          <p:cNvSpPr/>
          <p:nvPr/>
        </p:nvSpPr>
        <p:spPr>
          <a:xfrm>
            <a:off x="4381500" y="2286000"/>
            <a:ext cx="3048000" cy="965200"/>
          </a:xfrm>
          <a:prstGeom prst="roundRect">
            <a:avLst>
              <a:gd name="adj" fmla="val 0"/>
            </a:avLst>
          </a:prstGeom>
          <a:solidFill>
            <a:srgbClr val="F5F7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4533900" y="2387600"/>
            <a:ext cx="27940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交接 US04 处理参数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交给 US11、US12 做几何和尺寸检查</a:t>
            </a:r>
          </a:p>
        </p:txBody>
      </p:sp>
      <p:sp>
        <p:nvSpPr>
          <p:cNvPr id="10" name="AutoShape 10"/>
          <p:cNvSpPr/>
          <p:nvPr/>
        </p:nvSpPr>
        <p:spPr>
          <a:xfrm>
            <a:off x="1016000" y="3683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ED7D31"/>
                </a:solidFill>
                <a:latin typeface="Noto Sans SC"/>
                <a:ea typeface="Noto Sans SC"/>
                <a:cs typeface="Noto Sans SC"/>
                <a:sym typeface="Noto Sans SC"/>
              </a:rPr>
              <a:t>检索组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016000" y="4064000"/>
            <a:ext cx="2794000" cy="711200"/>
          </a:xfrm>
          <a:prstGeom prst="roundRect">
            <a:avLst>
              <a:gd name="adj" fmla="val 0"/>
            </a:avLst>
          </a:prstGeom>
          <a:solidFill>
            <a:srgbClr val="FCEDE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1168400" y="4140200"/>
            <a:ext cx="2540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1" i="0" u="none" strike="noStrike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US05 / US06 / US07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200" b="0" i="0" u="none" strike="noStrike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文本、单图、多图先搜索结果</a:t>
            </a:r>
          </a:p>
        </p:txBody>
      </p:sp>
      <p:cxnSp>
        <p:nvCxnSpPr>
          <p:cNvPr id="13" name="Connector 13"/>
          <p:cNvCxnSpPr/>
          <p:nvPr/>
        </p:nvCxnSpPr>
        <p:spPr>
          <a:xfrm rot="-76381">
            <a:off x="3810071" y="4413250"/>
            <a:ext cx="571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788291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id="14" name="AutoShape 14"/>
          <p:cNvSpPr/>
          <p:nvPr/>
        </p:nvSpPr>
        <p:spPr>
          <a:xfrm>
            <a:off x="4381500" y="3937000"/>
            <a:ext cx="3048000" cy="965200"/>
          </a:xfrm>
          <a:prstGeom prst="roundRect">
            <a:avLst>
              <a:gd name="adj" fmla="val 0"/>
            </a:avLst>
          </a:prstGeom>
          <a:solidFill>
            <a:srgbClr val="F5F7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4533900" y="4038600"/>
            <a:ext cx="27940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再交给 US08、US09 显示来源和规格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交给 US10 显示版本号</a:t>
            </a:r>
          </a:p>
        </p:txBody>
      </p:sp>
      <p:cxnSp>
        <p:nvCxnSpPr>
          <p:cNvPr id="16" name="Connector 16"/>
          <p:cNvCxnSpPr/>
          <p:nvPr/>
        </p:nvCxnSpPr>
        <p:spPr>
          <a:xfrm rot="1983930">
            <a:off x="7357866" y="2997227"/>
            <a:ext cx="841848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4472C4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cxnSp>
        <p:nvCxnSpPr>
          <p:cNvPr id="17" name="Connector 17"/>
          <p:cNvCxnSpPr/>
          <p:nvPr/>
        </p:nvCxnSpPr>
        <p:spPr>
          <a:xfrm rot="-2834252">
            <a:off x="7271214" y="4044921"/>
            <a:ext cx="1015126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D7D31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id="18" name="AutoShape 18"/>
          <p:cNvSpPr/>
          <p:nvPr/>
        </p:nvSpPr>
        <p:spPr>
          <a:xfrm>
            <a:off x="8128000" y="2857500"/>
            <a:ext cx="3048000" cy="1397000"/>
          </a:xfrm>
          <a:prstGeom prst="roundRect">
            <a:avLst>
              <a:gd name="adj" fmla="val 0"/>
            </a:avLst>
          </a:prstGeom>
          <a:solidFill>
            <a:srgbClr val="4472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8331200" y="3048000"/>
            <a:ext cx="2667000" cy="1092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合并至一个工作界面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把生成、检索、检查拼接起来，整体测试。</a:t>
            </a:r>
          </a:p>
        </p:txBody>
      </p:sp>
      <p:sp>
        <p:nvSpPr>
          <p:cNvPr id="20" name="AutoShape 20"/>
          <p:cNvSpPr/>
          <p:nvPr/>
        </p:nvSpPr>
        <p:spPr>
          <a:xfrm>
            <a:off x="1016000" y="5461000"/>
            <a:ext cx="10160000" cy="609600"/>
          </a:xfrm>
          <a:prstGeom prst="roundRect">
            <a:avLst>
              <a:gd name="adj" fmla="val 0"/>
            </a:avLst>
          </a:prstGeom>
          <a:solidFill>
            <a:srgbClr val="FFF8F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1219200" y="5588000"/>
            <a:ext cx="977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45A14"/>
                </a:solidFill>
                <a:latin typeface="Noto Sans SC"/>
                <a:ea typeface="Noto Sans SC"/>
                <a:cs typeface="Noto Sans SC"/>
                <a:sym typeface="Noto Sans SC"/>
              </a:rPr>
              <a:t>第一天要确定检索结果附带的字段、图片如何上传、检查报告模版；后续修改需要详细记录。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10668000" y="6350000"/>
            <a:ext cx="50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 dirty="0">
                <a:solidFill>
                  <a:srgbClr val="A0A8B4"/>
                </a:solidFill>
                <a:latin typeface="Noto Sans SC"/>
                <a:ea typeface="Noto Sans SC"/>
                <a:cs typeface="Noto Sans SC"/>
                <a:sym typeface="Noto Sans SC"/>
              </a:rPr>
              <a:t>07 / 11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1016000" y="10922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工作安排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159000"/>
            <a:ext cx="101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4472C4"/>
                </a:solidFill>
                <a:latin typeface="Noto Sans SC"/>
                <a:ea typeface="Noto Sans SC"/>
                <a:cs typeface="Noto Sans SC"/>
                <a:sym typeface="Noto Sans SC"/>
              </a:rPr>
              <a:t>第 1 天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2159000" y="2095500"/>
            <a:ext cx="2794000" cy="889000"/>
          </a:xfrm>
          <a:prstGeom prst="roundRect">
            <a:avLst>
              <a:gd name="adj" fmla="val 0"/>
            </a:avLst>
          </a:prstGeom>
          <a:solidFill>
            <a:srgbClr val="E8EEF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2336800" y="2209800"/>
            <a:ext cx="2489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1" i="0" u="none" strike="noStrike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上午 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200" b="0" i="0" u="none" strike="noStrike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开启动会，准备环境和测试数据，各组分头写主流程</a:t>
            </a:r>
          </a:p>
        </p:txBody>
      </p:sp>
      <p:sp>
        <p:nvSpPr>
          <p:cNvPr id="7" name="AutoShape 7"/>
          <p:cNvSpPr/>
          <p:nvPr/>
        </p:nvSpPr>
        <p:spPr>
          <a:xfrm>
            <a:off x="5080000" y="2095500"/>
            <a:ext cx="1778000" cy="889000"/>
          </a:xfrm>
          <a:prstGeom prst="roundRect">
            <a:avLst>
              <a:gd name="adj" fmla="val 0"/>
            </a:avLst>
          </a:prstGeom>
          <a:solidFill>
            <a:srgbClr val="FFF2E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5232400" y="2209800"/>
            <a:ext cx="14986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zh-CN" altLang="en-US" sz="1200" b="1" dirty="0">
                <a:solidFill>
                  <a:srgbClr val="B45A14"/>
                </a:solidFill>
                <a:latin typeface="Noto Sans SC"/>
                <a:ea typeface="Noto Sans SC"/>
                <a:cs typeface="Noto Sans SC"/>
                <a:sym typeface="Noto Sans SC"/>
              </a:rPr>
              <a:t>中午</a:t>
            </a:r>
            <a:r>
              <a:rPr lang="en-US" sz="1200" b="1" i="0" u="none" strike="noStrike" dirty="0">
                <a:solidFill>
                  <a:srgbClr val="B45A14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  <a:p>
            <a:pPr marL="0" indent="0" algn="l">
              <a:lnSpc>
                <a:spcPct val="116666"/>
              </a:lnSpc>
            </a:pPr>
            <a:r>
              <a:rPr lang="en-US" sz="1200" b="0" i="0" u="none" strike="noStrike" dirty="0" err="1">
                <a:solidFill>
                  <a:srgbClr val="B45A14"/>
                </a:solidFill>
                <a:latin typeface="Noto Sans SC"/>
                <a:ea typeface="Noto Sans SC"/>
                <a:cs typeface="Noto Sans SC"/>
                <a:sym typeface="Noto Sans SC"/>
              </a:rPr>
              <a:t>确定检索字段、图片传法、检查报告格式</a:t>
            </a:r>
            <a:endParaRPr lang="en-US" sz="1200" b="0" i="0" u="none" strike="noStrike" dirty="0">
              <a:solidFill>
                <a:srgbClr val="B45A14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985000" y="2095500"/>
            <a:ext cx="4191000" cy="889000"/>
          </a:xfrm>
          <a:prstGeom prst="roundRect">
            <a:avLst>
              <a:gd name="adj" fmla="val 0"/>
            </a:avLst>
          </a:prstGeom>
          <a:solidFill>
            <a:srgbClr val="E8EEF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7162800" y="2209800"/>
            <a:ext cx="3886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zh-CN" altLang="en-US" sz="1200" b="1" dirty="0">
                <a:solidFill>
                  <a:srgbClr val="2B2F36"/>
                </a:solidFill>
                <a:latin typeface="Noto Sans SC"/>
                <a:ea typeface="Noto Sans SC"/>
                <a:sym typeface="Noto Sans SC"/>
              </a:rPr>
              <a:t>下午</a:t>
            </a:r>
            <a:endParaRPr lang="en-US" sz="1100" dirty="0"/>
          </a:p>
          <a:p>
            <a:pPr marL="0" indent="0" algn="l">
              <a:lnSpc>
                <a:spcPct val="116666"/>
              </a:lnSpc>
            </a:pPr>
            <a:r>
              <a:rPr lang="en-US" sz="1200" b="0" i="0" u="none" strike="noStrike" dirty="0" err="1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把正常用法都做完，组之间交接一次，分析异常情况</a:t>
            </a:r>
            <a:endParaRPr lang="en-US" sz="1200" b="0" i="0" u="none" strike="noStrike" dirty="0">
              <a:solidFill>
                <a:srgbClr val="2B2F36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16000" y="3683000"/>
            <a:ext cx="101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ED7D31"/>
                </a:solidFill>
                <a:latin typeface="Noto Sans SC"/>
                <a:ea typeface="Noto Sans SC"/>
                <a:cs typeface="Noto Sans SC"/>
                <a:sym typeface="Noto Sans SC"/>
              </a:rPr>
              <a:t>第 2 天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2159000" y="3619500"/>
            <a:ext cx="4318000" cy="889000"/>
          </a:xfrm>
          <a:prstGeom prst="roundRect">
            <a:avLst>
              <a:gd name="adj" fmla="val 0"/>
            </a:avLst>
          </a:prstGeom>
          <a:solidFill>
            <a:srgbClr val="FCEDE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2336800" y="3733800"/>
            <a:ext cx="401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1" i="0" u="none" strike="noStrike" dirty="0" err="1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上午</a:t>
            </a:r>
            <a:r>
              <a:rPr lang="en-US" sz="1200" b="1" i="0" u="none" strike="noStrike" dirty="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  <a:p>
            <a:pPr marL="0" indent="0" algn="l">
              <a:lnSpc>
                <a:spcPct val="116666"/>
              </a:lnSpc>
            </a:pPr>
            <a:r>
              <a:rPr lang="en-US" sz="1200" b="0" i="0" u="none" strike="noStrike" dirty="0" err="1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补上空输入、坏数据</a:t>
            </a:r>
            <a:r>
              <a:rPr lang="zh-CN" altLang="en-US" sz="1200" b="0" i="0" u="none" strike="noStrike" dirty="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等</a:t>
            </a:r>
            <a:r>
              <a:rPr lang="en-US" sz="1200" b="0" i="0" u="none" strike="noStrike" dirty="0" err="1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异常情况</a:t>
            </a:r>
            <a:r>
              <a:rPr lang="en-US" sz="1200" b="0" i="0" u="none" strike="noStrike" dirty="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，</a:t>
            </a:r>
            <a:r>
              <a:rPr lang="zh-CN" altLang="en-US" sz="1200" b="0" i="0" u="none" strike="noStrike" dirty="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拼接各个面板</a:t>
            </a:r>
            <a:r>
              <a:rPr lang="en-US" sz="1200" b="0" i="0" u="none" strike="noStrike" dirty="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，</a:t>
            </a:r>
            <a:r>
              <a:rPr lang="en-US" sz="1200" b="0" i="0" u="none" strike="noStrike" dirty="0" err="1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解决异常问题</a:t>
            </a:r>
            <a:endParaRPr lang="en-US" sz="1200" b="0" i="0" u="none" strike="noStrike" dirty="0">
              <a:solidFill>
                <a:srgbClr val="2B2F36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604000" y="3619500"/>
            <a:ext cx="4572000" cy="889000"/>
          </a:xfrm>
          <a:prstGeom prst="roundRect">
            <a:avLst>
              <a:gd name="adj" fmla="val 0"/>
            </a:avLst>
          </a:prstGeom>
          <a:solidFill>
            <a:srgbClr val="4472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6781800" y="3733800"/>
            <a:ext cx="4267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1" i="0" u="none" strike="noStrike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下午</a:t>
            </a:r>
            <a:endParaRPr lang="en-US" sz="1100" dirty="0"/>
          </a:p>
          <a:p>
            <a:pPr marL="0" indent="0" algn="l">
              <a:lnSpc>
                <a:spcPct val="116666"/>
              </a:lnSpc>
            </a:pPr>
            <a:r>
              <a:rPr lang="en-US" sz="1200" b="0" i="0" u="none" strike="noStrike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测验所有故事，整理截图记录，开评审会总结</a:t>
            </a:r>
            <a:endParaRPr lang="en-US" sz="1200" b="0" i="0" u="none" strike="noStrike" dirty="0">
              <a:solidFill>
                <a:srgbClr val="FFFFFF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cxnSp>
        <p:nvCxnSpPr>
          <p:cNvPr id="16" name="Connector 16"/>
          <p:cNvCxnSpPr/>
          <p:nvPr/>
        </p:nvCxnSpPr>
        <p:spPr>
          <a:xfrm rot="-4297">
            <a:off x="1016004" y="5200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E1E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1016000" y="54356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第一天完成正常情况的功能，确定接口</a:t>
            </a:r>
            <a:r>
              <a:rPr lang="zh-CN" alt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并</a:t>
            </a: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完成连接；第二天解决异常问题、整体测试并记录，最后</a:t>
            </a:r>
            <a:r>
              <a:rPr 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 PO </a:t>
            </a: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对照用例签字</a:t>
            </a:r>
            <a:r>
              <a:rPr 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18" name="AutoShape 18"/>
          <p:cNvSpPr/>
          <p:nvPr/>
        </p:nvSpPr>
        <p:spPr>
          <a:xfrm>
            <a:off x="10668000" y="6350000"/>
            <a:ext cx="50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 dirty="0">
                <a:solidFill>
                  <a:srgbClr val="A0A8B4"/>
                </a:solidFill>
                <a:latin typeface="Noto Sans SC"/>
                <a:ea typeface="Noto Sans SC"/>
                <a:cs typeface="Noto Sans SC"/>
                <a:sym typeface="Noto Sans SC"/>
              </a:rPr>
              <a:t>08 / 11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1016000" y="10922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 dirty="0" err="1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完成</a:t>
            </a:r>
            <a:r>
              <a:rPr lang="zh-CN" altLang="en-US" sz="2800" b="1" i="0" u="none" strike="noStrike" dirty="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定义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1016000" y="2159000"/>
            <a:ext cx="76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4472C4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778000" y="2184400"/>
            <a:ext cx="939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讨论二中验收用例都跑过，正常、异常、边界情况都有结果。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921000"/>
            <a:ext cx="76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4472C4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778000" y="2946400"/>
            <a:ext cx="939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确保确定性，相同输入得到相同结果；错误反馈明确。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16000" y="3683000"/>
            <a:ext cx="76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4472C4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778000" y="3708400"/>
            <a:ext cx="939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完成测试与交接，不遗漏异常情况。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4445000"/>
            <a:ext cx="76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4472C4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778000" y="4470400"/>
            <a:ext cx="939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记录完整详细。用例号、输入、预期结果、实际结果、通过情况、测试人、截图或日志。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016000" y="5207000"/>
            <a:ext cx="76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ED7D31"/>
                </a:solidFill>
                <a:latin typeface="Noto Sans SC"/>
                <a:ea typeface="Noto Sans SC"/>
                <a:cs typeface="Noto Sans SC"/>
                <a:sym typeface="Noto Sans SC"/>
              </a:rPr>
              <a:t>5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778000" y="5232400"/>
            <a:ext cx="939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3C4655"/>
                </a:solidFill>
                <a:latin typeface="Noto Sans SC"/>
                <a:ea typeface="Noto Sans SC"/>
                <a:cs typeface="Noto Sans SC"/>
                <a:sym typeface="Noto Sans SC"/>
              </a:rPr>
              <a:t>PO 查看工作证据并签字完成。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0668000" y="6350000"/>
            <a:ext cx="50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 dirty="0">
                <a:solidFill>
                  <a:srgbClr val="A0A8B4"/>
                </a:solidFill>
                <a:latin typeface="Noto Sans SC"/>
                <a:ea typeface="Noto Sans SC"/>
                <a:cs typeface="Noto Sans SC"/>
                <a:sym typeface="Noto Sans SC"/>
              </a:rPr>
              <a:t>09 / 11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1016000" y="10922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800" b="1" i="0" u="none" strike="noStrike" dirty="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迭代一交付物</a:t>
            </a:r>
            <a:endParaRPr lang="en-US" sz="1100" dirty="0"/>
          </a:p>
        </p:txBody>
      </p:sp>
      <p:cxnSp>
        <p:nvCxnSpPr>
          <p:cNvPr id="4" name="Connector 4"/>
          <p:cNvCxnSpPr/>
          <p:nvPr/>
        </p:nvCxnSpPr>
        <p:spPr>
          <a:xfrm rot="-4297">
            <a:off x="1016004" y="2025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E1E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AutoShape 5"/>
          <p:cNvSpPr/>
          <p:nvPr/>
        </p:nvSpPr>
        <p:spPr>
          <a:xfrm>
            <a:off x="1016000" y="2286000"/>
            <a:ext cx="4572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4472C4"/>
                </a:solidFill>
                <a:latin typeface="Noto Sans SC"/>
                <a:ea typeface="Noto Sans SC"/>
                <a:cs typeface="Noto Sans SC"/>
                <a:sym typeface="Noto Sans SC"/>
              </a:rPr>
              <a:t>工作面板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667000"/>
            <a:ext cx="4699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文本框、图片上传、检索框、结果列表、QA</a:t>
            </a:r>
            <a:r>
              <a:rPr 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报告</a:t>
            </a:r>
            <a:r>
              <a:rPr lang="zh-CN" alt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界面完备</a:t>
            </a:r>
            <a:r>
              <a:rPr 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7" name="AutoShape 7"/>
          <p:cNvSpPr/>
          <p:nvPr/>
        </p:nvSpPr>
        <p:spPr>
          <a:xfrm>
            <a:off x="1016000" y="3530600"/>
            <a:ext cx="4572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4472C4"/>
                </a:solidFill>
                <a:latin typeface="Noto Sans SC"/>
                <a:ea typeface="Noto Sans SC"/>
                <a:cs typeface="Noto Sans SC"/>
                <a:sym typeface="Noto Sans SC"/>
              </a:rPr>
              <a:t>生成功能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16000" y="3911600"/>
            <a:ext cx="4699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文本出支撑板、法兰模型；单图解码后提尺寸；多图分组后查视图间尺寸冲突</a:t>
            </a:r>
            <a:r>
              <a:rPr 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，</a:t>
            </a:r>
            <a:r>
              <a:rPr lang="zh-CN" altLang="en-US" sz="1300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异常拦截</a:t>
            </a:r>
            <a:r>
              <a:rPr 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9" name="AutoShape 9"/>
          <p:cNvSpPr/>
          <p:nvPr/>
        </p:nvSpPr>
        <p:spPr>
          <a:xfrm>
            <a:off x="1016000" y="4775200"/>
            <a:ext cx="4572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4472C4"/>
                </a:solidFill>
                <a:latin typeface="Noto Sans SC"/>
                <a:ea typeface="Noto Sans SC"/>
                <a:cs typeface="Noto Sans SC"/>
                <a:sym typeface="Noto Sans SC"/>
              </a:rPr>
              <a:t>检索功能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5156200"/>
            <a:ext cx="4699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文本按标签和同义名排序；单图、多图做特征比对；结果详情分溯源、规格、版本三块</a:t>
            </a:r>
            <a:r>
              <a:rPr 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cxnSp>
        <p:nvCxnSpPr>
          <p:cNvPr id="11" name="Connector 11"/>
          <p:cNvCxnSpPr/>
          <p:nvPr/>
        </p:nvCxnSpPr>
        <p:spPr>
          <a:xfrm rot="5387499">
            <a:off x="4286250" y="4025912"/>
            <a:ext cx="349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E1E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6413500" y="2286000"/>
            <a:ext cx="482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ED7D31"/>
                </a:solidFill>
                <a:latin typeface="Noto Sans SC"/>
                <a:ea typeface="Noto Sans SC"/>
                <a:cs typeface="Noto Sans SC"/>
                <a:sym typeface="Noto Sans SC"/>
              </a:rPr>
              <a:t>QA 检查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413500" y="2667000"/>
            <a:ext cx="482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几何上判单实体、有</a:t>
            </a:r>
            <a:r>
              <a:rPr lang="zh-CN" alt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无</a:t>
            </a: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开口；尺寸上查</a:t>
            </a:r>
            <a:r>
              <a:rPr 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 X/Y/</a:t>
            </a: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Z、孔径，列</a:t>
            </a:r>
            <a:r>
              <a:rPr lang="zh-CN" alt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出</a:t>
            </a: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超差明细</a:t>
            </a:r>
            <a:r>
              <a:rPr 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14" name="AutoShape 14"/>
          <p:cNvSpPr/>
          <p:nvPr/>
        </p:nvSpPr>
        <p:spPr>
          <a:xfrm>
            <a:off x="6413500" y="3530600"/>
            <a:ext cx="482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ED7D31"/>
                </a:solidFill>
                <a:latin typeface="Noto Sans SC"/>
                <a:ea typeface="Noto Sans SC"/>
                <a:cs typeface="Noto Sans SC"/>
                <a:sym typeface="Noto Sans SC"/>
              </a:rPr>
              <a:t>测试资产目录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413500" y="3911600"/>
            <a:ext cx="482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一批样例零件，每条</a:t>
            </a:r>
            <a:r>
              <a:rPr lang="zh-CN" alt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附</a:t>
            </a: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带名称、标签、关键尺寸、来源、版本五个字段，供检索使用</a:t>
            </a:r>
            <a:r>
              <a:rPr 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16" name="AutoShape 16"/>
          <p:cNvSpPr/>
          <p:nvPr/>
        </p:nvSpPr>
        <p:spPr>
          <a:xfrm>
            <a:off x="6413500" y="4775200"/>
            <a:ext cx="482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ED7D31"/>
                </a:solidFill>
                <a:latin typeface="Noto Sans SC"/>
                <a:ea typeface="Noto Sans SC"/>
                <a:cs typeface="Noto Sans SC"/>
                <a:sym typeface="Noto Sans SC"/>
              </a:rPr>
              <a:t>验收证据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413500" y="5156200"/>
            <a:ext cx="482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AT01–AT12 </a:t>
            </a:r>
            <a:r>
              <a:rPr lang="en-US" sz="1300" b="0" i="0" u="none" strike="noStrike" dirty="0" err="1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每条用例的输入、预期、实际结果和截图；端到端跑通记录和遗留问题清单</a:t>
            </a:r>
            <a:r>
              <a:rPr lang="en-US" sz="1300" b="0" i="0" u="none" strike="noStrike" dirty="0">
                <a:solidFill>
                  <a:srgbClr val="5A6473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18" name="AutoShape 18"/>
          <p:cNvSpPr/>
          <p:nvPr/>
        </p:nvSpPr>
        <p:spPr>
          <a:xfrm>
            <a:off x="1016000" y="63500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A0A8B4"/>
                </a:solidFill>
                <a:latin typeface="Noto Sans SC"/>
                <a:ea typeface="Noto Sans SC"/>
                <a:cs typeface="Noto Sans SC"/>
                <a:sym typeface="Noto Sans SC"/>
              </a:rPr>
              <a:t>SimpleCADforDSH ｜ 讨论三 · 项目计划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10668000" y="6350000"/>
            <a:ext cx="50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A0A8B4"/>
                </a:solidFill>
                <a:latin typeface="Noto Sans SC"/>
                <a:ea typeface="Noto Sans SC"/>
                <a:cs typeface="Noto Sans SC"/>
                <a:sym typeface="Noto Sans SC"/>
              </a:rPr>
              <a:t>10 / 11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52400" cy="6858000"/>
          </a:xfrm>
          <a:prstGeom prst="roundRect">
            <a:avLst>
              <a:gd name="adj" fmla="val 0"/>
            </a:avLst>
          </a:prstGeom>
          <a:solidFill>
            <a:srgbClr val="4472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2286000"/>
            <a:ext cx="762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ED7D31"/>
                </a:solidFill>
                <a:latin typeface="Noto Sans SC"/>
                <a:ea typeface="Noto Sans SC"/>
                <a:cs typeface="Noto Sans SC"/>
                <a:sym typeface="Noto Sans SC"/>
              </a:rPr>
              <a:t>讨论 3 · 项目计划会议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794000"/>
            <a:ext cx="10160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400" b="1" i="0" u="none" strike="noStrike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感谢聆听，欢迎提问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297">
            <a:off x="1016004" y="5073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E1E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1016000" y="5334000"/>
            <a:ext cx="762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88291"/>
                </a:solidFill>
                <a:latin typeface="Noto Sans SC"/>
                <a:ea typeface="Noto Sans SC"/>
                <a:cs typeface="Noto Sans SC"/>
                <a:sym typeface="Noto Sans SC"/>
              </a:rPr>
              <a:t>第十二组 · SimpleCADforDSH ｜ 软件工程与项目管理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1166</Words>
  <Application>Microsoft Office PowerPoint</Application>
  <PresentationFormat>宽屏</PresentationFormat>
  <Paragraphs>220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15" baseType="lpstr">
      <vt:lpstr>Noto Sans SC</vt:lpstr>
      <vt:lpstr>Arial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常诚</dc:creator>
  <cp:lastModifiedBy>诚 常</cp:lastModifiedBy>
  <cp:revision>8</cp:revision>
  <dcterms:modified xsi:type="dcterms:W3CDTF">2026-10-06T10:42:09Z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{"Label":"1","ContentProducer":"001191110102MACQD9K64010000","ProduceID":"7690607285135494362","ReservedCode1":"","ContentPropagator":"","PropagateID":"","ReservedCode2":""}</vt:lpwstr>
  </property>
</Properties>
</file>