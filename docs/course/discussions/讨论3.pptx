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7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软件项目组织与管理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57290">
            <a:off x="1016053" y="2089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ED7D3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413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4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讨论三：项目计划会议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064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0" i="0" u="none" strike="noStrike">
                <a:solidFill>
                  <a:srgbClr val="44546A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SimpleCADforDSH：面向 DeepSeek Harness 的智能参数化 CAD 生成检索插件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4297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56896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第十二组</a:t>
            </a:r>
            <a:r>
              <a:rPr lang="en-US" sz="1300" b="0" i="0" u="none" strike="noStrike" dirty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8636000" y="568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 28 日</a:t>
            </a:r>
            <a:endParaRPr lang="en-US" sz="11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48A046-3ADA-7F8D-451C-C4452B5369DA}"/>
              </a:ext>
            </a:extLst>
          </p:cNvPr>
          <p:cNvSpPr txBox="1"/>
          <p:nvPr/>
        </p:nvSpPr>
        <p:spPr>
          <a:xfrm>
            <a:off x="9734580" y="5041900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汇报人：庞佳泽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AGENDA · 汇报内容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汇报内容简介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540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26035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项目范围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31496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如何划分迭代，故事完成的迭代数，故事点和优先级的确定。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73556">
            <a:off x="5270500" y="3359174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604000" y="2540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723517" y="2616200"/>
            <a:ext cx="355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迭代分工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7723517" y="3149600"/>
            <a:ext cx="3452483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本次会议确定了12 个故事、</a:t>
            </a:r>
            <a:r>
              <a:rPr lang="en-US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61 </a:t>
            </a:r>
            <a:r>
              <a:rPr lang="en-US" sz="14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个故事点，小组六人的工作安排，交付物验收标准</a:t>
            </a:r>
            <a:r>
              <a:rPr lang="en-US" sz="14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016000" y="4826000"/>
            <a:ext cx="10160000" cy="889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320800" y="4978400"/>
            <a:ext cx="965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44546A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目标：完成一个能演示的版本，生成模型、检索历史零件、自动检查几何和尺寸，每步留下验收记录</a:t>
            </a:r>
            <a:r>
              <a:rPr lang="en-US" sz="1400" b="0" i="0" u="none" strike="noStrike" dirty="0">
                <a:solidFill>
                  <a:srgbClr val="44546A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016000" y="635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讨论三 · 项目计划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02 /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SCOPE · 项目范围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迭代任务讨论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4572000" cy="2921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270000" y="2362200"/>
            <a:ext cx="406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迭代 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2743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12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个故事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· </a:t>
            </a:r>
            <a:r>
              <a:rPr lang="en-US" sz="18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61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故事点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270000" y="3276600"/>
            <a:ext cx="406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G1 生成：US01–US04（文本/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单图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多图生成、参数查看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G2 检索：US05–US10（文本/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单图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多图检索、来源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规格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300" b="0" i="0" u="none" strike="noStrike" dirty="0" err="1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版本</a:t>
            </a: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G3 检查：US11–US12（几何是否合法、尺寸合规）</a:t>
            </a:r>
          </a:p>
        </p:txBody>
      </p:sp>
      <p:sp>
        <p:nvSpPr>
          <p:cNvPr id="8" name="AutoShape 8"/>
          <p:cNvSpPr/>
          <p:nvPr/>
        </p:nvSpPr>
        <p:spPr>
          <a:xfrm>
            <a:off x="5969000" y="2159000"/>
            <a:ext cx="2540000" cy="2921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197600" y="2362200"/>
            <a:ext cx="215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迭代 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97600" y="2870200"/>
            <a:ext cx="215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 dirty="0" err="1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编辑和改图功能</a:t>
            </a:r>
            <a:endParaRPr lang="en-US" sz="1100" dirty="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 dirty="0" err="1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修改尺寸、重新生成、拉伸、布尔、圆角倒角、撤销等</a:t>
            </a:r>
            <a:endParaRPr lang="en-US" sz="1300" b="0" i="0" u="none" strike="noStrike" dirty="0">
              <a:solidFill>
                <a:srgbClr val="78829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890000" y="2159000"/>
            <a:ext cx="2286000" cy="29210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118600" y="23622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迭代 3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118600" y="2870200"/>
            <a:ext cx="1905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0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导出文件功能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STEP / STL / GLB 三种格式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16000" y="5397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排期按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6 人、两天计算，96 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人时，除去会议时长，项目工时约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72 </a:t>
            </a:r>
            <a:r>
              <a:rPr lang="en-US" sz="1300" b="1" i="0" u="none" strike="noStrike" dirty="0" err="1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小时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，人均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12 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小时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1016000" y="635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讨论三 · 项目计划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668000" y="6344249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03 /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BACKLOG · 用户故事与故事点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故事点分析</a:t>
            </a:r>
            <a:endParaRPr lang="en-US" sz="1100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701069"/>
              </p:ext>
            </p:extLst>
          </p:nvPr>
        </p:nvGraphicFramePr>
        <p:xfrm>
          <a:off x="1016000" y="1651000"/>
          <a:ext cx="6880045" cy="40995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8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2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目标</a:t>
                      </a:r>
                      <a:endParaRPr lang="en-US" sz="1100" dirty="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故事号</a:t>
                      </a:r>
                      <a:endParaRPr lang="en-US" sz="110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用户故事</a:t>
                      </a:r>
                      <a:endParaRPr lang="en-US" sz="1100" dirty="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故事点</a:t>
                      </a:r>
                      <a:endParaRPr lang="en-US" sz="1100" dirty="0"/>
                    </a:p>
                  </a:txBody>
                  <a:tcPr marL="101600" marR="101600" marT="88900" marB="889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G1 生成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US01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文本描述生成 CAD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sym typeface="Noto Sans SC"/>
                        </a:rPr>
                        <a:t>8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G1 生成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US02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单视角图像生成 CAD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sym typeface="Noto Sans SC"/>
                        </a:rPr>
                        <a:t>8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G1 生成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US03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多视角图像生成 CAD（视图间尺寸冲突校验）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sym typeface="Noto Sans SC"/>
                        </a:rPr>
                        <a:t>8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4472C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G1 生成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US04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查看生成模型的可编辑参数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US05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文本检索相似 CAD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sym typeface="Noto Sans SC"/>
                        </a:rPr>
                        <a:t>5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US06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单张图像检索相似 CAD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sym typeface="Noto Sans SC"/>
                        </a:rPr>
                        <a:t>5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US07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多张图像检索相似 CAD（多图一致性判断）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US08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查看检索模型溯源信息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sym typeface="Noto Sans SC"/>
                        </a:rPr>
                        <a:t>3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US09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查看检索模型规格信息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sym typeface="Noto Sans SC"/>
                        </a:rPr>
                        <a:t>3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ED7D3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G2 检索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US10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查看检索模型版本信息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sym typeface="Noto Sans SC"/>
                        </a:rPr>
                        <a:t>3</a:t>
                      </a:r>
                      <a:endParaRPr lang="en-US" sz="1100" dirty="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70AD4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G3 质检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US11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模型几何合法性检查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</a:t>
                      </a:r>
                      <a:endParaRPr lang="en-US" sz="1100"/>
                    </a:p>
                  </a:txBody>
                  <a:tcPr marL="101600" marR="101600" marT="69850" marB="698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70AD4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G3 </a:t>
                      </a:r>
                      <a:r>
                        <a:rPr lang="en-US" sz="1100" b="0" i="0" u="none" strike="noStrike" dirty="0" err="1">
                          <a:solidFill>
                            <a:srgbClr val="70AD4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质检</a:t>
                      </a:r>
                      <a:endParaRPr lang="en-US" sz="1100" dirty="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5A647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US12</a:t>
                      </a:r>
                      <a:endParaRPr lang="en-US" sz="1100" dirty="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 err="1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模型尺寸符合性检查</a:t>
                      </a:r>
                      <a:endParaRPr lang="en-US" sz="1100" dirty="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2B2F36"/>
                          </a:solidFill>
                          <a:latin typeface="Noto Sans SC"/>
                          <a:ea typeface="Noto Sans SC"/>
                          <a:sym typeface="Noto Sans SC"/>
                        </a:rPr>
                        <a:t>8</a:t>
                      </a:r>
                      <a:endParaRPr lang="en-US" sz="1100" dirty="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04 / 11</a:t>
            </a:r>
            <a:endParaRPr lang="en-US" sz="11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22FFF16-5F58-2BC2-CA52-F19828912807}"/>
              </a:ext>
            </a:extLst>
          </p:cNvPr>
          <p:cNvSpPr txBox="1"/>
          <p:nvPr/>
        </p:nvSpPr>
        <p:spPr>
          <a:xfrm>
            <a:off x="7993810" y="1618015"/>
            <a:ext cx="41464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故事点数由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验收用例</a:t>
            </a:r>
            <a:r>
              <a:rPr lang="zh-CN" altLang="en-US" dirty="0">
                <a:ea typeface="Noto Sans SC" panose="020B0200000000000000" pitchFamily="34" charset="-122"/>
              </a:rPr>
              <a:t>量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、技术风险、工作量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确定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。</a:t>
            </a:r>
            <a:endParaRPr lang="zh-CN" altLang="zh-CN" dirty="0">
              <a:effectLst/>
            </a:endParaRPr>
          </a:p>
          <a:p>
            <a:pPr>
              <a:buNone/>
            </a:pPr>
            <a:r>
              <a:rPr lang="en-US" altLang="zh-CN" b="1" dirty="0">
                <a:ea typeface="Noto Sans SC" panose="020B0200000000000000" pitchFamily="34" charset="-122"/>
              </a:rPr>
              <a:t>1</a:t>
            </a:r>
            <a:r>
              <a:rPr lang="zh-CN" altLang="en-US" b="1" dirty="0">
                <a:ea typeface="Noto Sans SC" panose="020B0200000000000000" pitchFamily="34" charset="-122"/>
              </a:rPr>
              <a:t>点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是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非常简单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，</a:t>
            </a:r>
            <a:r>
              <a:rPr lang="en-US" altLang="zh-CN" b="1" dirty="0">
                <a:ea typeface="Noto Sans SC" panose="020B0200000000000000" pitchFamily="34" charset="-122"/>
              </a:rPr>
              <a:t>2</a:t>
            </a:r>
            <a:r>
              <a:rPr lang="zh-CN" altLang="zh-CN" sz="1400" b="1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 点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是</a:t>
            </a:r>
            <a:r>
              <a:rPr lang="zh-CN" altLang="en-US" dirty="0">
                <a:ea typeface="Noto Sans SC" panose="020B0200000000000000" pitchFamily="34" charset="-122"/>
              </a:rPr>
              <a:t>简单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，</a:t>
            </a:r>
            <a:r>
              <a:rPr lang="en-US" altLang="zh-CN" b="1" dirty="0">
                <a:ea typeface="Noto Sans SC" panose="020B0200000000000000" pitchFamily="34" charset="-122"/>
              </a:rPr>
              <a:t>3</a:t>
            </a:r>
            <a:r>
              <a:rPr lang="zh-CN" altLang="zh-CN" sz="1400" b="1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 点</a:t>
            </a:r>
            <a:r>
              <a:rPr lang="zh-CN" altLang="en-US" dirty="0">
                <a:ea typeface="Noto Sans SC" panose="020B0200000000000000" pitchFamily="34" charset="-122"/>
              </a:rPr>
              <a:t>是一般，</a:t>
            </a:r>
            <a:r>
              <a:rPr lang="en-US" altLang="zh-CN" b="1" dirty="0">
                <a:ea typeface="Noto Sans SC" panose="020B0200000000000000" pitchFamily="34" charset="-122"/>
              </a:rPr>
              <a:t>5</a:t>
            </a:r>
            <a:r>
              <a:rPr lang="zh-CN" altLang="en-US" b="1" dirty="0">
                <a:ea typeface="Noto Sans SC" panose="020B0200000000000000" pitchFamily="34" charset="-122"/>
              </a:rPr>
              <a:t>点</a:t>
            </a:r>
            <a:r>
              <a:rPr lang="zh-CN" altLang="en-US" dirty="0">
                <a:ea typeface="Noto Sans SC" panose="020B0200000000000000" pitchFamily="34" charset="-122"/>
              </a:rPr>
              <a:t>是较复杂，</a:t>
            </a:r>
            <a:r>
              <a:rPr lang="en-US" altLang="zh-CN" b="1" dirty="0">
                <a:ea typeface="Noto Sans SC" panose="020B0200000000000000" pitchFamily="34" charset="-122"/>
              </a:rPr>
              <a:t>8</a:t>
            </a:r>
            <a:r>
              <a:rPr lang="zh-CN" altLang="en-US" b="1" dirty="0">
                <a:ea typeface="Noto Sans SC" panose="020B0200000000000000" pitchFamily="34" charset="-122"/>
              </a:rPr>
              <a:t>点</a:t>
            </a:r>
            <a:r>
              <a:rPr lang="zh-CN" altLang="en-US" dirty="0">
                <a:ea typeface="Noto Sans SC" panose="020B0200000000000000" pitchFamily="34" charset="-122"/>
              </a:rPr>
              <a:t>是很复杂，</a:t>
            </a:r>
            <a:r>
              <a:rPr lang="en-US" altLang="zh-CN" b="1" dirty="0">
                <a:ea typeface="Noto Sans SC" panose="020B0200000000000000" pitchFamily="34" charset="-122"/>
              </a:rPr>
              <a:t>13</a:t>
            </a:r>
            <a:r>
              <a:rPr lang="zh-CN" altLang="en-US" b="1" dirty="0">
                <a:ea typeface="Noto Sans SC" panose="020B0200000000000000" pitchFamily="34" charset="-122"/>
              </a:rPr>
              <a:t>点</a:t>
            </a:r>
            <a:r>
              <a:rPr lang="zh-CN" altLang="en-US" dirty="0">
                <a:ea typeface="Noto Sans SC" panose="020B0200000000000000" pitchFamily="34" charset="-122"/>
              </a:rPr>
              <a:t>是太大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Arial"/>
                <a:ea typeface="Noto Sans SC" panose="020B0200000000000000" pitchFamily="34" charset="-122"/>
              </a:rPr>
              <a:t>。合计 38 点，本迭代点数留作后续速度基线。</a:t>
            </a:r>
            <a:endParaRPr lang="zh-CN" altLang="zh-CN" dirty="0">
              <a:effectLst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F426C4-EA17-1FC5-45EB-C0637509F014}"/>
              </a:ext>
            </a:extLst>
          </p:cNvPr>
          <p:cNvSpPr txBox="1"/>
          <p:nvPr/>
        </p:nvSpPr>
        <p:spPr>
          <a:xfrm>
            <a:off x="1016000" y="5917721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篇幅原因，此处仅以生成检索组为例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PRIORITY · 优先级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优先级排序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11834" y="2044700"/>
            <a:ext cx="3719423" cy="5588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74545" y="21209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 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11834" y="2627702"/>
            <a:ext cx="3996666" cy="360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300" b="1" i="0" u="none" strike="noStrike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US01</a:t>
            </a:r>
            <a:r>
              <a:rPr 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文本生成</a:t>
            </a:r>
            <a:endParaRPr lang="en-US" sz="1100" dirty="0"/>
          </a:p>
          <a:p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直接支撑G1，是文本生成基础流程，参数提取与建模链路可复用。</a:t>
            </a:r>
          </a:p>
          <a:p>
            <a:pPr marL="0" indent="0" algn="l">
              <a:lnSpc>
                <a:spcPct val="141666"/>
              </a:lnSpc>
            </a:pPr>
            <a:r>
              <a:rPr lang="en-US" sz="1300" b="1" i="0" u="none" strike="noStrike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US02</a:t>
            </a:r>
            <a:r>
              <a:rPr 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单图生成</a:t>
            </a:r>
            <a:endParaRPr lang="en-US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r>
              <a:rPr lang="zh-CN" altLang="en-US" sz="1300" dirty="0">
                <a:solidFill>
                  <a:srgbClr val="3C4655"/>
                </a:solidFill>
                <a:latin typeface="Noto Sans SC"/>
                <a:ea typeface="Noto Sans SC"/>
              </a:rPr>
              <a:t>直接支撑</a:t>
            </a:r>
            <a:r>
              <a:rPr lang="en-US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G1</a:t>
            </a:r>
            <a:r>
              <a:rPr lang="zh-CN" altLang="en-US" sz="1300" dirty="0">
                <a:solidFill>
                  <a:srgbClr val="3C4655"/>
                </a:solidFill>
                <a:latin typeface="Noto Sans SC"/>
                <a:ea typeface="Noto Sans SC"/>
              </a:rPr>
              <a:t>图像生成，并为</a:t>
            </a:r>
            <a:r>
              <a:rPr lang="en-US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US03</a:t>
            </a:r>
            <a:r>
              <a:rPr lang="zh-CN" altLang="en-US" sz="1300" dirty="0">
                <a:solidFill>
                  <a:srgbClr val="3C4655"/>
                </a:solidFill>
                <a:latin typeface="Noto Sans SC"/>
                <a:ea typeface="Noto Sans SC"/>
              </a:rPr>
              <a:t>提供图片处理和尺寸识别基础。</a:t>
            </a:r>
            <a:endParaRPr lang="en-US" altLang="zh-CN" sz="1300" dirty="0">
              <a:solidFill>
                <a:srgbClr val="3C4655"/>
              </a:solidFill>
              <a:latin typeface="Noto Sans SC"/>
              <a:ea typeface="Noto Sans SC"/>
            </a:endParaRPr>
          </a:p>
          <a:p>
            <a:pPr>
              <a:lnSpc>
                <a:spcPct val="141666"/>
              </a:lnSpc>
            </a:pPr>
            <a:r>
              <a:rPr lang="zh-CN" altLang="zh-CN" sz="1300" b="1" dirty="0">
                <a:solidFill>
                  <a:srgbClr val="4472C4"/>
                </a:solidFill>
                <a:latin typeface="Noto Sans SC"/>
                <a:ea typeface="Noto Sans SC"/>
              </a:rPr>
              <a:t>US04 </a:t>
            </a:r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查看可编辑参数</a:t>
            </a:r>
          </a:p>
          <a:p>
            <a:pPr>
              <a:lnSpc>
                <a:spcPct val="141666"/>
              </a:lnSpc>
            </a:pPr>
            <a:r>
              <a:rPr lang="zh-CN" altLang="en-US" sz="1300" dirty="0">
                <a:solidFill>
                  <a:srgbClr val="3C4655"/>
                </a:solidFill>
                <a:latin typeface="Noto Sans SC"/>
                <a:ea typeface="Noto Sans SC"/>
              </a:rPr>
              <a:t>支撑</a:t>
            </a:r>
            <a:r>
              <a:rPr lang="en-US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G1</a:t>
            </a:r>
            <a:r>
              <a:rPr lang="zh-CN" altLang="en-US" sz="1300" dirty="0">
                <a:solidFill>
                  <a:srgbClr val="3C4655"/>
                </a:solidFill>
                <a:latin typeface="Noto Sans SC"/>
                <a:ea typeface="Noto Sans SC"/>
              </a:rPr>
              <a:t>参数化模型要求，为尺寸核对和迭代</a:t>
            </a:r>
            <a:r>
              <a:rPr lang="en-US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2</a:t>
            </a:r>
            <a:r>
              <a:rPr lang="zh-CN" altLang="en-US" sz="1300" dirty="0">
                <a:solidFill>
                  <a:srgbClr val="3C4655"/>
                </a:solidFill>
                <a:latin typeface="Noto Sans SC"/>
                <a:ea typeface="Noto Sans SC"/>
              </a:rPr>
              <a:t>参数编辑提供数据基础。</a:t>
            </a:r>
            <a:endParaRPr lang="en-US" altLang="zh-CN" sz="1300" dirty="0">
              <a:solidFill>
                <a:srgbClr val="3C4655"/>
              </a:solidFill>
              <a:latin typeface="Noto Sans SC"/>
              <a:ea typeface="Noto Sans SC"/>
            </a:endParaRPr>
          </a:p>
          <a:p>
            <a:pPr>
              <a:lnSpc>
                <a:spcPct val="141666"/>
              </a:lnSpc>
            </a:pPr>
            <a:r>
              <a:rPr lang="en-US" altLang="zh-CN" sz="1300" b="1" dirty="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US05</a:t>
            </a:r>
            <a:r>
              <a:rPr lang="en-US" altLang="zh-CN" sz="1300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300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文本检索</a:t>
            </a:r>
            <a:endParaRPr lang="en-US" altLang="zh-CN" sz="1300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自然语言检索是实现 G2（文本/图像检索）的基础</a:t>
            </a:r>
            <a:r>
              <a:rPr lang="zh-CN" altLang="en-US" sz="1300" dirty="0">
                <a:solidFill>
                  <a:srgbClr val="3C4655"/>
                </a:solidFill>
                <a:latin typeface="Noto Sans SC"/>
                <a:ea typeface="Noto Sans SC"/>
              </a:rPr>
              <a:t>，</a:t>
            </a:r>
            <a:r>
              <a:rPr lang="en-US" altLang="zh-CN" sz="1300" dirty="0" err="1">
                <a:solidFill>
                  <a:srgbClr val="3C4655"/>
                </a:solidFill>
                <a:latin typeface="Noto Sans SC"/>
                <a:ea typeface="Noto Sans SC"/>
                <a:sym typeface="Noto Sans SC"/>
              </a:rPr>
              <a:t>文本搜索做法成熟，优先实现</a:t>
            </a:r>
            <a:r>
              <a:rPr lang="en-US" altLang="zh-CN" sz="1300" dirty="0">
                <a:solidFill>
                  <a:srgbClr val="3C4655"/>
                </a:solidFill>
                <a:latin typeface="Noto Sans SC"/>
                <a:ea typeface="Noto Sans SC"/>
                <a:sym typeface="Noto Sans SC"/>
              </a:rPr>
              <a:t>。</a:t>
            </a:r>
            <a:endParaRPr lang="en-US" altLang="zh-CN" sz="1300" dirty="0">
              <a:solidFill>
                <a:srgbClr val="3C4655"/>
              </a:solidFill>
              <a:latin typeface="Noto Sans SC"/>
              <a:ea typeface="Noto Sans SC"/>
            </a:endParaRPr>
          </a:p>
          <a:p>
            <a:pPr>
              <a:lnSpc>
                <a:spcPct val="141666"/>
              </a:lnSpc>
            </a:pPr>
            <a:r>
              <a:rPr lang="zh-CN" altLang="zh-CN" sz="1300" b="1" dirty="0">
                <a:solidFill>
                  <a:srgbClr val="4472C4"/>
                </a:solidFill>
                <a:latin typeface="Noto Sans SC"/>
                <a:ea typeface="Noto Sans SC"/>
              </a:rPr>
              <a:t>US11</a:t>
            </a:r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 几何合法性检查</a:t>
            </a:r>
          </a:p>
          <a:p>
            <a:r>
              <a:rPr lang="zh-CN" altLang="en-US" sz="1300" dirty="0">
                <a:solidFill>
                  <a:srgbClr val="3C4655"/>
                </a:solidFill>
                <a:latin typeface="Noto Sans SC"/>
                <a:ea typeface="Noto Sans SC"/>
              </a:rPr>
              <a:t>直接支撑</a:t>
            </a:r>
            <a:r>
              <a:rPr lang="en-US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G3</a:t>
            </a:r>
            <a:r>
              <a:rPr lang="zh-CN" altLang="en-US" sz="1300" dirty="0">
                <a:solidFill>
                  <a:srgbClr val="3C4655"/>
                </a:solidFill>
                <a:latin typeface="Noto Sans SC"/>
                <a:ea typeface="Noto Sans SC"/>
              </a:rPr>
              <a:t>，是判断模型能否继续使用的基础检查。</a:t>
            </a:r>
          </a:p>
          <a:p>
            <a:pPr>
              <a:lnSpc>
                <a:spcPct val="141666"/>
              </a:lnSpc>
            </a:pPr>
            <a:r>
              <a:rPr lang="zh-CN" altLang="zh-CN" sz="1300" b="1" dirty="0">
                <a:solidFill>
                  <a:srgbClr val="4472C4"/>
                </a:solidFill>
                <a:latin typeface="Noto Sans SC"/>
                <a:ea typeface="Noto Sans SC"/>
              </a:rPr>
              <a:t>US12 </a:t>
            </a:r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尺寸符合性检查</a:t>
            </a:r>
          </a:p>
          <a:p>
            <a:r>
              <a:rPr lang="zh-CN" altLang="zh-CN" sz="1300" dirty="0">
                <a:solidFill>
                  <a:srgbClr val="3C4655"/>
                </a:solidFill>
                <a:latin typeface="Noto Sans SC"/>
                <a:ea typeface="Noto Sans SC"/>
              </a:rPr>
              <a:t>直接支撑G3，验证G1生成尺寸是否符合要求。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508500" y="2032000"/>
            <a:ext cx="3175000" cy="558800"/>
          </a:xfrm>
          <a:prstGeom prst="roundRect">
            <a:avLst>
              <a:gd name="adj" fmla="val 0"/>
            </a:avLst>
          </a:prstGeom>
          <a:solidFill>
            <a:srgbClr val="ED7D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711700" y="2133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2743200"/>
            <a:ext cx="3175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</a:pPr>
            <a:r>
              <a:rPr lang="en-US" altLang="zh-CN" sz="1300" b="1" dirty="0">
                <a:solidFill>
                  <a:srgbClr val="ED7D31"/>
                </a:solidFill>
                <a:latin typeface="Noto Sans SC"/>
                <a:ea typeface="Noto Sans SC"/>
                <a:sym typeface="Noto Sans SC"/>
              </a:rPr>
              <a:t>US03</a:t>
            </a:r>
            <a:r>
              <a:rPr lang="en-US" altLang="zh-CN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多视角生成</a:t>
            </a:r>
            <a:endParaRPr lang="en-US" altLang="zh-CN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补全</a:t>
            </a:r>
            <a:r>
              <a:rPr lang="en-US" altLang="zh-CN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G1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多视角能力，依赖</a:t>
            </a:r>
            <a:r>
              <a:rPr lang="en-US" altLang="zh-CN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US02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，安排在单视角可用后实现。</a:t>
            </a:r>
          </a:p>
          <a:p>
            <a:pPr marL="0" indent="0" algn="l">
              <a:lnSpc>
                <a:spcPct val="141666"/>
              </a:lnSpc>
            </a:pPr>
            <a:r>
              <a:rPr lang="en-US" altLang="zh-CN" sz="1300" b="1" dirty="0">
                <a:solidFill>
                  <a:srgbClr val="ED7D31"/>
                </a:solidFill>
                <a:latin typeface="Noto Sans SC"/>
                <a:ea typeface="Noto Sans SC"/>
                <a:sym typeface="Noto Sans SC"/>
              </a:rPr>
              <a:t>US06 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单图检索</a:t>
            </a:r>
            <a:endParaRPr lang="en-US" altLang="zh-CN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扩展</a:t>
            </a:r>
            <a:r>
              <a:rPr lang="en-US" altLang="zh-CN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G2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检索输入方式，依赖文本检索基础。</a:t>
            </a:r>
          </a:p>
          <a:p>
            <a:pPr marL="0" indent="0" algn="l">
              <a:lnSpc>
                <a:spcPct val="141666"/>
              </a:lnSpc>
            </a:pPr>
            <a:r>
              <a:rPr lang="en-US" altLang="zh-CN" sz="1300" b="1" dirty="0">
                <a:solidFill>
                  <a:srgbClr val="ED7D31"/>
                </a:solidFill>
                <a:latin typeface="Noto Sans SC"/>
                <a:ea typeface="Noto Sans SC"/>
                <a:sym typeface="Noto Sans SC"/>
              </a:rPr>
              <a:t>US07</a:t>
            </a:r>
            <a:r>
              <a:rPr lang="en-US" altLang="zh-CN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多图检索</a:t>
            </a:r>
            <a:endParaRPr lang="en-US" altLang="zh-CN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补全</a:t>
            </a:r>
            <a:r>
              <a:rPr lang="en-US" altLang="zh-CN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G2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多视角检索能力，依赖</a:t>
            </a:r>
            <a:r>
              <a:rPr lang="en-US" altLang="zh-CN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US06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，避免基础匹配与融合问题互相干扰。</a:t>
            </a:r>
            <a:endParaRPr lang="en-US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001000" y="2032000"/>
            <a:ext cx="3175000" cy="558800"/>
          </a:xfrm>
          <a:prstGeom prst="roundRect">
            <a:avLst>
              <a:gd name="adj" fmla="val 0"/>
            </a:avLst>
          </a:prstGeom>
          <a:solidFill>
            <a:srgbClr val="7882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204200" y="2133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5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较</a:t>
            </a:r>
            <a:r>
              <a:rPr lang="en-US" sz="15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低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8001000" y="2743200"/>
            <a:ext cx="3175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altLang="zh-CN" sz="1300" b="1" dirty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US08</a:t>
            </a:r>
            <a:r>
              <a:rPr lang="en-US" altLang="zh-CN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溯源信息</a:t>
            </a:r>
            <a:endParaRPr lang="en-US" altLang="zh-CN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支撑</a:t>
            </a:r>
            <a:r>
              <a:rPr lang="en-US" altLang="zh-CN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G2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来源可追溯，但核心生成和检索流程对其依赖较少。</a:t>
            </a:r>
          </a:p>
          <a:p>
            <a:pPr>
              <a:lnSpc>
                <a:spcPct val="141666"/>
              </a:lnSpc>
            </a:pPr>
            <a:r>
              <a:rPr lang="en-US" altLang="zh-CN" sz="1300" b="1" dirty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US09 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规格信息</a:t>
            </a:r>
            <a:endParaRPr lang="en-US" altLang="zh-CN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帮助用户判断检索资产是否适用，依赖结果及规格字段。</a:t>
            </a:r>
          </a:p>
          <a:p>
            <a:pPr>
              <a:lnSpc>
                <a:spcPct val="141666"/>
              </a:lnSpc>
            </a:pPr>
            <a:r>
              <a:rPr lang="en-US" altLang="zh-CN" sz="1300" b="1" dirty="0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US10</a:t>
            </a:r>
            <a:r>
              <a:rPr lang="en-US" altLang="zh-CN" sz="1100" dirty="0">
                <a:ea typeface="Noto Sans SC"/>
              </a:rPr>
              <a:t> 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版本信息</a:t>
            </a:r>
            <a:endParaRPr lang="en-US" altLang="zh-CN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41666"/>
              </a:lnSpc>
            </a:pP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支撑</a:t>
            </a:r>
            <a:r>
              <a:rPr lang="en-US" altLang="zh-CN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G2</a:t>
            </a:r>
            <a:r>
              <a:rPr lang="zh-CN" altLang="en-US" sz="13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版本可识别，其他核心功能对其展示依赖较少</a:t>
            </a:r>
            <a:endParaRPr lang="en-US" sz="13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635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讨论三 · 项目计划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05 /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首轮迭代任务分工概述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06 / 11</a:t>
            </a:r>
            <a:endParaRPr lang="en-US" sz="11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A4C52BB-8DD2-B0C4-DAE3-52D7B9D36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87673"/>
              </p:ext>
            </p:extLst>
          </p:nvPr>
        </p:nvGraphicFramePr>
        <p:xfrm>
          <a:off x="1016000" y="1651000"/>
          <a:ext cx="10515600" cy="42168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36937">
                  <a:extLst>
                    <a:ext uri="{9D8B030D-6E8A-4147-A177-3AD203B41FA5}">
                      <a16:colId xmlns:a16="http://schemas.microsoft.com/office/drawing/2014/main" val="2285523923"/>
                    </a:ext>
                  </a:extLst>
                </a:gridCol>
                <a:gridCol w="2520863">
                  <a:extLst>
                    <a:ext uri="{9D8B030D-6E8A-4147-A177-3AD203B41FA5}">
                      <a16:colId xmlns:a16="http://schemas.microsoft.com/office/drawing/2014/main" val="817984680"/>
                    </a:ext>
                  </a:extLst>
                </a:gridCol>
                <a:gridCol w="2520863">
                  <a:extLst>
                    <a:ext uri="{9D8B030D-6E8A-4147-A177-3AD203B41FA5}">
                      <a16:colId xmlns:a16="http://schemas.microsoft.com/office/drawing/2014/main" val="930890032"/>
                    </a:ext>
                  </a:extLst>
                </a:gridCol>
                <a:gridCol w="2736937">
                  <a:extLst>
                    <a:ext uri="{9D8B030D-6E8A-4147-A177-3AD203B41FA5}">
                      <a16:colId xmlns:a16="http://schemas.microsoft.com/office/drawing/2014/main" val="1795376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b="1">
                          <a:solidFill>
                            <a:srgbClr val="000000"/>
                          </a:solidFill>
                          <a:effectLst/>
                        </a:rPr>
                        <a:t>成员</a:t>
                      </a:r>
                      <a:endParaRPr lang="zh-CN" sz="1125" b="1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b="1" dirty="0">
                          <a:solidFill>
                            <a:srgbClr val="000000"/>
                          </a:solidFill>
                          <a:effectLst/>
                        </a:rPr>
                        <a:t>牵头故事</a:t>
                      </a:r>
                      <a:endParaRPr lang="zh-CN" sz="1125" b="1" i="0" dirty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b="1" dirty="0">
                          <a:solidFill>
                            <a:srgbClr val="000000"/>
                          </a:solidFill>
                          <a:effectLst/>
                        </a:rPr>
                        <a:t>牵头故事点</a:t>
                      </a:r>
                      <a:endParaRPr lang="zh-CN" sz="1125" b="1" i="0" dirty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b="1">
                          <a:solidFill>
                            <a:srgbClr val="000000"/>
                          </a:solidFill>
                          <a:effectLst/>
                        </a:rPr>
                        <a:t>主要工作</a:t>
                      </a:r>
                      <a:endParaRPr lang="zh-CN" sz="1125" b="1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498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b="1">
                          <a:solidFill>
                            <a:srgbClr val="000000"/>
                          </a:solidFill>
                          <a:effectLst/>
                        </a:rPr>
                        <a:t>常诚</a:t>
                      </a:r>
                      <a:endParaRPr lang="zh-CN" sz="1125" b="1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US01、US02、US03、US04、US11、US12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37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文本/单图/多图生成、参数展示、几何与尺寸QA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T="47625" marB="47625" anchor="ctr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325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b="1">
                          <a:solidFill>
                            <a:srgbClr val="000000"/>
                          </a:solidFill>
                          <a:effectLst/>
                        </a:rPr>
                        <a:t>刘子轩</a:t>
                      </a:r>
                      <a:endParaRPr lang="zh-CN" sz="1125" b="1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US05、US06、US07、US08、US09、US10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24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文本/单图/多图检索、样例库与索引、详情展示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T="47625" marB="47625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702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b="1">
                          <a:solidFill>
                            <a:srgbClr val="000000"/>
                          </a:solidFill>
                          <a:effectLst/>
                        </a:rPr>
                        <a:t>侯永森</a:t>
                      </a:r>
                      <a:endParaRPr lang="zh-CN" sz="1125" b="1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协作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dirty="0">
                          <a:solidFill>
                            <a:srgbClr val="000000"/>
                          </a:solidFill>
                          <a:effectLst/>
                        </a:rPr>
                        <a:t>—</a:t>
                      </a:r>
                      <a:endParaRPr lang="zh-CN" sz="1125" b="0" i="0" dirty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参数映射、基础建模、参数面板、规格核对、几何样例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T="47625" marB="47625" anchor="ctr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399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b="1">
                          <a:solidFill>
                            <a:srgbClr val="000000"/>
                          </a:solidFill>
                          <a:effectLst/>
                        </a:rPr>
                        <a:t>庞佳泽</a:t>
                      </a:r>
                      <a:endParaRPr lang="zh-CN" sz="1125" b="1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协作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—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图片样例、尺寸核对、模型与元数据整理、来源版本数据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T="47625" marB="47625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09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b="1">
                          <a:solidFill>
                            <a:srgbClr val="000000"/>
                          </a:solidFill>
                          <a:effectLst/>
                        </a:rPr>
                        <a:t>余智皓</a:t>
                      </a:r>
                      <a:endParaRPr lang="zh-CN" sz="1125" b="1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协作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—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生成接口、检索接口、QA接口、前后端字段一致性、导出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T="47625" marB="47625" anchor="ctr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382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b="1">
                          <a:solidFill>
                            <a:srgbClr val="000000"/>
                          </a:solidFill>
                          <a:effectLst/>
                        </a:rPr>
                        <a:t>严翊航</a:t>
                      </a:r>
                      <a:endParaRPr lang="zh-CN" sz="1125" b="1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协作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—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图片上传、输入校验、异常测试、尺寸比对、联调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T="47625" marB="47625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DDDD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12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b="1">
                          <a:solidFill>
                            <a:srgbClr val="000000"/>
                          </a:solidFill>
                          <a:effectLst/>
                        </a:rPr>
                        <a:t>许祖嘉（PO）</a:t>
                      </a:r>
                      <a:endParaRPr lang="zh-CN" sz="1125" b="1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D6E6F2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D6E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验收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D6E6F2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—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确认测试目标资产，PO验收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T="47625" marB="47625" anchor="ctr">
                    <a:lnL w="12700" cmpd="sng">
                      <a:solidFill>
                        <a:srgbClr val="F7FBFC"/>
                      </a:solidFill>
                    </a:lnL>
                    <a:lnR w="12700" cmpd="sng">
                      <a:solidFill>
                        <a:srgbClr val="F7FBFC"/>
                      </a:solidFill>
                    </a:lnR>
                    <a:lnT w="12700" cmpd="sng">
                      <a:solidFill>
                        <a:srgbClr val="DDDDDD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600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李健博（SM）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R="76200" marT="47625" marB="47625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管理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>
                          <a:solidFill>
                            <a:srgbClr val="000000"/>
                          </a:solidFill>
                          <a:effectLst/>
                        </a:rPr>
                        <a:t>—</a:t>
                      </a:r>
                      <a:endParaRPr lang="zh-CN" sz="1125" b="0" i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zh-CN" sz="1125" dirty="0">
                          <a:solidFill>
                            <a:srgbClr val="000000"/>
                          </a:solidFill>
                          <a:effectLst/>
                        </a:rPr>
                        <a:t>看板、风险、Scrum记录、资料归档</a:t>
                      </a:r>
                      <a:endParaRPr lang="zh-CN" sz="1125" b="0" i="0" dirty="0">
                        <a:solidFill>
                          <a:srgbClr val="000000"/>
                        </a:solidFill>
                        <a:effectLst/>
                        <a:latin typeface="quote-cjk-patch"/>
                      </a:endParaRPr>
                    </a:p>
                  </a:txBody>
                  <a:tcPr marL="76200" marT="47625" marB="47625" anchor="ctr">
                    <a:lnL w="12700" cmpd="sng">
                      <a:solidFill>
                        <a:srgbClr val="B9D7EA"/>
                      </a:solidFill>
                    </a:lnL>
                    <a:lnR w="12700" cmpd="sng">
                      <a:solidFill>
                        <a:srgbClr val="B9D7EA"/>
                      </a:solidFill>
                    </a:lnR>
                    <a:lnT w="12700" cmpd="sng">
                      <a:solidFill>
                        <a:srgbClr val="B9D7EA"/>
                      </a:solidFill>
                      <a:prstDash val="solid"/>
                    </a:lnT>
                    <a:lnB w="12700" cmpd="sng">
                      <a:solidFill>
                        <a:srgbClr val="B9D7EA"/>
                      </a:solidFill>
                      <a:prstDash val="solid"/>
                    </a:lnB>
                    <a:solidFill>
                      <a:srgbClr val="B9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2601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112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DEPENDENCY · 依赖性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2B2F36"/>
                </a:solidFill>
                <a:latin typeface="Noto Sans SC"/>
                <a:ea typeface="Noto Sans SC"/>
                <a:sym typeface="Noto Sans SC"/>
              </a:rPr>
              <a:t>依赖与交接顺序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2794000" cy="711200"/>
          </a:xfrm>
          <a:prstGeom prst="roundRect">
            <a:avLst>
              <a:gd name="adj" fmla="val 0"/>
            </a:avLst>
          </a:prstGeom>
          <a:solidFill>
            <a:srgbClr val="E8EE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68400" y="2489200"/>
            <a:ext cx="254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US01 / US02 / US03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文本、单图、多图生成模型</a:t>
            </a:r>
          </a:p>
        </p:txBody>
      </p:sp>
      <p:cxnSp>
        <p:nvCxnSpPr>
          <p:cNvPr id="7" name="Connector 7"/>
          <p:cNvCxnSpPr/>
          <p:nvPr/>
        </p:nvCxnSpPr>
        <p:spPr>
          <a:xfrm rot="-76381">
            <a:off x="3810071" y="2762250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8829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8" name="AutoShape 8"/>
          <p:cNvSpPr/>
          <p:nvPr/>
        </p:nvSpPr>
        <p:spPr>
          <a:xfrm>
            <a:off x="4381500" y="2286000"/>
            <a:ext cx="3048000" cy="9652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33900" y="2387600"/>
            <a:ext cx="279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交接 US04 处理参数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交给 US11、US12 做几何和尺寸检查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064000"/>
            <a:ext cx="2794000" cy="711200"/>
          </a:xfrm>
          <a:prstGeom prst="roundRect">
            <a:avLst>
              <a:gd name="adj" fmla="val 0"/>
            </a:avLst>
          </a:prstGeom>
          <a:solidFill>
            <a:srgbClr val="FCED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168400" y="4140200"/>
            <a:ext cx="254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US05 / US06 / US07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文本、单图、多图先搜索结果</a:t>
            </a:r>
          </a:p>
        </p:txBody>
      </p:sp>
      <p:cxnSp>
        <p:nvCxnSpPr>
          <p:cNvPr id="13" name="Connector 13"/>
          <p:cNvCxnSpPr/>
          <p:nvPr/>
        </p:nvCxnSpPr>
        <p:spPr>
          <a:xfrm rot="-76381">
            <a:off x="3810071" y="4413250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8829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4381500" y="3937000"/>
            <a:ext cx="3048000" cy="965200"/>
          </a:xfrm>
          <a:prstGeom prst="roundRect">
            <a:avLst>
              <a:gd name="adj" fmla="val 0"/>
            </a:avLst>
          </a:prstGeom>
          <a:solidFill>
            <a:srgbClr val="F5F7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533900" y="4038600"/>
            <a:ext cx="279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再交给</a:t>
            </a:r>
            <a:r>
              <a:rPr lang="en-US" sz="12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US08、US09 </a:t>
            </a:r>
            <a:r>
              <a:rPr lang="en-US" sz="12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显示来源和规格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交给</a:t>
            </a:r>
            <a:r>
              <a:rPr lang="en-US" sz="12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 US10 </a:t>
            </a:r>
            <a:r>
              <a:rPr lang="en-US" sz="12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显示版本</a:t>
            </a:r>
            <a:r>
              <a:rPr lang="zh-CN" altLang="en-US" sz="1200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信息</a:t>
            </a:r>
            <a:endParaRPr lang="en-US" sz="1200" b="0" i="0" u="none" strike="noStrike" dirty="0">
              <a:solidFill>
                <a:srgbClr val="3C46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6" name="Connector 16"/>
          <p:cNvCxnSpPr/>
          <p:nvPr/>
        </p:nvCxnSpPr>
        <p:spPr>
          <a:xfrm rot="1983930">
            <a:off x="7357866" y="2997227"/>
            <a:ext cx="84184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472C4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7" name="Connector 17"/>
          <p:cNvCxnSpPr/>
          <p:nvPr/>
        </p:nvCxnSpPr>
        <p:spPr>
          <a:xfrm rot="-2834252">
            <a:off x="7271214" y="4044921"/>
            <a:ext cx="1015126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D7D31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/>
          <p:cNvSpPr/>
          <p:nvPr/>
        </p:nvSpPr>
        <p:spPr>
          <a:xfrm>
            <a:off x="8128000" y="28575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331200" y="3048000"/>
            <a:ext cx="2667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合并至一个工作界面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把生成、检索、检查拼接起来，整体测试。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16000" y="5461000"/>
            <a:ext cx="10160000" cy="609600"/>
          </a:xfrm>
          <a:prstGeom prst="roundRect">
            <a:avLst>
              <a:gd name="adj" fmla="val 0"/>
            </a:avLst>
          </a:prstGeom>
          <a:solidFill>
            <a:srgbClr val="FFF8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1219200" y="5588000"/>
            <a:ext cx="977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45A14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第一天要确定检索结果附带的字段、图片如何上传、检查报告模版；后续修改需要详细记录。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07 /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工作安排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第 1 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159000" y="2095500"/>
            <a:ext cx="2794000" cy="889000"/>
          </a:xfrm>
          <a:prstGeom prst="roundRect">
            <a:avLst>
              <a:gd name="adj" fmla="val 0"/>
            </a:avLst>
          </a:prstGeom>
          <a:solidFill>
            <a:srgbClr val="E8EE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2336800" y="2209800"/>
            <a:ext cx="2489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上午 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开启动会，准备环境和测试数据，各组分头写主流程</a:t>
            </a:r>
          </a:p>
        </p:txBody>
      </p:sp>
      <p:sp>
        <p:nvSpPr>
          <p:cNvPr id="7" name="AutoShape 7"/>
          <p:cNvSpPr/>
          <p:nvPr/>
        </p:nvSpPr>
        <p:spPr>
          <a:xfrm>
            <a:off x="5080000" y="2095500"/>
            <a:ext cx="1778000" cy="889000"/>
          </a:xfrm>
          <a:prstGeom prst="roundRect">
            <a:avLst>
              <a:gd name="adj" fmla="val 0"/>
            </a:avLst>
          </a:prstGeom>
          <a:solidFill>
            <a:srgbClr val="FFF2E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232400" y="2209800"/>
            <a:ext cx="14986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200" b="1" dirty="0">
                <a:solidFill>
                  <a:srgbClr val="B45A14"/>
                </a:solidFill>
                <a:latin typeface="Noto Sans SC"/>
                <a:ea typeface="Noto Sans SC"/>
                <a:cs typeface="Noto Sans SC"/>
                <a:sym typeface="Noto Sans SC"/>
              </a:rPr>
              <a:t>中午</a:t>
            </a:r>
            <a:r>
              <a:rPr lang="en-US" sz="1200" b="1" i="0" u="none" strike="noStrike" dirty="0">
                <a:solidFill>
                  <a:srgbClr val="B45A14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B45A14"/>
                </a:solidFill>
                <a:latin typeface="Noto Sans SC"/>
                <a:ea typeface="Noto Sans SC"/>
                <a:cs typeface="Noto Sans SC"/>
                <a:sym typeface="Noto Sans SC"/>
              </a:rPr>
              <a:t>确定检索字段、图片传法、检查报告格式</a:t>
            </a:r>
            <a:endParaRPr lang="en-US" sz="1200" b="0" i="0" u="none" strike="noStrike" dirty="0">
              <a:solidFill>
                <a:srgbClr val="B45A1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985000" y="2095500"/>
            <a:ext cx="4191000" cy="889000"/>
          </a:xfrm>
          <a:prstGeom prst="roundRect">
            <a:avLst>
              <a:gd name="adj" fmla="val 0"/>
            </a:avLst>
          </a:prstGeom>
          <a:solidFill>
            <a:srgbClr val="E8EE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162800" y="2209800"/>
            <a:ext cx="3886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200" b="1" dirty="0">
                <a:solidFill>
                  <a:srgbClr val="2B2F36"/>
                </a:solidFill>
                <a:latin typeface="Noto Sans SC"/>
                <a:ea typeface="Noto Sans SC"/>
                <a:sym typeface="Noto Sans SC"/>
              </a:rPr>
              <a:t>下午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把正常用法都做完，组之间交接一次，分析异常情况</a:t>
            </a:r>
            <a:endParaRPr lang="en-US" sz="12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3683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第 2 天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159000" y="3619500"/>
            <a:ext cx="4318000" cy="889000"/>
          </a:xfrm>
          <a:prstGeom prst="roundRect">
            <a:avLst>
              <a:gd name="adj" fmla="val 0"/>
            </a:avLst>
          </a:prstGeom>
          <a:solidFill>
            <a:srgbClr val="FCED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336800" y="3733800"/>
            <a:ext cx="4013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上午</a:t>
            </a:r>
            <a:r>
              <a:rPr lang="en-US" sz="12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补上空输入、坏数据</a:t>
            </a:r>
            <a:r>
              <a:rPr lang="zh-CN" alt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等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异常情况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拼接各个面板</a:t>
            </a:r>
            <a:r>
              <a:rPr lang="en-US" sz="1200" b="0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200" b="0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解决异常问题</a:t>
            </a:r>
            <a:endParaRPr lang="en-US" sz="1200" b="0" i="0" u="none" strike="noStrike" dirty="0">
              <a:solidFill>
                <a:srgbClr val="2B2F3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604000" y="3619500"/>
            <a:ext cx="4572000" cy="889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781800" y="3733800"/>
            <a:ext cx="4267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下午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测验所有故事，整理截图记录，开评审会总结</a:t>
            </a:r>
            <a:endParaRPr lang="en-US" sz="1200" b="0" i="0" u="none" strike="noStrike" dirty="0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4297">
            <a:off x="1016004" y="520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1016000" y="54356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第一天完成正常情况的功能，确定接口</a:t>
            </a:r>
            <a:r>
              <a:rPr lang="zh-CN" alt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并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完成连接；第二天解决异常问题、整体测试并记录，最后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PO 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对照用例签字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08 /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AC2460-B948-1BF8-3A73-143BA84BE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603" y="469967"/>
            <a:ext cx="10624101" cy="442983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A91B833-D7AB-5C69-D76A-0EE6D45B7DA7}"/>
              </a:ext>
            </a:extLst>
          </p:cNvPr>
          <p:cNvSpPr txBox="1"/>
          <p:nvPr/>
        </p:nvSpPr>
        <p:spPr>
          <a:xfrm>
            <a:off x="5375290" y="4899804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项目管理甘特图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8190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完成</a:t>
            </a: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定义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778000" y="21844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zh-CN" dirty="0"/>
              <a:t>讨论2中确定的验收用例全部执行，正常、异常、边界情况都有结果。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292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9464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确保确定性，相同输入得到相同结果；错误反馈明确。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37084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完成测试与交接，不遗漏异常情况。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44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78000" y="44704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记录完整详细</a:t>
            </a:r>
            <a:r>
              <a:rPr lang="zh-CN" altLang="en-US" sz="14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400" b="0" i="0" u="none" strike="noStrike" dirty="0" err="1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用例号、输入、预期结果、实际结果、通过情况、测试人、截图或日志</a:t>
            </a:r>
            <a:r>
              <a:rPr lang="en-US" sz="1400" b="0" i="0" u="none" strike="noStrike" dirty="0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1016000" y="5207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78000" y="52324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4655"/>
                </a:solidFill>
                <a:latin typeface="Noto Sans SC"/>
                <a:ea typeface="Noto Sans SC"/>
                <a:cs typeface="Noto Sans SC"/>
                <a:sym typeface="Noto Sans SC"/>
              </a:rPr>
              <a:t>PO 查看工作证据并签字完成。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09 /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016000" y="10922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 dirty="0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迭代一交付物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297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1016000" y="22860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工作面板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文本框、图片上传、检索框、结果列表、QA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报告</a:t>
            </a:r>
            <a:r>
              <a:rPr lang="zh-CN" alt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界面完备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1016000" y="35306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生成功能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911600"/>
            <a:ext cx="469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文本出支撑板、法兰模型；单图解码后提尺寸；多图分组后查视图间尺寸冲突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zh-CN" altLang="en-US" sz="1300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异常拦截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47752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检索功能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156200"/>
            <a:ext cx="4699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文本按标签和同义名排序；单图、多图做特征比对；结果详情分溯源、规格、版本三块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11" name="Connector 11"/>
          <p:cNvCxnSpPr/>
          <p:nvPr/>
        </p:nvCxnSpPr>
        <p:spPr>
          <a:xfrm rot="5387499">
            <a:off x="4286250" y="4025912"/>
            <a:ext cx="349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13500" y="2286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QA 检查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2667000"/>
            <a:ext cx="482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几何上判单实体、有</a:t>
            </a:r>
            <a:r>
              <a:rPr lang="zh-CN" alt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无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开口；尺寸上查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 X/Y/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Z、孔径，列</a:t>
            </a:r>
            <a:r>
              <a:rPr lang="zh-CN" alt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出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超差明细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6413500" y="35306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测试资产目录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3911600"/>
            <a:ext cx="482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一批样例零件，每条</a:t>
            </a:r>
            <a:r>
              <a:rPr lang="zh-CN" alt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附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带名称、标签、关键尺寸、来源、版本五个字段，供检索使用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413500" y="47752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验收证据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5156200"/>
            <a:ext cx="482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AT01–AT12 </a:t>
            </a:r>
            <a:r>
              <a:rPr lang="en-US" sz="1300" b="0" i="0" u="none" strike="noStrike" dirty="0" err="1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每条用例的输入、预期、实际结果和截图；端到端跑通记录和遗留问题清单</a:t>
            </a:r>
            <a:r>
              <a:rPr lang="en-US" sz="1300" b="0" i="0" u="none" strike="noStrike" dirty="0">
                <a:solidFill>
                  <a:srgbClr val="5A647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16000" y="6350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SimpleCADforDSH ｜ 讨论三 · 项目计划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668000" y="6350000"/>
            <a:ext cx="50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A0A8B4"/>
                </a:solidFill>
                <a:latin typeface="Noto Sans SC"/>
                <a:ea typeface="Noto Sans SC"/>
                <a:cs typeface="Noto Sans SC"/>
                <a:sym typeface="Noto Sans SC"/>
              </a:rPr>
              <a:t>10 / 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52400" cy="6858000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D7D31"/>
                </a:solidFill>
                <a:latin typeface="Noto Sans SC"/>
                <a:ea typeface="Noto Sans SC"/>
                <a:cs typeface="Noto Sans SC"/>
                <a:sym typeface="Noto Sans SC"/>
              </a:rPr>
              <a:t>讨论 3 · 项目计划会议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2B2F36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感谢聆听，欢迎提问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297">
            <a:off x="1016004" y="5073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E1E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1016000" y="5334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8291"/>
                </a:solidFill>
                <a:latin typeface="Noto Sans SC"/>
                <a:ea typeface="Noto Sans SC"/>
                <a:cs typeface="Noto Sans SC"/>
                <a:sym typeface="Noto Sans SC"/>
              </a:rPr>
              <a:t>第十二组 · SimpleCADforDSH ｜ 软件工程与项目管理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1424</Words>
  <Application>Microsoft Office PowerPoint</Application>
  <PresentationFormat>宽屏</PresentationFormat>
  <Paragraphs>244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Noto Sans SC</vt:lpstr>
      <vt:lpstr>quote-cjk-patch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常诚</dc:creator>
  <cp:lastModifiedBy>诚 常</cp:lastModifiedBy>
  <cp:revision>10</cp:revision>
  <dcterms:modified xsi:type="dcterms:W3CDTF">2026-10-09T15:11:46Z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{"Label":"1","ContentProducer":"001191110102MACQD9K64010000","ProduceID":"7690607285135494362","ReservedCode1":"","ContentPropagator":"","PropagateID":"","ReservedCode2":""}</vt:lpwstr>
  </property>
</Properties>
</file>