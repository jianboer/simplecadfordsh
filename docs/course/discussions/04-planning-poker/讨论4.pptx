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57" r:id="rId3"/>
    <p:sldId id="259" r:id="rId4"/>
    <p:sldId id="260" r:id="rId5"/>
    <p:sldId id="267" r:id="rId6"/>
    <p:sldId id="268" r:id="rId7"/>
    <p:sldId id="261" r:id="rId8"/>
    <p:sldId id="262" r:id="rId9"/>
    <p:sldId id="263" r:id="rId10"/>
    <p:sldId id="264" r:id="rId11"/>
    <p:sldId id="265" r:id="rId12"/>
    <p:sldId id="266" r:id="rId13"/>
    <p:sldId id="269" r:id="rId14"/>
    <p:sldId id="270" r:id="rId1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101" d="100"/>
          <a:sy n="101" d="100"/>
        </p:scale>
        <p:origin x="136" y="6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6CADFC54-CF43-4666-BD41-29C2C6E2741B}"/>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6D30F138-2872-4DFA-BFD7-1E31BB13EC16}"/>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D94CB1FD-EF12-4AF6-A047-63102629E55D}"/>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17101F3A-9476-4F02-A1D4-247315FCD3B3}"/>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1A01668A-2EB7-4971-8111-199B84F8F472}"/>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D91FE709-136F-4802-AD78-2529E4551D3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A7A8251A-E251-4C0A-BF79-DB6EE56A2C17}"/>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B443AB29-671D-4845-AC3D-913A9495C009}"/>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68F6C03E-4D79-44C5-8F60-DA0A72ACFC0F}"/>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19DC25D4-F14A-44B5-AE97-C9B77408831A}"/>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15E02FC3-41D7-406D-8999-B9248961137A}"/>
              </a:ext>
            </a:extLst>
          </p:cNvPr>
          <p:cNvSpPr>
            <a:spLocks noGrp="1"/>
          </p:cNvSpPr>
          <p:nvPr/>
        </p:nvSpPr>
        <p:spPr>
          <a:xfrm>
            <a:off x="0" y="0"/>
            <a:ext cx="152400" cy="6858000"/>
          </a:xfrm>
          <a:prstGeom prst="rect">
            <a:avLst/>
          </a:prstGeom>
          <a:solidFill>
            <a:srgbClr val="4472C4"/>
          </a:solidFill>
          <a:ln w="0">
            <a:solidFill>
              <a:srgbClr val="4472C4"/>
            </a:solidFill>
            <a:prstDash val="solid"/>
          </a:ln>
        </p:spPr>
      </p:sp>
      <p:sp>
        <p:nvSpPr>
          <p:cNvPr id="2" name="矩形 1">
            <a:extLst>
              <a:ext uri="{FF2B5EF4-FFF2-40B4-BE49-F238E27FC236}">
                <a16:creationId xmlns:a16="http://schemas.microsoft.com/office/drawing/2014/main" id="{9AEFC291-85A9-430E-AE87-88F021589659}"/>
              </a:ext>
            </a:extLst>
          </p:cNvPr>
          <p:cNvSpPr>
            <a:spLocks noGrp="1"/>
          </p:cNvSpPr>
          <p:nvPr/>
        </p:nvSpPr>
        <p:spPr>
          <a:xfrm>
            <a:off x="1016032" y="1524000"/>
            <a:ext cx="7620000" cy="381000"/>
          </a:xfrm>
          <a:prstGeom prst="rect">
            <a:avLst/>
          </a:prstGeom>
          <a:noFill/>
          <a:ln w="0">
            <a:noFill/>
            <a:prstDash val="solid"/>
          </a:ln>
        </p:spPr>
        <p:txBody>
          <a:bodyPr/>
          <a:lstStyle>
            <a:defPPr algn="l">
              <a:defRPr sz="1400" b="1">
                <a:solidFill>
                  <a:srgbClr val="ED7D31"/>
                </a:solidFill>
                <a:latin typeface="Noto Sans SC"/>
                <a:ea typeface="Noto Sans SC"/>
                <a:cs typeface="Noto Sans SC"/>
              </a:defRPr>
            </a:defPPr>
          </a:lstStyle>
          <a:p>
            <a:pPr algn="l">
              <a:defRPr sz="1400" b="1">
                <a:solidFill>
                  <a:srgbClr val="ED7D31"/>
                </a:solidFill>
                <a:latin typeface="Noto Sans SC"/>
                <a:ea typeface="Noto Sans SC"/>
                <a:cs typeface="Noto Sans SC"/>
              </a:defRPr>
            </a:pPr>
            <a:r>
              <a:rPr sz="1400" b="1">
                <a:solidFill>
                  <a:srgbClr val="ED7D31"/>
                </a:solidFill>
                <a:latin typeface="Noto Sans SC"/>
                <a:ea typeface="Noto Sans SC"/>
                <a:cs typeface="Noto Sans SC"/>
              </a:rPr>
              <a:t>软件项目组织与管理</a:t>
            </a:r>
          </a:p>
        </p:txBody>
      </p:sp>
      <p:sp>
        <p:nvSpPr>
          <p:cNvPr id="3" name="矩形 2">
            <a:extLst>
              <a:ext uri="{FF2B5EF4-FFF2-40B4-BE49-F238E27FC236}">
                <a16:creationId xmlns:a16="http://schemas.microsoft.com/office/drawing/2014/main" id="{27EC6D83-AB6B-458B-9449-D80D5F780996}"/>
              </a:ext>
            </a:extLst>
          </p:cNvPr>
          <p:cNvSpPr>
            <a:spLocks noGrp="1"/>
          </p:cNvSpPr>
          <p:nvPr/>
        </p:nvSpPr>
        <p:spPr>
          <a:xfrm>
            <a:off x="1016032" y="2089118"/>
            <a:ext cx="762000" cy="38100"/>
          </a:xfrm>
          <a:prstGeom prst="rect">
            <a:avLst/>
          </a:prstGeom>
          <a:solidFill>
            <a:srgbClr val="ED7D31"/>
          </a:solidFill>
          <a:ln w="0">
            <a:solidFill>
              <a:srgbClr val="ED7D31"/>
            </a:solidFill>
            <a:prstDash val="solid"/>
          </a:ln>
        </p:spPr>
      </p:sp>
      <p:sp>
        <p:nvSpPr>
          <p:cNvPr id="4" name="矩形 3">
            <a:extLst>
              <a:ext uri="{FF2B5EF4-FFF2-40B4-BE49-F238E27FC236}">
                <a16:creationId xmlns:a16="http://schemas.microsoft.com/office/drawing/2014/main" id="{AE540CD3-3800-4A58-9859-54BD2B545A75}"/>
              </a:ext>
            </a:extLst>
          </p:cNvPr>
          <p:cNvSpPr>
            <a:spLocks noGrp="1"/>
          </p:cNvSpPr>
          <p:nvPr/>
        </p:nvSpPr>
        <p:spPr>
          <a:xfrm>
            <a:off x="1016032" y="2412968"/>
            <a:ext cx="10160032" cy="742950"/>
          </a:xfrm>
          <a:prstGeom prst="rect">
            <a:avLst/>
          </a:prstGeom>
          <a:noFill/>
          <a:ln w="0">
            <a:noFill/>
            <a:prstDash val="solid"/>
          </a:ln>
        </p:spPr>
        <p:txBody>
          <a:bodyPr/>
          <a:lstStyle>
            <a:defPPr algn="l">
              <a:defRPr sz="3900" b="1">
                <a:solidFill>
                  <a:srgbClr val="2B2F36"/>
                </a:solidFill>
                <a:latin typeface="Noto Sans SC"/>
                <a:ea typeface="Noto Sans SC"/>
                <a:cs typeface="Noto Sans SC"/>
              </a:defRPr>
            </a:defPPr>
          </a:lstStyle>
          <a:p>
            <a:pPr algn="l">
              <a:defRPr sz="3900" b="1">
                <a:solidFill>
                  <a:srgbClr val="2B2F36"/>
                </a:solidFill>
                <a:latin typeface="Noto Sans SC"/>
                <a:ea typeface="Noto Sans SC"/>
                <a:cs typeface="Noto Sans SC"/>
              </a:defRPr>
            </a:pPr>
            <a:r>
              <a:rPr sz="3900" b="1">
                <a:solidFill>
                  <a:srgbClr val="2B2F36"/>
                </a:solidFill>
                <a:latin typeface="Noto Sans SC"/>
                <a:ea typeface="Noto Sans SC"/>
                <a:cs typeface="Noto Sans SC"/>
              </a:rPr>
              <a:t>讨论四：扑克牌估算工作量</a:t>
            </a:r>
          </a:p>
        </p:txBody>
      </p:sp>
      <p:sp>
        <p:nvSpPr>
          <p:cNvPr id="7" name="矩形 6">
            <a:extLst>
              <a:ext uri="{FF2B5EF4-FFF2-40B4-BE49-F238E27FC236}">
                <a16:creationId xmlns:a16="http://schemas.microsoft.com/office/drawing/2014/main" id="{04A47577-3AE0-4590-89B3-1B44168FA0AD}"/>
              </a:ext>
            </a:extLst>
          </p:cNvPr>
          <p:cNvSpPr>
            <a:spLocks noGrp="1"/>
          </p:cNvSpPr>
          <p:nvPr/>
        </p:nvSpPr>
        <p:spPr>
          <a:xfrm>
            <a:off x="1016032" y="5454682"/>
            <a:ext cx="10160032" cy="12668"/>
          </a:xfrm>
          <a:prstGeom prst="rect">
            <a:avLst/>
          </a:prstGeom>
          <a:solidFill>
            <a:srgbClr val="DCE1E8"/>
          </a:solidFill>
          <a:ln w="0">
            <a:solidFill>
              <a:srgbClr val="DCE1E8"/>
            </a:solidFill>
            <a:prstDash val="solid"/>
          </a:ln>
        </p:spPr>
      </p:sp>
      <p:sp>
        <p:nvSpPr>
          <p:cNvPr id="8" name="矩形 7">
            <a:extLst>
              <a:ext uri="{FF2B5EF4-FFF2-40B4-BE49-F238E27FC236}">
                <a16:creationId xmlns:a16="http://schemas.microsoft.com/office/drawing/2014/main" id="{5AAFC666-B5B1-4618-B464-8C4BE9B3BE01}"/>
              </a:ext>
            </a:extLst>
          </p:cNvPr>
          <p:cNvSpPr>
            <a:spLocks noGrp="1"/>
          </p:cNvSpPr>
          <p:nvPr/>
        </p:nvSpPr>
        <p:spPr>
          <a:xfrm>
            <a:off x="1016032" y="5689568"/>
            <a:ext cx="10160032" cy="266700"/>
          </a:xfrm>
          <a:prstGeom prst="rect">
            <a:avLst/>
          </a:prstGeom>
          <a:noFill/>
          <a:ln w="0">
            <a:noFill/>
            <a:prstDash val="solid"/>
          </a:ln>
        </p:spPr>
        <p:txBody>
          <a:bodyPr/>
          <a:lstStyle>
            <a:defPPr algn="l">
              <a:defRPr sz="1238" b="0">
                <a:solidFill>
                  <a:srgbClr val="788291"/>
                </a:solidFill>
                <a:latin typeface="Noto Sans SC"/>
                <a:ea typeface="Noto Sans SC"/>
                <a:cs typeface="Noto Sans SC"/>
              </a:defRPr>
            </a:defPPr>
          </a:lstStyle>
          <a:p>
            <a:pPr>
              <a:defRPr sz="1238" b="0">
                <a:solidFill>
                  <a:srgbClr val="788291"/>
                </a:solidFill>
                <a:latin typeface="Noto Sans SC"/>
                <a:ea typeface="Noto Sans SC"/>
                <a:cs typeface="Noto Sans SC"/>
              </a:defRPr>
            </a:pPr>
            <a:r>
              <a:rPr sz="1238" b="0" dirty="0" err="1">
                <a:solidFill>
                  <a:srgbClr val="788291"/>
                </a:solidFill>
                <a:latin typeface="Noto Sans SC"/>
                <a:ea typeface="Noto Sans SC"/>
                <a:cs typeface="Noto Sans SC"/>
              </a:rPr>
              <a:t>参与成员：许祖嘉、李健博、常诚、刘子轩、侯永森</a:t>
            </a:r>
            <a:r>
              <a:rPr sz="1238" b="0" dirty="0">
                <a:solidFill>
                  <a:srgbClr val="788291"/>
                </a:solidFill>
                <a:latin typeface="Noto Sans SC"/>
                <a:ea typeface="Noto Sans SC"/>
                <a:cs typeface="Noto Sans SC"/>
              </a:rPr>
              <a:t>、</a:t>
            </a:r>
            <a:r>
              <a:rPr lang="zh-CN" altLang="en-US" sz="1238" dirty="0">
                <a:solidFill>
                  <a:srgbClr val="788291"/>
                </a:solidFill>
                <a:latin typeface="Noto Sans SC"/>
                <a:ea typeface="Noto Sans SC"/>
                <a:cs typeface="Noto Sans SC"/>
              </a:rPr>
              <a:t>余智皓、</a:t>
            </a:r>
            <a:r>
              <a:rPr sz="1238" b="0" dirty="0" err="1">
                <a:solidFill>
                  <a:srgbClr val="788291"/>
                </a:solidFill>
                <a:latin typeface="Noto Sans SC"/>
                <a:ea typeface="Noto Sans SC"/>
                <a:cs typeface="Noto Sans SC"/>
              </a:rPr>
              <a:t>庞佳泽、严翊航</a:t>
            </a:r>
            <a:endParaRPr sz="1238" b="0" dirty="0">
              <a:solidFill>
                <a:srgbClr val="788291"/>
              </a:solidFill>
              <a:latin typeface="Noto Sans SC"/>
              <a:ea typeface="Noto Sans SC"/>
              <a:cs typeface="Noto Sans SC"/>
            </a:endParaRPr>
          </a:p>
        </p:txBody>
      </p:sp>
      <p:sp>
        <p:nvSpPr>
          <p:cNvPr id="11" name="文本框 10">
            <a:extLst>
              <a:ext uri="{FF2B5EF4-FFF2-40B4-BE49-F238E27FC236}">
                <a16:creationId xmlns:a16="http://schemas.microsoft.com/office/drawing/2014/main" id="{235D6315-9750-9A96-7586-F3A06FB34BAF}"/>
              </a:ext>
            </a:extLst>
          </p:cNvPr>
          <p:cNvSpPr txBox="1"/>
          <p:nvPr/>
        </p:nvSpPr>
        <p:spPr>
          <a:xfrm>
            <a:off x="1016031" y="3842190"/>
            <a:ext cx="8771201" cy="396134"/>
          </a:xfrm>
          <a:prstGeom prst="rect">
            <a:avLst/>
          </a:prstGeom>
          <a:noFill/>
        </p:spPr>
        <p:txBody>
          <a:bodyPr wrap="square">
            <a:spAutoFit/>
          </a:bodyPr>
          <a:lstStyle/>
          <a:p>
            <a:pPr marL="0" indent="0" algn="l">
              <a:lnSpc>
                <a:spcPct val="125000"/>
              </a:lnSpc>
              <a:defRPr/>
            </a:pPr>
            <a:r>
              <a:rPr lang="en-US" altLang="zh-CN" sz="1700" b="0" i="0" u="none" strike="noStrike" dirty="0" err="1">
                <a:solidFill>
                  <a:srgbClr val="44546A"/>
                </a:solidFill>
                <a:latin typeface="Noto Sans SC"/>
                <a:ea typeface="Noto Sans SC"/>
                <a:cs typeface="Noto Sans SC"/>
                <a:sym typeface="Noto Sans SC"/>
              </a:rPr>
              <a:t>SimpleCADforDSH：面向</a:t>
            </a:r>
            <a:r>
              <a:rPr lang="en-US" altLang="zh-CN" sz="1700" b="0" i="0" u="none" strike="noStrike" dirty="0">
                <a:solidFill>
                  <a:srgbClr val="44546A"/>
                </a:solidFill>
                <a:latin typeface="Noto Sans SC"/>
                <a:ea typeface="Noto Sans SC"/>
                <a:cs typeface="Noto Sans SC"/>
                <a:sym typeface="Noto Sans SC"/>
              </a:rPr>
              <a:t> DeepSeek Harness </a:t>
            </a:r>
            <a:r>
              <a:rPr lang="en-US" altLang="zh-CN" sz="1700" b="0" i="0" u="none" strike="noStrike" dirty="0" err="1">
                <a:solidFill>
                  <a:srgbClr val="44546A"/>
                </a:solidFill>
                <a:latin typeface="Noto Sans SC"/>
                <a:ea typeface="Noto Sans SC"/>
                <a:cs typeface="Noto Sans SC"/>
                <a:sym typeface="Noto Sans SC"/>
              </a:rPr>
              <a:t>的智能参数化</a:t>
            </a:r>
            <a:r>
              <a:rPr lang="en-US" altLang="zh-CN" sz="1700" b="0" i="0" u="none" strike="noStrike" dirty="0">
                <a:solidFill>
                  <a:srgbClr val="44546A"/>
                </a:solidFill>
                <a:latin typeface="Noto Sans SC"/>
                <a:ea typeface="Noto Sans SC"/>
                <a:cs typeface="Noto Sans SC"/>
                <a:sym typeface="Noto Sans SC"/>
              </a:rPr>
              <a:t> CAD </a:t>
            </a:r>
            <a:r>
              <a:rPr lang="en-US" altLang="zh-CN" sz="1700" b="0" i="0" u="none" strike="noStrike" dirty="0" err="1">
                <a:solidFill>
                  <a:srgbClr val="44546A"/>
                </a:solidFill>
                <a:latin typeface="Noto Sans SC"/>
                <a:ea typeface="Noto Sans SC"/>
                <a:cs typeface="Noto Sans SC"/>
                <a:sym typeface="Noto Sans SC"/>
              </a:rPr>
              <a:t>生成检索插件</a:t>
            </a:r>
            <a:endParaRPr lang="en-US" altLang="zh-CN" sz="1100" dirty="0"/>
          </a:p>
        </p:txBody>
      </p:sp>
      <p:sp>
        <p:nvSpPr>
          <p:cNvPr id="12" name="AutoShape 8">
            <a:extLst>
              <a:ext uri="{FF2B5EF4-FFF2-40B4-BE49-F238E27FC236}">
                <a16:creationId xmlns:a16="http://schemas.microsoft.com/office/drawing/2014/main" id="{DECE3204-FC30-F939-620A-9FD32DA51C16}"/>
              </a:ext>
            </a:extLst>
          </p:cNvPr>
          <p:cNvSpPr/>
          <p:nvPr/>
        </p:nvSpPr>
        <p:spPr>
          <a:xfrm>
            <a:off x="1092200" y="5093108"/>
            <a:ext cx="6350000" cy="381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25000"/>
              </a:lnSpc>
              <a:defRPr/>
            </a:pPr>
            <a:r>
              <a:rPr lang="en-US" sz="1300" b="0" i="0" u="none" strike="noStrike" dirty="0" err="1">
                <a:solidFill>
                  <a:srgbClr val="788291"/>
                </a:solidFill>
                <a:latin typeface="Noto Sans SC"/>
                <a:ea typeface="Noto Sans SC"/>
                <a:cs typeface="Noto Sans SC"/>
                <a:sym typeface="Noto Sans SC"/>
              </a:rPr>
              <a:t>第十二组</a:t>
            </a:r>
            <a:r>
              <a:rPr lang="en-US" sz="1300" b="0" i="0" u="none" strike="noStrike" dirty="0">
                <a:solidFill>
                  <a:srgbClr val="788291"/>
                </a:solidFill>
                <a:latin typeface="Noto Sans SC"/>
                <a:ea typeface="Noto Sans SC"/>
                <a:cs typeface="Noto Sans SC"/>
                <a:sym typeface="Noto Sans SC"/>
              </a:rPr>
              <a:t> </a:t>
            </a:r>
            <a:endParaRPr lang="en-US" sz="1100" dirty="0"/>
          </a:p>
        </p:txBody>
      </p:sp>
      <p:sp>
        <p:nvSpPr>
          <p:cNvPr id="13" name="文本框 9">
            <a:extLst>
              <a:ext uri="{FF2B5EF4-FFF2-40B4-BE49-F238E27FC236}">
                <a16:creationId xmlns:a16="http://schemas.microsoft.com/office/drawing/2014/main" id="{1E48A046-3ADA-7F8D-451C-C4452B5369DA}"/>
              </a:ext>
            </a:extLst>
          </p:cNvPr>
          <p:cNvSpPr txBox="1"/>
          <p:nvPr/>
        </p:nvSpPr>
        <p:spPr>
          <a:xfrm>
            <a:off x="9613061" y="5129719"/>
            <a:ext cx="1441420" cy="307777"/>
          </a:xfrm>
          <a:prstGeom prst="rect">
            <a:avLst/>
          </a:prstGeom>
          <a:noFill/>
        </p:spPr>
        <p:txBody>
          <a:bodyPr wrap="none" rtlCol="0">
            <a:spAutoFit/>
          </a:bodyP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zh-CN" altLang="en-US" dirty="0"/>
              <a:t>汇报人：余智皓</a:t>
            </a:r>
          </a:p>
        </p:txBody>
      </p:sp>
    </p:spTree>
    <p:extLst>
      <p:ext uri="{BB962C8B-B14F-4D97-AF65-F5344CB8AC3E}">
        <p14:creationId xmlns:p14="http://schemas.microsoft.com/office/powerpoint/2010/main" val="9273766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id="{200B0802-77E8-47EE-9449-044314D28F61}"/>
              </a:ext>
            </a:extLst>
          </p:cNvPr>
          <p:cNvSpPr>
            <a:spLocks noGrp="1"/>
          </p:cNvSpPr>
          <p:nvPr/>
        </p:nvSpPr>
        <p:spPr>
          <a:xfrm>
            <a:off x="1016032" y="711232"/>
            <a:ext cx="7620000" cy="266700"/>
          </a:xfrm>
          <a:prstGeom prst="rect">
            <a:avLst/>
          </a:prstGeom>
          <a:noFill/>
          <a:ln w="0">
            <a:noFill/>
            <a:prstDash val="solid"/>
          </a:ln>
        </p:spPr>
        <p:txBody>
          <a:bodyPr/>
          <a:lstStyle>
            <a:defPPr algn="l">
              <a:defRPr sz="1300" b="1">
                <a:solidFill>
                  <a:srgbClr val="ED7D31"/>
                </a:solidFill>
                <a:latin typeface="Noto Sans SC"/>
                <a:ea typeface="Noto Sans SC"/>
                <a:cs typeface="Noto Sans SC"/>
              </a:defRPr>
            </a:defPPr>
          </a:lstStyle>
          <a:p>
            <a:pPr algn="l">
              <a:defRPr sz="1300" b="1">
                <a:solidFill>
                  <a:srgbClr val="ED7D31"/>
                </a:solidFill>
                <a:latin typeface="Noto Sans SC"/>
                <a:ea typeface="Noto Sans SC"/>
                <a:cs typeface="Noto Sans SC"/>
              </a:defRPr>
            </a:pPr>
            <a:r>
              <a:rPr sz="1300" b="1">
                <a:solidFill>
                  <a:srgbClr val="ED7D31"/>
                </a:solidFill>
                <a:latin typeface="Noto Sans SC"/>
                <a:ea typeface="Noto Sans SC"/>
                <a:cs typeface="Noto Sans SC"/>
              </a:rPr>
              <a:t>PURPOSE · 讨论目的</a:t>
            </a:r>
          </a:p>
        </p:txBody>
      </p:sp>
      <p:sp>
        <p:nvSpPr>
          <p:cNvPr id="2" name="矩形 1">
            <a:extLst>
              <a:ext uri="{FF2B5EF4-FFF2-40B4-BE49-F238E27FC236}">
                <a16:creationId xmlns:a16="http://schemas.microsoft.com/office/drawing/2014/main" id="{95E1D092-2413-4C34-86FB-4AA23BE7E6F0}"/>
              </a:ext>
            </a:extLst>
          </p:cNvPr>
          <p:cNvSpPr>
            <a:spLocks noGrp="1"/>
          </p:cNvSpPr>
          <p:nvPr/>
        </p:nvSpPr>
        <p:spPr>
          <a:xfrm>
            <a:off x="1016032" y="1092232"/>
            <a:ext cx="10160032" cy="590550"/>
          </a:xfrm>
          <a:prstGeom prst="rect">
            <a:avLst/>
          </a:prstGeom>
          <a:noFill/>
          <a:ln w="0">
            <a:noFill/>
            <a:prstDash val="solid"/>
          </a:ln>
        </p:spPr>
        <p:txBody>
          <a:bodyPr/>
          <a:lstStyle>
            <a:defPPr algn="l">
              <a:defRPr sz="2850" b="1">
                <a:solidFill>
                  <a:srgbClr val="2B2F36"/>
                </a:solidFill>
                <a:latin typeface="Noto Sans SC"/>
                <a:ea typeface="Noto Sans SC"/>
                <a:cs typeface="Noto Sans SC"/>
              </a:defRPr>
            </a:defPPr>
          </a:lstStyle>
          <a:p>
            <a:pPr algn="l">
              <a:defRPr sz="2850" b="1">
                <a:solidFill>
                  <a:srgbClr val="2B2F36"/>
                </a:solidFill>
                <a:latin typeface="Noto Sans SC"/>
                <a:ea typeface="Noto Sans SC"/>
                <a:cs typeface="Noto Sans SC"/>
              </a:defRPr>
            </a:pPr>
            <a:r>
              <a:rPr sz="2850" b="1">
                <a:solidFill>
                  <a:srgbClr val="2B2F36"/>
                </a:solidFill>
                <a:latin typeface="Noto Sans SC"/>
                <a:ea typeface="Noto Sans SC"/>
                <a:cs typeface="Noto Sans SC"/>
              </a:rPr>
              <a:t>讨论目的与理论依据</a:t>
            </a:r>
          </a:p>
        </p:txBody>
      </p:sp>
      <p:sp>
        <p:nvSpPr>
          <p:cNvPr id="3" name="矩形 2">
            <a:extLst>
              <a:ext uri="{FF2B5EF4-FFF2-40B4-BE49-F238E27FC236}">
                <a16:creationId xmlns:a16="http://schemas.microsoft.com/office/drawing/2014/main" id="{C66051CB-F09B-416B-8937-E76CD9FFFAF3}"/>
              </a:ext>
            </a:extLst>
          </p:cNvPr>
          <p:cNvSpPr>
            <a:spLocks noGrp="1"/>
          </p:cNvSpPr>
          <p:nvPr/>
        </p:nvSpPr>
        <p:spPr>
          <a:xfrm>
            <a:off x="1016032" y="2025682"/>
            <a:ext cx="10160032" cy="12668"/>
          </a:xfrm>
          <a:prstGeom prst="rect">
            <a:avLst/>
          </a:prstGeom>
          <a:solidFill>
            <a:srgbClr val="DCE1E8"/>
          </a:solidFill>
          <a:ln w="0">
            <a:solidFill>
              <a:srgbClr val="DCE1E8"/>
            </a:solidFill>
            <a:prstDash val="solid"/>
          </a:ln>
        </p:spPr>
      </p:sp>
      <p:sp>
        <p:nvSpPr>
          <p:cNvPr id="4" name="矩形 3">
            <a:extLst>
              <a:ext uri="{FF2B5EF4-FFF2-40B4-BE49-F238E27FC236}">
                <a16:creationId xmlns:a16="http://schemas.microsoft.com/office/drawing/2014/main" id="{D5E9C619-100D-49A6-A352-3A9BF1375FC1}"/>
              </a:ext>
            </a:extLst>
          </p:cNvPr>
          <p:cNvSpPr>
            <a:spLocks noGrp="1"/>
          </p:cNvSpPr>
          <p:nvPr/>
        </p:nvSpPr>
        <p:spPr>
          <a:xfrm>
            <a:off x="1016032" y="6350032"/>
            <a:ext cx="6667500" cy="266700"/>
          </a:xfrm>
          <a:prstGeom prst="rect">
            <a:avLst/>
          </a:prstGeom>
          <a:noFill/>
          <a:ln w="0">
            <a:noFill/>
            <a:prstDash val="solid"/>
          </a:ln>
        </p:spPr>
        <p:txBody>
          <a:bodyPr/>
          <a:lstStyle>
            <a:defPPr algn="l">
              <a:defRPr sz="1100" b="0">
                <a:solidFill>
                  <a:srgbClr val="A0A8B4"/>
                </a:solidFill>
                <a:latin typeface="Noto Sans SC"/>
                <a:ea typeface="Noto Sans SC"/>
                <a:cs typeface="Noto Sans SC"/>
              </a:defRPr>
            </a:defPPr>
          </a:lstStyle>
          <a:p>
            <a:pPr algn="l">
              <a:defRPr sz="1100" b="0">
                <a:solidFill>
                  <a:srgbClr val="A0A8B4"/>
                </a:solidFill>
                <a:latin typeface="Noto Sans SC"/>
                <a:ea typeface="Noto Sans SC"/>
                <a:cs typeface="Noto Sans SC"/>
              </a:defRPr>
            </a:pPr>
            <a:r>
              <a:rPr sz="1100" b="0">
                <a:solidFill>
                  <a:srgbClr val="A0A8B4"/>
                </a:solidFill>
                <a:latin typeface="Noto Sans SC"/>
                <a:ea typeface="Noto Sans SC"/>
                <a:cs typeface="Noto Sans SC"/>
              </a:rPr>
              <a:t>SimpleCADforDSH ｜ 讨论四 · 规划扑克估算</a:t>
            </a:r>
          </a:p>
        </p:txBody>
      </p:sp>
      <p:sp>
        <p:nvSpPr>
          <p:cNvPr id="6" name="矩形 5">
            <a:extLst>
              <a:ext uri="{FF2B5EF4-FFF2-40B4-BE49-F238E27FC236}">
                <a16:creationId xmlns:a16="http://schemas.microsoft.com/office/drawing/2014/main" id="{E7E2999C-BBBF-499E-999D-688722899C98}"/>
              </a:ext>
            </a:extLst>
          </p:cNvPr>
          <p:cNvSpPr>
            <a:spLocks noGrp="1"/>
          </p:cNvSpPr>
          <p:nvPr/>
        </p:nvSpPr>
        <p:spPr>
          <a:xfrm>
            <a:off x="1016032" y="2343150"/>
            <a:ext cx="10160032" cy="304800"/>
          </a:xfrm>
          <a:prstGeom prst="rect">
            <a:avLst/>
          </a:prstGeom>
          <a:noFill/>
          <a:ln w="0">
            <a:noFill/>
            <a:prstDash val="solid"/>
          </a:ln>
        </p:spPr>
        <p:txBody>
          <a:bodyPr/>
          <a:lstStyle>
            <a:defPPr algn="l">
              <a:defRPr sz="1425" b="0">
                <a:solidFill>
                  <a:srgbClr val="5A6473"/>
                </a:solidFill>
                <a:latin typeface="Noto Sans SC"/>
                <a:ea typeface="Noto Sans SC"/>
                <a:cs typeface="Noto Sans SC"/>
              </a:defRPr>
            </a:defPPr>
          </a:lstStyle>
          <a:p>
            <a:pPr algn="l">
              <a:defRPr sz="1425" b="0">
                <a:solidFill>
                  <a:srgbClr val="5A6473"/>
                </a:solidFill>
                <a:latin typeface="Noto Sans SC"/>
                <a:ea typeface="Noto Sans SC"/>
                <a:cs typeface="Noto Sans SC"/>
              </a:defRPr>
            </a:pPr>
            <a:r>
              <a:rPr sz="1600" b="0" dirty="0" err="1">
                <a:solidFill>
                  <a:srgbClr val="5A6473"/>
                </a:solidFill>
                <a:latin typeface="Noto Sans SC"/>
                <a:ea typeface="Noto Sans SC"/>
                <a:cs typeface="Noto Sans SC"/>
              </a:rPr>
              <a:t>本次估算把第一次版本开发任务转化为可用于迭代计划的相对工作量</a:t>
            </a:r>
            <a:r>
              <a:rPr sz="1425" b="0" dirty="0">
                <a:solidFill>
                  <a:srgbClr val="5A6473"/>
                </a:solidFill>
                <a:latin typeface="Noto Sans SC"/>
                <a:ea typeface="Noto Sans SC"/>
                <a:cs typeface="Noto Sans SC"/>
              </a:rPr>
              <a:t>。</a:t>
            </a:r>
          </a:p>
        </p:txBody>
      </p:sp>
      <p:sp>
        <p:nvSpPr>
          <p:cNvPr id="7" name="矩形: 圆角 6">
            <a:extLst>
              <a:ext uri="{FF2B5EF4-FFF2-40B4-BE49-F238E27FC236}">
                <a16:creationId xmlns:a16="http://schemas.microsoft.com/office/drawing/2014/main" id="{A6CF2E7F-48FD-41D5-83E6-B42E1430796C}"/>
              </a:ext>
            </a:extLst>
          </p:cNvPr>
          <p:cNvSpPr>
            <a:spLocks noGrp="1"/>
          </p:cNvSpPr>
          <p:nvPr/>
        </p:nvSpPr>
        <p:spPr>
          <a:xfrm>
            <a:off x="1016032" y="2895600"/>
            <a:ext cx="3067050" cy="1143000"/>
          </a:xfrm>
          <a:prstGeom prst="roundRect">
            <a:avLst>
              <a:gd name="adj" fmla="val 6667"/>
            </a:avLst>
          </a:prstGeom>
          <a:solidFill>
            <a:srgbClr val="E8EEF8"/>
          </a:solidFill>
          <a:ln w="0">
            <a:solidFill>
              <a:srgbClr val="E8EEF8"/>
            </a:solidFill>
            <a:prstDash val="solid"/>
          </a:ln>
        </p:spPr>
        <p:txBody>
          <a:bodyPr/>
          <a:lstStyle>
            <a:defPPr algn="l">
              <a:defRPr sz="1350" b="0">
                <a:solidFill>
                  <a:srgbClr val="2B2F36"/>
                </a:solidFill>
                <a:latin typeface="Noto Sans SC"/>
                <a:ea typeface="Noto Sans SC"/>
                <a:cs typeface="Noto Sans SC"/>
              </a:defRPr>
            </a:defPPr>
          </a:lstStyle>
          <a:p>
            <a:pPr algn="l">
              <a:defRPr sz="1350" b="0">
                <a:solidFill>
                  <a:srgbClr val="2B2F36"/>
                </a:solidFill>
                <a:latin typeface="Noto Sans SC"/>
                <a:ea typeface="Noto Sans SC"/>
                <a:cs typeface="Noto Sans SC"/>
              </a:defRPr>
            </a:pPr>
            <a:r>
              <a:rPr sz="1600" b="0" dirty="0" err="1">
                <a:solidFill>
                  <a:srgbClr val="2B2F36"/>
                </a:solidFill>
                <a:latin typeface="Noto Sans SC"/>
                <a:ea typeface="Noto Sans SC"/>
                <a:cs typeface="Noto Sans SC"/>
              </a:rPr>
              <a:t>规划扑克</a:t>
            </a:r>
            <a:endParaRPr sz="1600" b="0" dirty="0">
              <a:solidFill>
                <a:srgbClr val="2B2F36"/>
              </a:solidFill>
              <a:latin typeface="Noto Sans SC"/>
              <a:ea typeface="Noto Sans SC"/>
              <a:cs typeface="Noto Sans SC"/>
            </a:endParaRPr>
          </a:p>
          <a:p>
            <a:pPr algn="l">
              <a:defRPr sz="1350" b="0">
                <a:solidFill>
                  <a:srgbClr val="2B2F36"/>
                </a:solidFill>
                <a:latin typeface="Noto Sans SC"/>
                <a:ea typeface="Noto Sans SC"/>
                <a:cs typeface="Noto Sans SC"/>
              </a:defRPr>
            </a:pPr>
            <a:r>
              <a:rPr sz="1600" b="0" dirty="0" err="1">
                <a:solidFill>
                  <a:srgbClr val="2B2F36"/>
                </a:solidFill>
                <a:latin typeface="Noto Sans SC"/>
                <a:ea typeface="Noto Sans SC"/>
                <a:cs typeface="Noto Sans SC"/>
              </a:rPr>
              <a:t>团队对产品待办列表中的任务进行相对估算</a:t>
            </a:r>
            <a:endParaRPr sz="1600" b="0" dirty="0">
              <a:solidFill>
                <a:srgbClr val="2B2F36"/>
              </a:solidFill>
              <a:latin typeface="Noto Sans SC"/>
              <a:ea typeface="Noto Sans SC"/>
              <a:cs typeface="Noto Sans SC"/>
            </a:endParaRPr>
          </a:p>
        </p:txBody>
      </p:sp>
      <p:sp>
        <p:nvSpPr>
          <p:cNvPr id="8" name="矩形 7">
            <a:extLst>
              <a:ext uri="{FF2B5EF4-FFF2-40B4-BE49-F238E27FC236}">
                <a16:creationId xmlns:a16="http://schemas.microsoft.com/office/drawing/2014/main" id="{CFA48F76-A55C-4673-B93B-21CD0F4672C7}"/>
              </a:ext>
            </a:extLst>
          </p:cNvPr>
          <p:cNvSpPr>
            <a:spLocks noGrp="1"/>
          </p:cNvSpPr>
          <p:nvPr/>
        </p:nvSpPr>
        <p:spPr>
          <a:xfrm>
            <a:off x="1016032" y="2895600"/>
            <a:ext cx="57150" cy="1143000"/>
          </a:xfrm>
          <a:prstGeom prst="rect">
            <a:avLst/>
          </a:prstGeom>
          <a:solidFill>
            <a:srgbClr val="4472C4"/>
          </a:solidFill>
          <a:ln w="0">
            <a:solidFill>
              <a:srgbClr val="4472C4"/>
            </a:solidFill>
            <a:prstDash val="solid"/>
          </a:ln>
        </p:spPr>
      </p:sp>
      <p:sp>
        <p:nvSpPr>
          <p:cNvPr id="9" name="矩形: 圆角 8">
            <a:extLst>
              <a:ext uri="{FF2B5EF4-FFF2-40B4-BE49-F238E27FC236}">
                <a16:creationId xmlns:a16="http://schemas.microsoft.com/office/drawing/2014/main" id="{0D3D74B3-CE42-447B-9120-606E3675E1E3}"/>
              </a:ext>
            </a:extLst>
          </p:cNvPr>
          <p:cNvSpPr>
            <a:spLocks noGrp="1"/>
          </p:cNvSpPr>
          <p:nvPr/>
        </p:nvSpPr>
        <p:spPr>
          <a:xfrm>
            <a:off x="4562475" y="2895600"/>
            <a:ext cx="3067050" cy="1143000"/>
          </a:xfrm>
          <a:prstGeom prst="roundRect">
            <a:avLst>
              <a:gd name="adj" fmla="val 6667"/>
            </a:avLst>
          </a:prstGeom>
          <a:solidFill>
            <a:srgbClr val="FCEDE0"/>
          </a:solidFill>
          <a:ln w="0">
            <a:solidFill>
              <a:srgbClr val="FCEDE0"/>
            </a:solidFill>
            <a:prstDash val="solid"/>
          </a:ln>
        </p:spPr>
        <p:txBody>
          <a:bodyPr/>
          <a:lstStyle>
            <a:defPPr algn="l">
              <a:defRPr sz="1350" b="0">
                <a:solidFill>
                  <a:srgbClr val="2B2F36"/>
                </a:solidFill>
                <a:latin typeface="Noto Sans SC"/>
                <a:ea typeface="Noto Sans SC"/>
                <a:cs typeface="Noto Sans SC"/>
              </a:defRPr>
            </a:defPPr>
          </a:lstStyle>
          <a:p>
            <a:pPr algn="l">
              <a:defRPr sz="1350" b="0">
                <a:solidFill>
                  <a:srgbClr val="2B2F36"/>
                </a:solidFill>
                <a:latin typeface="Noto Sans SC"/>
                <a:ea typeface="Noto Sans SC"/>
                <a:cs typeface="Noto Sans SC"/>
              </a:defRPr>
            </a:pPr>
            <a:r>
              <a:rPr sz="1600" b="0" dirty="0" err="1">
                <a:solidFill>
                  <a:srgbClr val="2B2F36"/>
                </a:solidFill>
                <a:latin typeface="Noto Sans SC"/>
                <a:ea typeface="Noto Sans SC"/>
                <a:cs typeface="Noto Sans SC"/>
              </a:rPr>
              <a:t>故事点</a:t>
            </a:r>
            <a:endParaRPr sz="1600" b="0" dirty="0">
              <a:solidFill>
                <a:srgbClr val="2B2F36"/>
              </a:solidFill>
              <a:latin typeface="Noto Sans SC"/>
              <a:ea typeface="Noto Sans SC"/>
              <a:cs typeface="Noto Sans SC"/>
            </a:endParaRPr>
          </a:p>
          <a:p>
            <a:pPr algn="l">
              <a:defRPr sz="1350" b="0">
                <a:solidFill>
                  <a:srgbClr val="2B2F36"/>
                </a:solidFill>
                <a:latin typeface="Noto Sans SC"/>
                <a:ea typeface="Noto Sans SC"/>
                <a:cs typeface="Noto Sans SC"/>
              </a:defRPr>
            </a:pPr>
            <a:r>
              <a:rPr sz="1600" b="0" dirty="0" err="1">
                <a:solidFill>
                  <a:srgbClr val="2B2F36"/>
                </a:solidFill>
                <a:latin typeface="Noto Sans SC"/>
                <a:ea typeface="Noto Sans SC"/>
                <a:cs typeface="Noto Sans SC"/>
              </a:rPr>
              <a:t>综合复杂度、风险、工作量和不确定性的相对单位</a:t>
            </a:r>
            <a:endParaRPr sz="1600" b="0" dirty="0">
              <a:solidFill>
                <a:srgbClr val="2B2F36"/>
              </a:solidFill>
              <a:latin typeface="Noto Sans SC"/>
              <a:ea typeface="Noto Sans SC"/>
              <a:cs typeface="Noto Sans SC"/>
            </a:endParaRPr>
          </a:p>
        </p:txBody>
      </p:sp>
      <p:sp>
        <p:nvSpPr>
          <p:cNvPr id="10" name="矩形 9">
            <a:extLst>
              <a:ext uri="{FF2B5EF4-FFF2-40B4-BE49-F238E27FC236}">
                <a16:creationId xmlns:a16="http://schemas.microsoft.com/office/drawing/2014/main" id="{C8962B78-15E9-439F-BF9B-1345A8FE8173}"/>
              </a:ext>
            </a:extLst>
          </p:cNvPr>
          <p:cNvSpPr>
            <a:spLocks noGrp="1"/>
          </p:cNvSpPr>
          <p:nvPr/>
        </p:nvSpPr>
        <p:spPr>
          <a:xfrm>
            <a:off x="4562475" y="2895600"/>
            <a:ext cx="57150" cy="1143000"/>
          </a:xfrm>
          <a:prstGeom prst="rect">
            <a:avLst/>
          </a:prstGeom>
          <a:solidFill>
            <a:srgbClr val="ED7D31"/>
          </a:solidFill>
          <a:ln w="0">
            <a:solidFill>
              <a:srgbClr val="ED7D31"/>
            </a:solidFill>
            <a:prstDash val="solid"/>
          </a:ln>
        </p:spPr>
      </p:sp>
      <p:sp>
        <p:nvSpPr>
          <p:cNvPr id="11" name="矩形: 圆角 10">
            <a:extLst>
              <a:ext uri="{FF2B5EF4-FFF2-40B4-BE49-F238E27FC236}">
                <a16:creationId xmlns:a16="http://schemas.microsoft.com/office/drawing/2014/main" id="{60A12B78-6CED-41D2-A907-28B8424BC44C}"/>
              </a:ext>
            </a:extLst>
          </p:cNvPr>
          <p:cNvSpPr>
            <a:spLocks noGrp="1"/>
          </p:cNvSpPr>
          <p:nvPr/>
        </p:nvSpPr>
        <p:spPr>
          <a:xfrm>
            <a:off x="8105775" y="2895600"/>
            <a:ext cx="3067050" cy="1143000"/>
          </a:xfrm>
          <a:prstGeom prst="roundRect">
            <a:avLst>
              <a:gd name="adj" fmla="val 6667"/>
            </a:avLst>
          </a:prstGeom>
          <a:solidFill>
            <a:srgbClr val="F5F7FA"/>
          </a:solidFill>
          <a:ln w="0">
            <a:solidFill>
              <a:srgbClr val="F5F7FA"/>
            </a:solidFill>
            <a:prstDash val="solid"/>
          </a:ln>
        </p:spPr>
        <p:txBody>
          <a:bodyPr/>
          <a:lstStyle>
            <a:defPPr algn="l">
              <a:defRPr sz="1350" b="0">
                <a:solidFill>
                  <a:srgbClr val="2B2F36"/>
                </a:solidFill>
                <a:latin typeface="Noto Sans SC"/>
                <a:ea typeface="Noto Sans SC"/>
                <a:cs typeface="Noto Sans SC"/>
              </a:defRPr>
            </a:defPPr>
          </a:lstStyle>
          <a:p>
            <a:pPr algn="l">
              <a:defRPr sz="1350" b="0">
                <a:solidFill>
                  <a:srgbClr val="2B2F36"/>
                </a:solidFill>
                <a:latin typeface="Noto Sans SC"/>
                <a:ea typeface="Noto Sans SC"/>
                <a:cs typeface="Noto Sans SC"/>
              </a:defRPr>
            </a:pPr>
            <a:r>
              <a:rPr sz="1600" b="0" dirty="0" err="1">
                <a:solidFill>
                  <a:srgbClr val="2B2F36"/>
                </a:solidFill>
                <a:latin typeface="Noto Sans SC"/>
                <a:ea typeface="Noto Sans SC"/>
                <a:cs typeface="Noto Sans SC"/>
              </a:rPr>
              <a:t>产品待办列表</a:t>
            </a:r>
            <a:endParaRPr sz="1600" b="0" dirty="0">
              <a:solidFill>
                <a:srgbClr val="2B2F36"/>
              </a:solidFill>
              <a:latin typeface="Noto Sans SC"/>
              <a:ea typeface="Noto Sans SC"/>
              <a:cs typeface="Noto Sans SC"/>
            </a:endParaRPr>
          </a:p>
          <a:p>
            <a:pPr algn="l">
              <a:defRPr sz="1350" b="0">
                <a:solidFill>
                  <a:srgbClr val="2B2F36"/>
                </a:solidFill>
                <a:latin typeface="Noto Sans SC"/>
                <a:ea typeface="Noto Sans SC"/>
                <a:cs typeface="Noto Sans SC"/>
              </a:defRPr>
            </a:pPr>
            <a:r>
              <a:rPr sz="1600" b="0" dirty="0" err="1">
                <a:solidFill>
                  <a:srgbClr val="2B2F36"/>
                </a:solidFill>
                <a:latin typeface="Noto Sans SC"/>
                <a:ea typeface="Noto Sans SC"/>
                <a:cs typeface="Noto Sans SC"/>
              </a:rPr>
              <a:t>估算结果用于后续迭代计划与容量匹配</a:t>
            </a:r>
            <a:endParaRPr sz="1600" b="0" dirty="0">
              <a:solidFill>
                <a:srgbClr val="2B2F36"/>
              </a:solidFill>
              <a:latin typeface="Noto Sans SC"/>
              <a:ea typeface="Noto Sans SC"/>
              <a:cs typeface="Noto Sans SC"/>
            </a:endParaRPr>
          </a:p>
        </p:txBody>
      </p:sp>
      <p:sp>
        <p:nvSpPr>
          <p:cNvPr id="12" name="矩形 11">
            <a:extLst>
              <a:ext uri="{FF2B5EF4-FFF2-40B4-BE49-F238E27FC236}">
                <a16:creationId xmlns:a16="http://schemas.microsoft.com/office/drawing/2014/main" id="{63EF5424-2FA1-4AE7-B22F-BBBA301527DC}"/>
              </a:ext>
            </a:extLst>
          </p:cNvPr>
          <p:cNvSpPr>
            <a:spLocks noGrp="1"/>
          </p:cNvSpPr>
          <p:nvPr/>
        </p:nvSpPr>
        <p:spPr>
          <a:xfrm>
            <a:off x="8105775" y="2895600"/>
            <a:ext cx="57150" cy="1143000"/>
          </a:xfrm>
          <a:prstGeom prst="rect">
            <a:avLst/>
          </a:prstGeom>
          <a:solidFill>
            <a:srgbClr val="788291"/>
          </a:solidFill>
          <a:ln w="0">
            <a:solidFill>
              <a:srgbClr val="788291"/>
            </a:solidFill>
            <a:prstDash val="solid"/>
          </a:ln>
        </p:spPr>
      </p:sp>
      <p:sp>
        <p:nvSpPr>
          <p:cNvPr id="13" name="矩形 12">
            <a:extLst>
              <a:ext uri="{FF2B5EF4-FFF2-40B4-BE49-F238E27FC236}">
                <a16:creationId xmlns:a16="http://schemas.microsoft.com/office/drawing/2014/main" id="{76487D57-A4AF-4EAB-8E7C-1948B3C9940F}"/>
              </a:ext>
            </a:extLst>
          </p:cNvPr>
          <p:cNvSpPr>
            <a:spLocks noGrp="1"/>
          </p:cNvSpPr>
          <p:nvPr/>
        </p:nvSpPr>
        <p:spPr>
          <a:xfrm>
            <a:off x="1016032" y="4543425"/>
            <a:ext cx="10160032" cy="1000125"/>
          </a:xfrm>
          <a:prstGeom prst="rect">
            <a:avLst/>
          </a:prstGeom>
          <a:noFill/>
          <a:ln w="0">
            <a:noFill/>
            <a:prstDash val="solid"/>
          </a:ln>
        </p:spPr>
        <p:txBody>
          <a:bodyPr/>
          <a:lstStyle>
            <a:defPPr algn="l">
              <a:defRPr sz="1350" b="0">
                <a:solidFill>
                  <a:srgbClr val="5A6473"/>
                </a:solidFill>
                <a:latin typeface="Noto Sans SC"/>
                <a:ea typeface="Noto Sans SC"/>
                <a:cs typeface="Noto Sans SC"/>
              </a:defRPr>
            </a:defPPr>
          </a:lstStyle>
          <a:p>
            <a:pPr algn="l">
              <a:defRPr sz="1350" b="0">
                <a:solidFill>
                  <a:srgbClr val="5A6473"/>
                </a:solidFill>
                <a:latin typeface="Noto Sans SC"/>
                <a:ea typeface="Noto Sans SC"/>
                <a:cs typeface="Noto Sans SC"/>
              </a:defRPr>
            </a:pPr>
            <a:endParaRPr lang="en-US" sz="1600" b="0" dirty="0">
              <a:solidFill>
                <a:srgbClr val="5A6473"/>
              </a:solidFill>
              <a:latin typeface="Noto Sans SC"/>
              <a:ea typeface="Noto Sans SC"/>
              <a:cs typeface="Noto Sans SC"/>
            </a:endParaRPr>
          </a:p>
          <a:p>
            <a:pPr algn="l">
              <a:defRPr sz="1350" b="0">
                <a:solidFill>
                  <a:srgbClr val="5A6473"/>
                </a:solidFill>
                <a:latin typeface="Noto Sans SC"/>
                <a:ea typeface="Noto Sans SC"/>
                <a:cs typeface="Noto Sans SC"/>
              </a:defRPr>
            </a:pPr>
            <a:r>
              <a:rPr sz="1600" b="0" dirty="0">
                <a:solidFill>
                  <a:srgbClr val="5A6473"/>
                </a:solidFill>
                <a:latin typeface="Noto Sans SC"/>
                <a:ea typeface="Noto Sans SC"/>
                <a:cs typeface="Noto Sans SC"/>
              </a:rPr>
              <a:t>• </a:t>
            </a:r>
            <a:r>
              <a:rPr sz="1600" b="0" dirty="0" err="1">
                <a:solidFill>
                  <a:srgbClr val="5A6473"/>
                </a:solidFill>
                <a:latin typeface="Noto Sans SC"/>
                <a:ea typeface="Noto Sans SC"/>
                <a:cs typeface="Noto Sans SC"/>
              </a:rPr>
              <a:t>面对面沟通、出暗牌、翻牌和差异发言，减少个人偏差</a:t>
            </a:r>
            <a:r>
              <a:rPr sz="1600" b="0" dirty="0">
                <a:solidFill>
                  <a:srgbClr val="5A6473"/>
                </a:solidFill>
                <a:latin typeface="Noto Sans SC"/>
                <a:ea typeface="Noto Sans SC"/>
                <a:cs typeface="Noto Sans SC"/>
              </a:rPr>
              <a:t>。</a:t>
            </a:r>
          </a:p>
          <a:p>
            <a:pPr algn="l">
              <a:defRPr sz="1350" b="0">
                <a:solidFill>
                  <a:srgbClr val="5A6473"/>
                </a:solidFill>
                <a:latin typeface="Noto Sans SC"/>
                <a:ea typeface="Noto Sans SC"/>
                <a:cs typeface="Noto Sans SC"/>
              </a:defRPr>
            </a:pPr>
            <a:endParaRPr sz="1600" b="0" dirty="0">
              <a:solidFill>
                <a:srgbClr val="5A6473"/>
              </a:solidFill>
              <a:latin typeface="Noto Sans SC"/>
              <a:ea typeface="Noto Sans SC"/>
              <a:cs typeface="Noto Sans SC"/>
            </a:endParaRPr>
          </a:p>
        </p:txBody>
      </p:sp>
    </p:spTree>
    <p:extLst>
      <p:ext uri="{BB962C8B-B14F-4D97-AF65-F5344CB8AC3E}">
        <p14:creationId xmlns:p14="http://schemas.microsoft.com/office/powerpoint/2010/main" val="14260526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id="{938E3C77-454A-438A-9891-1EA4DA679079}"/>
              </a:ext>
            </a:extLst>
          </p:cNvPr>
          <p:cNvSpPr>
            <a:spLocks noGrp="1"/>
          </p:cNvSpPr>
          <p:nvPr/>
        </p:nvSpPr>
        <p:spPr>
          <a:xfrm>
            <a:off x="1016032" y="711232"/>
            <a:ext cx="7620000" cy="266700"/>
          </a:xfrm>
          <a:prstGeom prst="rect">
            <a:avLst/>
          </a:prstGeom>
          <a:noFill/>
          <a:ln w="0">
            <a:noFill/>
            <a:prstDash val="solid"/>
          </a:ln>
        </p:spPr>
        <p:txBody>
          <a:bodyPr/>
          <a:lstStyle>
            <a:defPPr algn="l">
              <a:defRPr sz="1300" b="1">
                <a:solidFill>
                  <a:srgbClr val="ED7D31"/>
                </a:solidFill>
                <a:latin typeface="Noto Sans SC"/>
                <a:ea typeface="Noto Sans SC"/>
                <a:cs typeface="Noto Sans SC"/>
              </a:defRPr>
            </a:defPPr>
          </a:lstStyle>
          <a:p>
            <a:pPr algn="l">
              <a:defRPr sz="1300" b="1">
                <a:solidFill>
                  <a:srgbClr val="ED7D31"/>
                </a:solidFill>
                <a:latin typeface="Noto Sans SC"/>
                <a:ea typeface="Noto Sans SC"/>
                <a:cs typeface="Noto Sans SC"/>
              </a:defRPr>
            </a:pPr>
            <a:r>
              <a:rPr sz="1200" b="1" dirty="0">
                <a:solidFill>
                  <a:srgbClr val="ED7D31"/>
                </a:solidFill>
                <a:latin typeface="Noto Sans SC"/>
                <a:ea typeface="Noto Sans SC"/>
                <a:cs typeface="Noto Sans SC"/>
              </a:rPr>
              <a:t>METHOD · </a:t>
            </a:r>
            <a:r>
              <a:rPr sz="1200" b="1" dirty="0" err="1">
                <a:solidFill>
                  <a:srgbClr val="ED7D31"/>
                </a:solidFill>
                <a:latin typeface="Noto Sans SC"/>
                <a:ea typeface="Noto Sans SC"/>
                <a:cs typeface="Noto Sans SC"/>
              </a:rPr>
              <a:t>估算方法</a:t>
            </a:r>
            <a:endParaRPr sz="1200" b="1" dirty="0">
              <a:solidFill>
                <a:srgbClr val="ED7D31"/>
              </a:solidFill>
              <a:latin typeface="Noto Sans SC"/>
              <a:ea typeface="Noto Sans SC"/>
              <a:cs typeface="Noto Sans SC"/>
            </a:endParaRPr>
          </a:p>
        </p:txBody>
      </p:sp>
      <p:sp>
        <p:nvSpPr>
          <p:cNvPr id="2" name="矩形 1">
            <a:extLst>
              <a:ext uri="{FF2B5EF4-FFF2-40B4-BE49-F238E27FC236}">
                <a16:creationId xmlns:a16="http://schemas.microsoft.com/office/drawing/2014/main" id="{1A6B725A-512D-4E4F-9547-922BBABD477F}"/>
              </a:ext>
            </a:extLst>
          </p:cNvPr>
          <p:cNvSpPr>
            <a:spLocks noGrp="1"/>
          </p:cNvSpPr>
          <p:nvPr/>
        </p:nvSpPr>
        <p:spPr>
          <a:xfrm>
            <a:off x="1016032" y="1092232"/>
            <a:ext cx="10160032" cy="590550"/>
          </a:xfrm>
          <a:prstGeom prst="rect">
            <a:avLst/>
          </a:prstGeom>
          <a:noFill/>
          <a:ln w="0">
            <a:noFill/>
            <a:prstDash val="solid"/>
          </a:ln>
        </p:spPr>
        <p:txBody>
          <a:bodyPr/>
          <a:lstStyle>
            <a:defPPr algn="l">
              <a:defRPr sz="2850" b="1">
                <a:solidFill>
                  <a:srgbClr val="2B2F36"/>
                </a:solidFill>
                <a:latin typeface="Noto Sans SC"/>
                <a:ea typeface="Noto Sans SC"/>
                <a:cs typeface="Noto Sans SC"/>
              </a:defRPr>
            </a:defPPr>
          </a:lstStyle>
          <a:p>
            <a:pPr algn="l">
              <a:defRPr sz="2850" b="1">
                <a:solidFill>
                  <a:srgbClr val="2B2F36"/>
                </a:solidFill>
                <a:latin typeface="Noto Sans SC"/>
                <a:ea typeface="Noto Sans SC"/>
                <a:cs typeface="Noto Sans SC"/>
              </a:defRPr>
            </a:pPr>
            <a:r>
              <a:rPr sz="2800" b="1" dirty="0" err="1">
                <a:solidFill>
                  <a:srgbClr val="2B2F36"/>
                </a:solidFill>
                <a:latin typeface="Noto Sans SC"/>
                <a:ea typeface="Noto Sans SC"/>
                <a:cs typeface="Noto Sans SC"/>
              </a:rPr>
              <a:t>规划扑克方法与规则</a:t>
            </a:r>
            <a:endParaRPr sz="2800" b="1" dirty="0">
              <a:solidFill>
                <a:srgbClr val="2B2F36"/>
              </a:solidFill>
              <a:latin typeface="Noto Sans SC"/>
              <a:ea typeface="Noto Sans SC"/>
              <a:cs typeface="Noto Sans SC"/>
            </a:endParaRPr>
          </a:p>
        </p:txBody>
      </p:sp>
      <p:sp>
        <p:nvSpPr>
          <p:cNvPr id="3" name="矩形 2">
            <a:extLst>
              <a:ext uri="{FF2B5EF4-FFF2-40B4-BE49-F238E27FC236}">
                <a16:creationId xmlns:a16="http://schemas.microsoft.com/office/drawing/2014/main" id="{E659566D-C10A-43E0-B0EC-60BD23291366}"/>
              </a:ext>
            </a:extLst>
          </p:cNvPr>
          <p:cNvSpPr>
            <a:spLocks noGrp="1"/>
          </p:cNvSpPr>
          <p:nvPr/>
        </p:nvSpPr>
        <p:spPr>
          <a:xfrm>
            <a:off x="1016032" y="2025682"/>
            <a:ext cx="10160032" cy="12668"/>
          </a:xfrm>
          <a:prstGeom prst="rect">
            <a:avLst/>
          </a:prstGeom>
          <a:solidFill>
            <a:srgbClr val="DCE1E8"/>
          </a:solidFill>
          <a:ln w="0">
            <a:solidFill>
              <a:srgbClr val="DCE1E8"/>
            </a:solidFill>
            <a:prstDash val="solid"/>
          </a:ln>
        </p:spPr>
      </p:sp>
      <p:sp>
        <p:nvSpPr>
          <p:cNvPr id="4" name="矩形 3">
            <a:extLst>
              <a:ext uri="{FF2B5EF4-FFF2-40B4-BE49-F238E27FC236}">
                <a16:creationId xmlns:a16="http://schemas.microsoft.com/office/drawing/2014/main" id="{5C5A4799-0C1B-4106-AEFD-DAA6F11BA60A}"/>
              </a:ext>
            </a:extLst>
          </p:cNvPr>
          <p:cNvSpPr>
            <a:spLocks noGrp="1"/>
          </p:cNvSpPr>
          <p:nvPr/>
        </p:nvSpPr>
        <p:spPr>
          <a:xfrm>
            <a:off x="1016032" y="6350032"/>
            <a:ext cx="6667500" cy="266700"/>
          </a:xfrm>
          <a:prstGeom prst="rect">
            <a:avLst/>
          </a:prstGeom>
          <a:noFill/>
          <a:ln w="0">
            <a:noFill/>
            <a:prstDash val="solid"/>
          </a:ln>
        </p:spPr>
        <p:txBody>
          <a:bodyPr/>
          <a:lstStyle>
            <a:defPPr algn="l">
              <a:defRPr sz="1100" b="0">
                <a:solidFill>
                  <a:srgbClr val="A0A8B4"/>
                </a:solidFill>
                <a:latin typeface="Noto Sans SC"/>
                <a:ea typeface="Noto Sans SC"/>
                <a:cs typeface="Noto Sans SC"/>
              </a:defRPr>
            </a:defPPr>
          </a:lstStyle>
          <a:p>
            <a:pPr algn="l">
              <a:defRPr sz="1100" b="0">
                <a:solidFill>
                  <a:srgbClr val="A0A8B4"/>
                </a:solidFill>
                <a:latin typeface="Noto Sans SC"/>
                <a:ea typeface="Noto Sans SC"/>
                <a:cs typeface="Noto Sans SC"/>
              </a:defRPr>
            </a:pPr>
            <a:r>
              <a:rPr sz="1400" b="0">
                <a:solidFill>
                  <a:srgbClr val="A0A8B4"/>
                </a:solidFill>
                <a:latin typeface="Noto Sans SC"/>
                <a:ea typeface="Noto Sans SC"/>
                <a:cs typeface="Noto Sans SC"/>
              </a:rPr>
              <a:t>SimpleCADforDSH ｜ 讨论四 · 规划扑克估算</a:t>
            </a:r>
          </a:p>
        </p:txBody>
      </p:sp>
      <p:sp>
        <p:nvSpPr>
          <p:cNvPr id="6" name="矩形 5">
            <a:extLst>
              <a:ext uri="{FF2B5EF4-FFF2-40B4-BE49-F238E27FC236}">
                <a16:creationId xmlns:a16="http://schemas.microsoft.com/office/drawing/2014/main" id="{128259E3-E463-4D69-B361-CE5570EA9725}"/>
              </a:ext>
            </a:extLst>
          </p:cNvPr>
          <p:cNvSpPr>
            <a:spLocks noGrp="1"/>
          </p:cNvSpPr>
          <p:nvPr/>
        </p:nvSpPr>
        <p:spPr>
          <a:xfrm>
            <a:off x="1016032" y="2343150"/>
            <a:ext cx="10160032" cy="323850"/>
          </a:xfrm>
          <a:prstGeom prst="rect">
            <a:avLst/>
          </a:prstGeom>
          <a:noFill/>
          <a:ln w="0">
            <a:noFill/>
            <a:prstDash val="solid"/>
          </a:ln>
        </p:spPr>
        <p:txBody>
          <a:bodyPr/>
          <a:lstStyle>
            <a:defPPr algn="l">
              <a:defRPr sz="1575" b="1">
                <a:solidFill>
                  <a:srgbClr val="4472C4"/>
                </a:solidFill>
                <a:latin typeface="Noto Sans SC"/>
                <a:ea typeface="Noto Sans SC"/>
                <a:cs typeface="Noto Sans SC"/>
              </a:defRPr>
            </a:defPPr>
          </a:lstStyle>
          <a:p>
            <a:pPr algn="l">
              <a:defRPr sz="1575" b="1">
                <a:solidFill>
                  <a:srgbClr val="4472C4"/>
                </a:solidFill>
                <a:latin typeface="Noto Sans SC"/>
                <a:ea typeface="Noto Sans SC"/>
                <a:cs typeface="Noto Sans SC"/>
              </a:defRPr>
            </a:pPr>
            <a:r>
              <a:rPr sz="1600" b="1" dirty="0">
                <a:solidFill>
                  <a:srgbClr val="4472C4"/>
                </a:solidFill>
                <a:latin typeface="Noto Sans SC"/>
                <a:ea typeface="Noto Sans SC"/>
                <a:cs typeface="Noto Sans SC"/>
              </a:rPr>
              <a:t>故事点卡片：1、2、3、5、8、13、20、50、100</a:t>
            </a:r>
          </a:p>
        </p:txBody>
      </p:sp>
      <p:sp>
        <p:nvSpPr>
          <p:cNvPr id="7" name="矩形: 圆角 6">
            <a:extLst>
              <a:ext uri="{FF2B5EF4-FFF2-40B4-BE49-F238E27FC236}">
                <a16:creationId xmlns:a16="http://schemas.microsoft.com/office/drawing/2014/main" id="{670333AA-DCEF-41EC-8A3A-6E49E2BAB541}"/>
              </a:ext>
            </a:extLst>
          </p:cNvPr>
          <p:cNvSpPr>
            <a:spLocks noGrp="1"/>
          </p:cNvSpPr>
          <p:nvPr/>
        </p:nvSpPr>
        <p:spPr>
          <a:xfrm>
            <a:off x="1016032" y="3028950"/>
            <a:ext cx="3048000" cy="742950"/>
          </a:xfrm>
          <a:prstGeom prst="roundRect">
            <a:avLst>
              <a:gd name="adj" fmla="val 10256"/>
            </a:avLst>
          </a:prstGeom>
          <a:solidFill>
            <a:srgbClr val="E8EEF8"/>
          </a:solidFill>
          <a:ln w="0">
            <a:solidFill>
              <a:srgbClr val="4472C4"/>
            </a:solidFill>
            <a:prstDash val="solid"/>
          </a:ln>
        </p:spPr>
        <p:txBody>
          <a:bodyPr/>
          <a:lstStyle>
            <a:defPPr algn="l">
              <a:defRPr sz="1350" b="1">
                <a:solidFill>
                  <a:srgbClr val="2B2F36"/>
                </a:solidFill>
                <a:latin typeface="Noto Sans SC"/>
                <a:ea typeface="Noto Sans SC"/>
                <a:cs typeface="Noto Sans SC"/>
              </a:defRPr>
            </a:defPPr>
          </a:lstStyle>
          <a:p>
            <a:pPr algn="l">
              <a:defRPr sz="1350" b="1">
                <a:solidFill>
                  <a:srgbClr val="2B2F36"/>
                </a:solidFill>
                <a:latin typeface="Noto Sans SC"/>
                <a:ea typeface="Noto Sans SC"/>
                <a:cs typeface="Noto Sans SC"/>
              </a:defRPr>
            </a:pPr>
            <a:r>
              <a:rPr sz="1600" b="1">
                <a:solidFill>
                  <a:srgbClr val="2B2F36"/>
                </a:solidFill>
                <a:latin typeface="Noto Sans SC"/>
                <a:ea typeface="Noto Sans SC"/>
                <a:cs typeface="Noto Sans SC"/>
              </a:rPr>
              <a:t>01  说明任务范围</a:t>
            </a:r>
          </a:p>
        </p:txBody>
      </p:sp>
      <p:sp>
        <p:nvSpPr>
          <p:cNvPr id="8" name="矩形: 圆角 7">
            <a:extLst>
              <a:ext uri="{FF2B5EF4-FFF2-40B4-BE49-F238E27FC236}">
                <a16:creationId xmlns:a16="http://schemas.microsoft.com/office/drawing/2014/main" id="{A1198AC0-4958-439A-8542-85FFC87F9332}"/>
              </a:ext>
            </a:extLst>
          </p:cNvPr>
          <p:cNvSpPr>
            <a:spLocks noGrp="1"/>
          </p:cNvSpPr>
          <p:nvPr/>
        </p:nvSpPr>
        <p:spPr>
          <a:xfrm>
            <a:off x="4445032" y="3028950"/>
            <a:ext cx="3048000" cy="742950"/>
          </a:xfrm>
          <a:prstGeom prst="roundRect">
            <a:avLst>
              <a:gd name="adj" fmla="val 10256"/>
            </a:avLst>
          </a:prstGeom>
          <a:solidFill>
            <a:srgbClr val="F5F7FA"/>
          </a:solidFill>
          <a:ln w="0">
            <a:solidFill>
              <a:srgbClr val="DCE1E8"/>
            </a:solidFill>
            <a:prstDash val="solid"/>
          </a:ln>
        </p:spPr>
        <p:txBody>
          <a:bodyPr/>
          <a:lstStyle>
            <a:defPPr algn="l">
              <a:defRPr sz="1350" b="1">
                <a:solidFill>
                  <a:srgbClr val="2B2F36"/>
                </a:solidFill>
                <a:latin typeface="Noto Sans SC"/>
                <a:ea typeface="Noto Sans SC"/>
                <a:cs typeface="Noto Sans SC"/>
              </a:defRPr>
            </a:defPPr>
          </a:lstStyle>
          <a:p>
            <a:pPr algn="l">
              <a:defRPr sz="1350" b="1">
                <a:solidFill>
                  <a:srgbClr val="2B2F36"/>
                </a:solidFill>
                <a:latin typeface="Noto Sans SC"/>
                <a:ea typeface="Noto Sans SC"/>
                <a:cs typeface="Noto Sans SC"/>
              </a:defRPr>
            </a:pPr>
            <a:r>
              <a:rPr sz="1600" b="1">
                <a:solidFill>
                  <a:srgbClr val="2B2F36"/>
                </a:solidFill>
                <a:latin typeface="Noto Sans SC"/>
                <a:ea typeface="Noto Sans SC"/>
                <a:cs typeface="Noto Sans SC"/>
              </a:rPr>
              <a:t>02  独立出暗牌</a:t>
            </a:r>
          </a:p>
        </p:txBody>
      </p:sp>
      <p:sp>
        <p:nvSpPr>
          <p:cNvPr id="9" name="矩形: 圆角 8">
            <a:extLst>
              <a:ext uri="{FF2B5EF4-FFF2-40B4-BE49-F238E27FC236}">
                <a16:creationId xmlns:a16="http://schemas.microsoft.com/office/drawing/2014/main" id="{34490F33-4212-4CE6-AAEB-D55F50795378}"/>
              </a:ext>
            </a:extLst>
          </p:cNvPr>
          <p:cNvSpPr>
            <a:spLocks noGrp="1"/>
          </p:cNvSpPr>
          <p:nvPr/>
        </p:nvSpPr>
        <p:spPr>
          <a:xfrm>
            <a:off x="7874032" y="3028950"/>
            <a:ext cx="3048000" cy="742950"/>
          </a:xfrm>
          <a:prstGeom prst="roundRect">
            <a:avLst>
              <a:gd name="adj" fmla="val 10256"/>
            </a:avLst>
          </a:prstGeom>
          <a:solidFill>
            <a:srgbClr val="F5F7FA"/>
          </a:solidFill>
          <a:ln w="0">
            <a:solidFill>
              <a:srgbClr val="DCE1E8"/>
            </a:solidFill>
            <a:prstDash val="solid"/>
          </a:ln>
        </p:spPr>
        <p:txBody>
          <a:bodyPr/>
          <a:lstStyle>
            <a:defPPr algn="l">
              <a:defRPr sz="1350" b="1">
                <a:solidFill>
                  <a:srgbClr val="2B2F36"/>
                </a:solidFill>
                <a:latin typeface="Noto Sans SC"/>
                <a:ea typeface="Noto Sans SC"/>
                <a:cs typeface="Noto Sans SC"/>
              </a:defRPr>
            </a:defPPr>
          </a:lstStyle>
          <a:p>
            <a:pPr algn="l">
              <a:defRPr sz="1350" b="1">
                <a:solidFill>
                  <a:srgbClr val="2B2F36"/>
                </a:solidFill>
                <a:latin typeface="Noto Sans SC"/>
                <a:ea typeface="Noto Sans SC"/>
                <a:cs typeface="Noto Sans SC"/>
              </a:defRPr>
            </a:pPr>
            <a:r>
              <a:rPr sz="1600" b="1">
                <a:solidFill>
                  <a:srgbClr val="2B2F36"/>
                </a:solidFill>
                <a:latin typeface="Noto Sans SC"/>
                <a:ea typeface="Noto Sans SC"/>
                <a:cs typeface="Noto Sans SC"/>
              </a:rPr>
              <a:t>03  全部翻牌</a:t>
            </a:r>
          </a:p>
        </p:txBody>
      </p:sp>
      <p:sp>
        <p:nvSpPr>
          <p:cNvPr id="10" name="矩形: 圆角 9">
            <a:extLst>
              <a:ext uri="{FF2B5EF4-FFF2-40B4-BE49-F238E27FC236}">
                <a16:creationId xmlns:a16="http://schemas.microsoft.com/office/drawing/2014/main" id="{B201FCCE-4FE1-4B91-86C2-48FAADADD3D3}"/>
              </a:ext>
            </a:extLst>
          </p:cNvPr>
          <p:cNvSpPr>
            <a:spLocks noGrp="1"/>
          </p:cNvSpPr>
          <p:nvPr/>
        </p:nvSpPr>
        <p:spPr>
          <a:xfrm>
            <a:off x="1016032" y="4229100"/>
            <a:ext cx="3048000" cy="742950"/>
          </a:xfrm>
          <a:prstGeom prst="roundRect">
            <a:avLst>
              <a:gd name="adj" fmla="val 10256"/>
            </a:avLst>
          </a:prstGeom>
          <a:solidFill>
            <a:srgbClr val="FCEDE0"/>
          </a:solidFill>
          <a:ln w="0">
            <a:solidFill>
              <a:srgbClr val="ED7D31"/>
            </a:solidFill>
            <a:prstDash val="solid"/>
          </a:ln>
        </p:spPr>
        <p:txBody>
          <a:bodyPr/>
          <a:lstStyle>
            <a:defPPr algn="l">
              <a:defRPr sz="1350" b="1">
                <a:solidFill>
                  <a:srgbClr val="2B2F36"/>
                </a:solidFill>
                <a:latin typeface="Noto Sans SC"/>
                <a:ea typeface="Noto Sans SC"/>
                <a:cs typeface="Noto Sans SC"/>
              </a:defRPr>
            </a:defPPr>
          </a:lstStyle>
          <a:p>
            <a:pPr algn="l">
              <a:defRPr sz="1350" b="1">
                <a:solidFill>
                  <a:srgbClr val="2B2F36"/>
                </a:solidFill>
                <a:latin typeface="Noto Sans SC"/>
                <a:ea typeface="Noto Sans SC"/>
                <a:cs typeface="Noto Sans SC"/>
              </a:defRPr>
            </a:pPr>
            <a:r>
              <a:rPr sz="1600" b="1">
                <a:solidFill>
                  <a:srgbClr val="2B2F36"/>
                </a:solidFill>
                <a:latin typeface="Noto Sans SC"/>
                <a:ea typeface="Noto Sans SC"/>
                <a:cs typeface="Noto Sans SC"/>
              </a:rPr>
              <a:t>04  差异最大者发言</a:t>
            </a:r>
          </a:p>
        </p:txBody>
      </p:sp>
      <p:sp>
        <p:nvSpPr>
          <p:cNvPr id="11" name="矩形: 圆角 10">
            <a:extLst>
              <a:ext uri="{FF2B5EF4-FFF2-40B4-BE49-F238E27FC236}">
                <a16:creationId xmlns:a16="http://schemas.microsoft.com/office/drawing/2014/main" id="{ADEFC965-BF21-4EE6-BE28-B1D15E8B38A3}"/>
              </a:ext>
            </a:extLst>
          </p:cNvPr>
          <p:cNvSpPr>
            <a:spLocks noGrp="1"/>
          </p:cNvSpPr>
          <p:nvPr/>
        </p:nvSpPr>
        <p:spPr>
          <a:xfrm>
            <a:off x="4445032" y="4229100"/>
            <a:ext cx="3048000" cy="742950"/>
          </a:xfrm>
          <a:prstGeom prst="roundRect">
            <a:avLst>
              <a:gd name="adj" fmla="val 10256"/>
            </a:avLst>
          </a:prstGeom>
          <a:solidFill>
            <a:srgbClr val="F5F7FA"/>
          </a:solidFill>
          <a:ln w="0">
            <a:solidFill>
              <a:srgbClr val="DCE1E8"/>
            </a:solidFill>
            <a:prstDash val="solid"/>
          </a:ln>
        </p:spPr>
        <p:txBody>
          <a:bodyPr/>
          <a:lstStyle>
            <a:defPPr algn="l">
              <a:defRPr sz="1350" b="1">
                <a:solidFill>
                  <a:srgbClr val="2B2F36"/>
                </a:solidFill>
                <a:latin typeface="Noto Sans SC"/>
                <a:ea typeface="Noto Sans SC"/>
                <a:cs typeface="Noto Sans SC"/>
              </a:defRPr>
            </a:defPPr>
          </a:lstStyle>
          <a:p>
            <a:pPr algn="l">
              <a:defRPr sz="1350" b="1">
                <a:solidFill>
                  <a:srgbClr val="2B2F36"/>
                </a:solidFill>
                <a:latin typeface="Noto Sans SC"/>
                <a:ea typeface="Noto Sans SC"/>
                <a:cs typeface="Noto Sans SC"/>
              </a:defRPr>
            </a:pPr>
            <a:r>
              <a:rPr sz="1600" b="1">
                <a:solidFill>
                  <a:srgbClr val="2B2F36"/>
                </a:solidFill>
                <a:latin typeface="Noto Sans SC"/>
                <a:ea typeface="Noto Sans SC"/>
                <a:cs typeface="Noto Sans SC"/>
              </a:rPr>
              <a:t>05  重复出牌，最多 4 轮</a:t>
            </a:r>
          </a:p>
        </p:txBody>
      </p:sp>
      <p:sp>
        <p:nvSpPr>
          <p:cNvPr id="12" name="矩形: 圆角 11">
            <a:extLst>
              <a:ext uri="{FF2B5EF4-FFF2-40B4-BE49-F238E27FC236}">
                <a16:creationId xmlns:a16="http://schemas.microsoft.com/office/drawing/2014/main" id="{5A9D1004-407D-4648-A93F-818BE62832DA}"/>
              </a:ext>
            </a:extLst>
          </p:cNvPr>
          <p:cNvSpPr>
            <a:spLocks noGrp="1"/>
          </p:cNvSpPr>
          <p:nvPr/>
        </p:nvSpPr>
        <p:spPr>
          <a:xfrm>
            <a:off x="7874032" y="4229100"/>
            <a:ext cx="3048000" cy="742950"/>
          </a:xfrm>
          <a:prstGeom prst="roundRect">
            <a:avLst>
              <a:gd name="adj" fmla="val 10256"/>
            </a:avLst>
          </a:prstGeom>
          <a:solidFill>
            <a:srgbClr val="F5F7FA"/>
          </a:solidFill>
          <a:ln w="0">
            <a:solidFill>
              <a:srgbClr val="DCE1E8"/>
            </a:solidFill>
            <a:prstDash val="solid"/>
          </a:ln>
        </p:spPr>
        <p:txBody>
          <a:bodyPr/>
          <a:lstStyle>
            <a:defPPr algn="l">
              <a:defRPr sz="1350" b="1">
                <a:solidFill>
                  <a:srgbClr val="2B2F36"/>
                </a:solidFill>
                <a:latin typeface="Noto Sans SC"/>
                <a:ea typeface="Noto Sans SC"/>
                <a:cs typeface="Noto Sans SC"/>
              </a:defRPr>
            </a:defPPr>
          </a:lstStyle>
          <a:p>
            <a:pPr algn="l">
              <a:defRPr sz="1350" b="1">
                <a:solidFill>
                  <a:srgbClr val="2B2F36"/>
                </a:solidFill>
                <a:latin typeface="Noto Sans SC"/>
                <a:ea typeface="Noto Sans SC"/>
                <a:cs typeface="Noto Sans SC"/>
              </a:defRPr>
            </a:pPr>
            <a:r>
              <a:rPr sz="1600" b="1">
                <a:solidFill>
                  <a:srgbClr val="2B2F36"/>
                </a:solidFill>
                <a:latin typeface="Noto Sans SC"/>
                <a:ea typeface="Noto Sans SC"/>
                <a:cs typeface="Noto Sans SC"/>
              </a:rPr>
              <a:t>06  记录收敛后的故事点</a:t>
            </a:r>
          </a:p>
        </p:txBody>
      </p:sp>
      <p:sp>
        <p:nvSpPr>
          <p:cNvPr id="13" name="矩形 12">
            <a:extLst>
              <a:ext uri="{FF2B5EF4-FFF2-40B4-BE49-F238E27FC236}">
                <a16:creationId xmlns:a16="http://schemas.microsoft.com/office/drawing/2014/main" id="{11C4C025-F784-4ECC-A4EF-C5B1BFA115B3}"/>
              </a:ext>
            </a:extLst>
          </p:cNvPr>
          <p:cNvSpPr>
            <a:spLocks noGrp="1"/>
          </p:cNvSpPr>
          <p:nvPr/>
        </p:nvSpPr>
        <p:spPr>
          <a:xfrm>
            <a:off x="1016032" y="5715000"/>
            <a:ext cx="10160032" cy="285750"/>
          </a:xfrm>
          <a:prstGeom prst="rect">
            <a:avLst/>
          </a:prstGeom>
          <a:noFill/>
          <a:ln w="0">
            <a:noFill/>
            <a:prstDash val="solid"/>
          </a:ln>
        </p:spPr>
        <p:txBody>
          <a:bodyPr/>
          <a:lstStyle>
            <a:defPPr algn="l">
              <a:defRPr sz="1350" b="0">
                <a:solidFill>
                  <a:srgbClr val="5A6473"/>
                </a:solidFill>
                <a:latin typeface="Noto Sans SC"/>
                <a:ea typeface="Noto Sans SC"/>
                <a:cs typeface="Noto Sans SC"/>
              </a:defRPr>
            </a:defPPr>
          </a:lstStyle>
          <a:p>
            <a:pPr algn="l">
              <a:defRPr sz="1350" b="0">
                <a:solidFill>
                  <a:srgbClr val="5A6473"/>
                </a:solidFill>
                <a:latin typeface="Noto Sans SC"/>
                <a:ea typeface="Noto Sans SC"/>
                <a:cs typeface="Noto Sans SC"/>
              </a:defRPr>
            </a:pPr>
            <a:r>
              <a:rPr sz="1600" b="0">
                <a:solidFill>
                  <a:srgbClr val="5A6473"/>
                </a:solidFill>
                <a:latin typeface="Noto Sans SC"/>
                <a:ea typeface="Noto Sans SC"/>
                <a:cs typeface="Noto Sans SC"/>
              </a:rPr>
              <a:t>规划扑克强调相对估算，直到团队对任务范围、风险和验收标准形成共识。</a:t>
            </a:r>
          </a:p>
        </p:txBody>
      </p:sp>
    </p:spTree>
    <p:extLst>
      <p:ext uri="{BB962C8B-B14F-4D97-AF65-F5344CB8AC3E}">
        <p14:creationId xmlns:p14="http://schemas.microsoft.com/office/powerpoint/2010/main" val="8686148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A032EB65-FCF9-4A40-95CE-F69BC4223A49}"/>
              </a:ext>
            </a:extLst>
          </p:cNvPr>
          <p:cNvSpPr>
            <a:spLocks noGrp="1"/>
          </p:cNvSpPr>
          <p:nvPr/>
        </p:nvSpPr>
        <p:spPr>
          <a:xfrm>
            <a:off x="1016032" y="711232"/>
            <a:ext cx="7620000" cy="266700"/>
          </a:xfrm>
          <a:prstGeom prst="rect">
            <a:avLst/>
          </a:prstGeom>
          <a:noFill/>
          <a:ln w="0">
            <a:noFill/>
            <a:prstDash val="solid"/>
          </a:ln>
        </p:spPr>
        <p:txBody>
          <a:bodyPr/>
          <a:lstStyle>
            <a:defPPr algn="l">
              <a:defRPr sz="1300" b="1">
                <a:solidFill>
                  <a:srgbClr val="ED7D31"/>
                </a:solidFill>
                <a:latin typeface="Noto Sans SC"/>
                <a:ea typeface="Noto Sans SC"/>
                <a:cs typeface="Noto Sans SC"/>
              </a:defRPr>
            </a:defPPr>
          </a:lstStyle>
          <a:p>
            <a:pPr algn="l">
              <a:defRPr sz="1300" b="1">
                <a:solidFill>
                  <a:srgbClr val="ED7D31"/>
                </a:solidFill>
                <a:latin typeface="Noto Sans SC"/>
                <a:ea typeface="Noto Sans SC"/>
                <a:cs typeface="Noto Sans SC"/>
              </a:defRPr>
            </a:pPr>
            <a:r>
              <a:rPr sz="1300" b="1">
                <a:solidFill>
                  <a:srgbClr val="ED7D31"/>
                </a:solidFill>
                <a:latin typeface="Noto Sans SC"/>
                <a:ea typeface="Noto Sans SC"/>
                <a:cs typeface="Noto Sans SC"/>
              </a:rPr>
              <a:t>BACKLOG · 产品待办列表</a:t>
            </a:r>
          </a:p>
        </p:txBody>
      </p:sp>
      <p:sp>
        <p:nvSpPr>
          <p:cNvPr id="2" name="矩形 1">
            <a:extLst>
              <a:ext uri="{FF2B5EF4-FFF2-40B4-BE49-F238E27FC236}">
                <a16:creationId xmlns:a16="http://schemas.microsoft.com/office/drawing/2014/main" id="{9EDB4F5D-9645-4717-988A-2FACA389F395}"/>
              </a:ext>
            </a:extLst>
          </p:cNvPr>
          <p:cNvSpPr>
            <a:spLocks noGrp="1"/>
          </p:cNvSpPr>
          <p:nvPr/>
        </p:nvSpPr>
        <p:spPr>
          <a:xfrm>
            <a:off x="1016032" y="1092232"/>
            <a:ext cx="10160032" cy="590550"/>
          </a:xfrm>
          <a:prstGeom prst="rect">
            <a:avLst/>
          </a:prstGeom>
          <a:noFill/>
          <a:ln w="0">
            <a:noFill/>
            <a:prstDash val="solid"/>
          </a:ln>
        </p:spPr>
        <p:txBody>
          <a:bodyPr/>
          <a:lstStyle>
            <a:defPPr algn="l">
              <a:defRPr sz="2700" b="1">
                <a:solidFill>
                  <a:srgbClr val="2B2F36"/>
                </a:solidFill>
                <a:latin typeface="Noto Sans SC"/>
                <a:ea typeface="Noto Sans SC"/>
                <a:cs typeface="Noto Sans SC"/>
              </a:defRPr>
            </a:defPPr>
          </a:lstStyle>
          <a:p>
            <a:pPr algn="l">
              <a:defRPr sz="2700" b="1">
                <a:solidFill>
                  <a:srgbClr val="2B2F36"/>
                </a:solidFill>
                <a:latin typeface="Noto Sans SC"/>
                <a:ea typeface="Noto Sans SC"/>
                <a:cs typeface="Noto Sans SC"/>
              </a:defRPr>
            </a:pPr>
            <a:r>
              <a:rPr lang="zh-CN" altLang="en-US" sz="2700" b="1" dirty="0">
                <a:solidFill>
                  <a:srgbClr val="2B2F36"/>
                </a:solidFill>
                <a:latin typeface="Noto Sans SC"/>
                <a:ea typeface="Noto Sans SC"/>
                <a:cs typeface="Noto Sans SC"/>
              </a:rPr>
              <a:t>部分</a:t>
            </a:r>
            <a:r>
              <a:rPr sz="2700" b="1" dirty="0" err="1">
                <a:solidFill>
                  <a:srgbClr val="2B2F36"/>
                </a:solidFill>
                <a:latin typeface="Noto Sans SC"/>
                <a:ea typeface="Noto Sans SC"/>
                <a:cs typeface="Noto Sans SC"/>
              </a:rPr>
              <a:t>任务与最终故事点</a:t>
            </a:r>
            <a:endParaRPr sz="2700" b="1" dirty="0">
              <a:solidFill>
                <a:srgbClr val="2B2F36"/>
              </a:solidFill>
              <a:latin typeface="Noto Sans SC"/>
              <a:ea typeface="Noto Sans SC"/>
              <a:cs typeface="Noto Sans SC"/>
            </a:endParaRPr>
          </a:p>
        </p:txBody>
      </p:sp>
      <p:sp>
        <p:nvSpPr>
          <p:cNvPr id="3" name="矩形 2">
            <a:extLst>
              <a:ext uri="{FF2B5EF4-FFF2-40B4-BE49-F238E27FC236}">
                <a16:creationId xmlns:a16="http://schemas.microsoft.com/office/drawing/2014/main" id="{A24A9AA5-7488-43A4-9EED-218F10CD21CC}"/>
              </a:ext>
            </a:extLst>
          </p:cNvPr>
          <p:cNvSpPr>
            <a:spLocks noGrp="1"/>
          </p:cNvSpPr>
          <p:nvPr/>
        </p:nvSpPr>
        <p:spPr>
          <a:xfrm>
            <a:off x="1016032" y="2025682"/>
            <a:ext cx="10160032" cy="12668"/>
          </a:xfrm>
          <a:prstGeom prst="rect">
            <a:avLst/>
          </a:prstGeom>
          <a:solidFill>
            <a:srgbClr val="DCE1E8"/>
          </a:solidFill>
          <a:ln w="0">
            <a:solidFill>
              <a:srgbClr val="DCE1E8"/>
            </a:solidFill>
            <a:prstDash val="solid"/>
          </a:ln>
        </p:spPr>
      </p:sp>
      <p:sp>
        <p:nvSpPr>
          <p:cNvPr id="4" name="矩形 3">
            <a:extLst>
              <a:ext uri="{FF2B5EF4-FFF2-40B4-BE49-F238E27FC236}">
                <a16:creationId xmlns:a16="http://schemas.microsoft.com/office/drawing/2014/main" id="{0B47A94E-E4DF-43E8-8C2C-7D1D17487565}"/>
              </a:ext>
            </a:extLst>
          </p:cNvPr>
          <p:cNvSpPr>
            <a:spLocks noGrp="1"/>
          </p:cNvSpPr>
          <p:nvPr/>
        </p:nvSpPr>
        <p:spPr>
          <a:xfrm>
            <a:off x="1016032" y="6350032"/>
            <a:ext cx="6667500" cy="266700"/>
          </a:xfrm>
          <a:prstGeom prst="rect">
            <a:avLst/>
          </a:prstGeom>
          <a:noFill/>
          <a:ln w="0">
            <a:noFill/>
            <a:prstDash val="solid"/>
          </a:ln>
        </p:spPr>
        <p:txBody>
          <a:bodyPr/>
          <a:lstStyle>
            <a:defPPr algn="l">
              <a:defRPr sz="1100" b="0">
                <a:solidFill>
                  <a:srgbClr val="A0A8B4"/>
                </a:solidFill>
                <a:latin typeface="Noto Sans SC"/>
                <a:ea typeface="Noto Sans SC"/>
                <a:cs typeface="Noto Sans SC"/>
              </a:defRPr>
            </a:defPPr>
          </a:lstStyle>
          <a:p>
            <a:pPr algn="l">
              <a:defRPr sz="1100" b="0">
                <a:solidFill>
                  <a:srgbClr val="A0A8B4"/>
                </a:solidFill>
                <a:latin typeface="Noto Sans SC"/>
                <a:ea typeface="Noto Sans SC"/>
                <a:cs typeface="Noto Sans SC"/>
              </a:defRPr>
            </a:pPr>
            <a:r>
              <a:rPr sz="1100" b="0">
                <a:solidFill>
                  <a:srgbClr val="A0A8B4"/>
                </a:solidFill>
                <a:latin typeface="Noto Sans SC"/>
                <a:ea typeface="Noto Sans SC"/>
                <a:cs typeface="Noto Sans SC"/>
              </a:rPr>
              <a:t>SimpleCADforDSH ｜ 讨论四 · 规划扑克估算</a:t>
            </a:r>
          </a:p>
        </p:txBody>
      </p:sp>
      <p:graphicFrame>
        <p:nvGraphicFramePr>
          <p:cNvPr id="6" name="表格 5">
            <a:extLst>
              <a:ext uri="{FF2B5EF4-FFF2-40B4-BE49-F238E27FC236}">
                <a16:creationId xmlns:a16="http://schemas.microsoft.com/office/drawing/2014/main" id="{58BA187F-C944-4294-B441-66AA9EF0E56B}"/>
              </a:ext>
            </a:extLst>
          </p:cNvPr>
          <p:cNvGraphicFramePr/>
          <p:nvPr>
            <p:extLst>
              <p:ext uri="{D42A27DB-BD31-4B8C-83A1-F6EECF244321}">
                <p14:modId xmlns:p14="http://schemas.microsoft.com/office/powerpoint/2010/main" val="43739746"/>
              </p:ext>
            </p:extLst>
          </p:nvPr>
        </p:nvGraphicFramePr>
        <p:xfrm>
          <a:off x="1016032" y="1589164"/>
          <a:ext cx="10160031" cy="4559378"/>
        </p:xfrm>
        <a:graphic>
          <a:graphicData uri="http://schemas.openxmlformats.org/drawingml/2006/table">
            <a:tbl>
              <a:tblPr firstRow="1" bandRow="1"/>
              <a:tblGrid>
                <a:gridCol w="3386677">
                  <a:extLst>
                    <a:ext uri="{9D8B030D-6E8A-4147-A177-3AD203B41FA5}">
                      <a16:colId xmlns:a16="http://schemas.microsoft.com/office/drawing/2014/main" val="20000"/>
                    </a:ext>
                  </a:extLst>
                </a:gridCol>
                <a:gridCol w="3386677">
                  <a:extLst>
                    <a:ext uri="{9D8B030D-6E8A-4147-A177-3AD203B41FA5}">
                      <a16:colId xmlns:a16="http://schemas.microsoft.com/office/drawing/2014/main" val="20001"/>
                    </a:ext>
                  </a:extLst>
                </a:gridCol>
                <a:gridCol w="3386677">
                  <a:extLst>
                    <a:ext uri="{9D8B030D-6E8A-4147-A177-3AD203B41FA5}">
                      <a16:colId xmlns:a16="http://schemas.microsoft.com/office/drawing/2014/main" val="20002"/>
                    </a:ext>
                  </a:extLst>
                </a:gridCol>
              </a:tblGrid>
              <a:tr h="284558">
                <a:tc>
                  <a:txBody>
                    <a:bodyPr/>
                    <a:lstStyle/>
                    <a:p>
                      <a:r>
                        <a:rPr sz="1200" b="1" dirty="0" err="1">
                          <a:solidFill>
                            <a:srgbClr val="FFFFFF"/>
                          </a:solidFill>
                          <a:latin typeface="Noto Sans SC"/>
                          <a:ea typeface="Noto Sans SC"/>
                          <a:cs typeface="Noto Sans SC"/>
                        </a:rPr>
                        <a:t>任务编号</a:t>
                      </a:r>
                      <a:endParaRPr sz="1200" b="1" dirty="0">
                        <a:solidFill>
                          <a:srgbClr val="FFFFFF"/>
                        </a:solidFill>
                        <a:latin typeface="Noto Sans SC"/>
                        <a:ea typeface="Noto Sans SC"/>
                        <a:cs typeface="Noto Sans SC"/>
                      </a:endParaRPr>
                    </a:p>
                  </a:txBody>
                  <a:tcPr>
                    <a:lnL w="9525">
                      <a:solidFill>
                        <a:srgbClr val="DCE1E8"/>
                      </a:solidFill>
                      <a:prstDash val="solid"/>
                    </a:lnL>
                    <a:lnR w="9525">
                      <a:solidFill>
                        <a:srgbClr val="DCE1E8"/>
                      </a:solidFill>
                      <a:prstDash val="solid"/>
                    </a:lnR>
                    <a:lnT w="9525">
                      <a:solidFill>
                        <a:srgbClr val="DCE1E8"/>
                      </a:solidFill>
                      <a:prstDash val="solid"/>
                    </a:lnT>
                    <a:lnB w="9525">
                      <a:solidFill>
                        <a:srgbClr val="DCE1E8"/>
                      </a:solidFill>
                      <a:prstDash val="solid"/>
                    </a:lnB>
                    <a:solidFill>
                      <a:srgbClr val="4472C4"/>
                    </a:solidFill>
                  </a:tcPr>
                </a:tc>
                <a:tc>
                  <a:txBody>
                    <a:bodyPr/>
                    <a:lstStyle/>
                    <a:p>
                      <a:r>
                        <a:rPr sz="1200" b="1">
                          <a:solidFill>
                            <a:srgbClr val="FFFFFF"/>
                          </a:solidFill>
                          <a:latin typeface="Noto Sans SC"/>
                          <a:ea typeface="Noto Sans SC"/>
                          <a:cs typeface="Noto Sans SC"/>
                        </a:rPr>
                        <a:t>任务名称</a:t>
                      </a:r>
                    </a:p>
                  </a:txBody>
                  <a:tcPr>
                    <a:lnL w="9525" cap="flat" cmpd="sng" algn="ctr">
                      <a:solidFill>
                        <a:srgbClr val="DCE1E8"/>
                      </a:solidFill>
                      <a:prstDash val="solid"/>
                      <a:round/>
                      <a:headEnd type="none" w="med" len="med"/>
                      <a:tailEnd type="none" w="med" len="med"/>
                    </a:lnL>
                    <a:lnR w="9525">
                      <a:solidFill>
                        <a:srgbClr val="DCE1E8"/>
                      </a:solidFill>
                      <a:prstDash val="solid"/>
                    </a:lnR>
                    <a:lnT w="9525">
                      <a:solidFill>
                        <a:srgbClr val="DCE1E8"/>
                      </a:solidFill>
                      <a:prstDash val="solid"/>
                    </a:lnT>
                    <a:lnB w="9525">
                      <a:solidFill>
                        <a:srgbClr val="DCE1E8"/>
                      </a:solidFill>
                      <a:prstDash val="solid"/>
                    </a:lnB>
                    <a:solidFill>
                      <a:srgbClr val="4472C4"/>
                    </a:solidFill>
                  </a:tcPr>
                </a:tc>
                <a:tc>
                  <a:txBody>
                    <a:bodyPr/>
                    <a:lstStyle/>
                    <a:p>
                      <a:r>
                        <a:rPr sz="1200" b="1">
                          <a:solidFill>
                            <a:srgbClr val="FFFFFF"/>
                          </a:solidFill>
                          <a:latin typeface="Noto Sans SC"/>
                          <a:ea typeface="Noto Sans SC"/>
                          <a:cs typeface="Noto Sans SC"/>
                        </a:rPr>
                        <a:t>最终故事点</a:t>
                      </a:r>
                    </a:p>
                  </a:txBody>
                  <a:tcPr>
                    <a:lnL w="9525" cap="flat" cmpd="sng" algn="ctr">
                      <a:solidFill>
                        <a:srgbClr val="DCE1E8"/>
                      </a:solidFill>
                      <a:prstDash val="solid"/>
                      <a:round/>
                      <a:headEnd type="none" w="med" len="med"/>
                      <a:tailEnd type="none" w="med" len="med"/>
                    </a:lnL>
                    <a:lnR w="9525">
                      <a:solidFill>
                        <a:srgbClr val="DCE1E8"/>
                      </a:solidFill>
                      <a:prstDash val="solid"/>
                    </a:lnR>
                    <a:lnT w="9525">
                      <a:solidFill>
                        <a:srgbClr val="DCE1E8"/>
                      </a:solidFill>
                      <a:prstDash val="solid"/>
                    </a:lnT>
                    <a:lnB w="9525">
                      <a:solidFill>
                        <a:srgbClr val="DCE1E8"/>
                      </a:solidFill>
                      <a:prstDash val="solid"/>
                    </a:lnB>
                    <a:solidFill>
                      <a:srgbClr val="4472C4"/>
                    </a:solidFill>
                  </a:tcPr>
                </a:tc>
                <a:extLst>
                  <a:ext uri="{0D108BD9-81ED-4DB2-BD59-A6C34878D82A}">
                    <a16:rowId xmlns:a16="http://schemas.microsoft.com/office/drawing/2014/main" val="10000"/>
                  </a:ext>
                </a:extLst>
              </a:tr>
              <a:tr h="244290">
                <a:tc>
                  <a:txBody>
                    <a:bodyPr/>
                    <a:lstStyle/>
                    <a:p>
                      <a:r>
                        <a:rPr sz="1050" b="0">
                          <a:solidFill>
                            <a:srgbClr val="2B2F36"/>
                          </a:solidFill>
                          <a:latin typeface="Noto Sans SC"/>
                          <a:ea typeface="Noto Sans SC"/>
                          <a:cs typeface="Noto Sans SC"/>
                        </a:rPr>
                        <a:t>1</a:t>
                      </a:r>
                    </a:p>
                  </a:txBody>
                  <a:tcPr>
                    <a:lnL w="9525">
                      <a:solidFill>
                        <a:srgbClr val="DCE1E8"/>
                      </a:solidFill>
                      <a:prstDash val="soli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050" b="0">
                          <a:solidFill>
                            <a:srgbClr val="2B2F36"/>
                          </a:solidFill>
                          <a:latin typeface="Noto Sans SC"/>
                          <a:ea typeface="Noto Sans SC"/>
                          <a:cs typeface="Noto Sans SC"/>
                        </a:rPr>
                        <a:t>查看生成模型的可编辑参数</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050" b="0">
                          <a:solidFill>
                            <a:srgbClr val="2B2F36"/>
                          </a:solidFill>
                          <a:latin typeface="Noto Sans SC"/>
                          <a:ea typeface="Noto Sans SC"/>
                          <a:cs typeface="Noto Sans SC"/>
                        </a:rPr>
                        <a:t>3</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extLst>
                  <a:ext uri="{0D108BD9-81ED-4DB2-BD59-A6C34878D82A}">
                    <a16:rowId xmlns:a16="http://schemas.microsoft.com/office/drawing/2014/main" val="10001"/>
                  </a:ext>
                </a:extLst>
              </a:tr>
              <a:tr h="244290">
                <a:tc>
                  <a:txBody>
                    <a:bodyPr/>
                    <a:lstStyle/>
                    <a:p>
                      <a:r>
                        <a:rPr sz="1050" b="0">
                          <a:solidFill>
                            <a:srgbClr val="2B2F36"/>
                          </a:solidFill>
                          <a:latin typeface="Noto Sans SC"/>
                          <a:ea typeface="Noto Sans SC"/>
                          <a:cs typeface="Noto Sans SC"/>
                        </a:rPr>
                        <a:t>2</a:t>
                      </a:r>
                    </a:p>
                  </a:txBody>
                  <a:tcPr>
                    <a:lnL w="9525">
                      <a:solidFill>
                        <a:srgbClr val="DCE1E8"/>
                      </a:solidFill>
                      <a:prstDash val="soli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050" b="0">
                          <a:solidFill>
                            <a:srgbClr val="2B2F36"/>
                          </a:solidFill>
                          <a:latin typeface="Noto Sans SC"/>
                          <a:ea typeface="Noto Sans SC"/>
                          <a:cs typeface="Noto Sans SC"/>
                        </a:rPr>
                        <a:t>查看检索模型的来源和训练数据</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050" b="0">
                          <a:solidFill>
                            <a:srgbClr val="2B2F36"/>
                          </a:solidFill>
                          <a:latin typeface="Noto Sans SC"/>
                          <a:ea typeface="Noto Sans SC"/>
                          <a:cs typeface="Noto Sans SC"/>
                        </a:rPr>
                        <a:t>5</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extLst>
                  <a:ext uri="{0D108BD9-81ED-4DB2-BD59-A6C34878D82A}">
                    <a16:rowId xmlns:a16="http://schemas.microsoft.com/office/drawing/2014/main" val="10002"/>
                  </a:ext>
                </a:extLst>
              </a:tr>
              <a:tr h="244290">
                <a:tc>
                  <a:txBody>
                    <a:bodyPr/>
                    <a:lstStyle/>
                    <a:p>
                      <a:r>
                        <a:rPr sz="1050" b="0">
                          <a:solidFill>
                            <a:srgbClr val="2B2F36"/>
                          </a:solidFill>
                          <a:latin typeface="Noto Sans SC"/>
                          <a:ea typeface="Noto Sans SC"/>
                          <a:cs typeface="Noto Sans SC"/>
                        </a:rPr>
                        <a:t>3</a:t>
                      </a:r>
                    </a:p>
                  </a:txBody>
                  <a:tcPr>
                    <a:lnL w="9525">
                      <a:solidFill>
                        <a:srgbClr val="DCE1E8"/>
                      </a:solidFill>
                      <a:prstDash val="soli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050" b="0">
                          <a:solidFill>
                            <a:srgbClr val="2B2F36"/>
                          </a:solidFill>
                          <a:latin typeface="Noto Sans SC"/>
                          <a:ea typeface="Noto Sans SC"/>
                          <a:cs typeface="Noto Sans SC"/>
                        </a:rPr>
                        <a:t>根据已有参数重新生成模型</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050" b="0">
                          <a:solidFill>
                            <a:srgbClr val="2B2F36"/>
                          </a:solidFill>
                          <a:latin typeface="Noto Sans SC"/>
                          <a:ea typeface="Noto Sans SC"/>
                          <a:cs typeface="Noto Sans SC"/>
                        </a:rPr>
                        <a:t>5</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extLst>
                  <a:ext uri="{0D108BD9-81ED-4DB2-BD59-A6C34878D82A}">
                    <a16:rowId xmlns:a16="http://schemas.microsoft.com/office/drawing/2014/main" val="10003"/>
                  </a:ext>
                </a:extLst>
              </a:tr>
              <a:tr h="244290">
                <a:tc>
                  <a:txBody>
                    <a:bodyPr/>
                    <a:lstStyle/>
                    <a:p>
                      <a:r>
                        <a:rPr sz="1050" b="0">
                          <a:solidFill>
                            <a:srgbClr val="2B2F36"/>
                          </a:solidFill>
                          <a:latin typeface="Noto Sans SC"/>
                          <a:ea typeface="Noto Sans SC"/>
                          <a:cs typeface="Noto Sans SC"/>
                        </a:rPr>
                        <a:t>4</a:t>
                      </a:r>
                    </a:p>
                  </a:txBody>
                  <a:tcPr>
                    <a:lnL w="9525">
                      <a:solidFill>
                        <a:srgbClr val="DCE1E8"/>
                      </a:solidFill>
                      <a:prstDash val="soli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050" b="0">
                          <a:solidFill>
                            <a:srgbClr val="2B2F36"/>
                          </a:solidFill>
                          <a:latin typeface="Noto Sans SC"/>
                          <a:ea typeface="Noto Sans SC"/>
                          <a:cs typeface="Noto Sans SC"/>
                        </a:rPr>
                        <a:t>部署单视角图像生成 CAD 模型</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050" b="0">
                          <a:solidFill>
                            <a:srgbClr val="2B2F36"/>
                          </a:solidFill>
                          <a:latin typeface="Noto Sans SC"/>
                          <a:ea typeface="Noto Sans SC"/>
                          <a:cs typeface="Noto Sans SC"/>
                        </a:rPr>
                        <a:t>8</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extLst>
                  <a:ext uri="{0D108BD9-81ED-4DB2-BD59-A6C34878D82A}">
                    <a16:rowId xmlns:a16="http://schemas.microsoft.com/office/drawing/2014/main" val="10004"/>
                  </a:ext>
                </a:extLst>
              </a:tr>
              <a:tr h="244290">
                <a:tc>
                  <a:txBody>
                    <a:bodyPr/>
                    <a:lstStyle/>
                    <a:p>
                      <a:r>
                        <a:rPr sz="1050" b="0">
                          <a:solidFill>
                            <a:srgbClr val="2B2F36"/>
                          </a:solidFill>
                          <a:latin typeface="Noto Sans SC"/>
                          <a:ea typeface="Noto Sans SC"/>
                          <a:cs typeface="Noto Sans SC"/>
                        </a:rPr>
                        <a:t>5</a:t>
                      </a:r>
                    </a:p>
                  </a:txBody>
                  <a:tcPr>
                    <a:lnL w="9525">
                      <a:solidFill>
                        <a:srgbClr val="DCE1E8"/>
                      </a:solidFill>
                      <a:prstDash val="soli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050" b="0">
                          <a:solidFill>
                            <a:srgbClr val="2B2F36"/>
                          </a:solidFill>
                          <a:latin typeface="Noto Sans SC"/>
                          <a:ea typeface="Noto Sans SC"/>
                          <a:cs typeface="Noto Sans SC"/>
                        </a:rPr>
                        <a:t>创建贯穿孔</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050" b="0">
                          <a:solidFill>
                            <a:srgbClr val="2B2F36"/>
                          </a:solidFill>
                          <a:latin typeface="Noto Sans SC"/>
                          <a:ea typeface="Noto Sans SC"/>
                          <a:cs typeface="Noto Sans SC"/>
                        </a:rPr>
                        <a:t>3</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extLst>
                  <a:ext uri="{0D108BD9-81ED-4DB2-BD59-A6C34878D82A}">
                    <a16:rowId xmlns:a16="http://schemas.microsoft.com/office/drawing/2014/main" val="10005"/>
                  </a:ext>
                </a:extLst>
              </a:tr>
              <a:tr h="244290">
                <a:tc>
                  <a:txBody>
                    <a:bodyPr/>
                    <a:lstStyle/>
                    <a:p>
                      <a:r>
                        <a:rPr sz="1050" b="0">
                          <a:solidFill>
                            <a:srgbClr val="2B2F36"/>
                          </a:solidFill>
                          <a:latin typeface="Noto Sans SC"/>
                          <a:ea typeface="Noto Sans SC"/>
                          <a:cs typeface="Noto Sans SC"/>
                        </a:rPr>
                        <a:t>6</a:t>
                      </a:r>
                    </a:p>
                  </a:txBody>
                  <a:tcPr>
                    <a:lnL w="9525">
                      <a:solidFill>
                        <a:srgbClr val="DCE1E8"/>
                      </a:solidFill>
                      <a:prstDash val="soli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050" b="0">
                          <a:solidFill>
                            <a:srgbClr val="2B2F36"/>
                          </a:solidFill>
                          <a:latin typeface="Noto Sans SC"/>
                          <a:ea typeface="Noto Sans SC"/>
                          <a:cs typeface="Noto Sans SC"/>
                        </a:rPr>
                        <a:t>执行实体布尔并集</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050" b="0">
                          <a:solidFill>
                            <a:srgbClr val="2B2F36"/>
                          </a:solidFill>
                          <a:latin typeface="Noto Sans SC"/>
                          <a:ea typeface="Noto Sans SC"/>
                          <a:cs typeface="Noto Sans SC"/>
                        </a:rPr>
                        <a:t>5</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extLst>
                  <a:ext uri="{0D108BD9-81ED-4DB2-BD59-A6C34878D82A}">
                    <a16:rowId xmlns:a16="http://schemas.microsoft.com/office/drawing/2014/main" val="10006"/>
                  </a:ext>
                </a:extLst>
              </a:tr>
              <a:tr h="244290">
                <a:tc>
                  <a:txBody>
                    <a:bodyPr/>
                    <a:lstStyle/>
                    <a:p>
                      <a:r>
                        <a:rPr sz="1050" b="0">
                          <a:solidFill>
                            <a:srgbClr val="2B2F36"/>
                          </a:solidFill>
                          <a:latin typeface="Noto Sans SC"/>
                          <a:ea typeface="Noto Sans SC"/>
                          <a:cs typeface="Noto Sans SC"/>
                        </a:rPr>
                        <a:t>7</a:t>
                      </a:r>
                    </a:p>
                  </a:txBody>
                  <a:tcPr>
                    <a:lnL w="9525">
                      <a:solidFill>
                        <a:srgbClr val="DCE1E8"/>
                      </a:solidFill>
                      <a:prstDash val="soli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050" b="0">
                          <a:solidFill>
                            <a:srgbClr val="2B2F36"/>
                          </a:solidFill>
                          <a:latin typeface="Noto Sans SC"/>
                          <a:ea typeface="Noto Sans SC"/>
                          <a:cs typeface="Noto Sans SC"/>
                        </a:rPr>
                        <a:t>创建边圆角</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050" b="0">
                          <a:solidFill>
                            <a:srgbClr val="2B2F36"/>
                          </a:solidFill>
                          <a:latin typeface="Noto Sans SC"/>
                          <a:ea typeface="Noto Sans SC"/>
                          <a:cs typeface="Noto Sans SC"/>
                        </a:rPr>
                        <a:t>5</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extLst>
                  <a:ext uri="{0D108BD9-81ED-4DB2-BD59-A6C34878D82A}">
                    <a16:rowId xmlns:a16="http://schemas.microsoft.com/office/drawing/2014/main" val="10007"/>
                  </a:ext>
                </a:extLst>
              </a:tr>
              <a:tr h="244290">
                <a:tc>
                  <a:txBody>
                    <a:bodyPr/>
                    <a:lstStyle/>
                    <a:p>
                      <a:r>
                        <a:rPr sz="1050" b="0">
                          <a:solidFill>
                            <a:srgbClr val="2B2F36"/>
                          </a:solidFill>
                          <a:latin typeface="Noto Sans SC"/>
                          <a:ea typeface="Noto Sans SC"/>
                          <a:cs typeface="Noto Sans SC"/>
                        </a:rPr>
                        <a:t>8</a:t>
                      </a:r>
                    </a:p>
                  </a:txBody>
                  <a:tcPr>
                    <a:lnL w="9525">
                      <a:solidFill>
                        <a:srgbClr val="DCE1E8"/>
                      </a:solidFill>
                      <a:prstDash val="soli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050" b="0">
                          <a:solidFill>
                            <a:srgbClr val="2B2F36"/>
                          </a:solidFill>
                          <a:latin typeface="Noto Sans SC"/>
                          <a:ea typeface="Noto Sans SC"/>
                          <a:cs typeface="Noto Sans SC"/>
                        </a:rPr>
                        <a:t>文本描述生成 CAD 模型</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050" b="0">
                          <a:solidFill>
                            <a:srgbClr val="2B2F36"/>
                          </a:solidFill>
                          <a:latin typeface="Noto Sans SC"/>
                          <a:ea typeface="Noto Sans SC"/>
                          <a:cs typeface="Noto Sans SC"/>
                        </a:rPr>
                        <a:t>13</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extLst>
                  <a:ext uri="{0D108BD9-81ED-4DB2-BD59-A6C34878D82A}">
                    <a16:rowId xmlns:a16="http://schemas.microsoft.com/office/drawing/2014/main" val="10008"/>
                  </a:ext>
                </a:extLst>
              </a:tr>
              <a:tr h="244290">
                <a:tc>
                  <a:txBody>
                    <a:bodyPr/>
                    <a:lstStyle/>
                    <a:p>
                      <a:r>
                        <a:rPr sz="1050" b="0">
                          <a:solidFill>
                            <a:srgbClr val="2B2F36"/>
                          </a:solidFill>
                          <a:latin typeface="Noto Sans SC"/>
                          <a:ea typeface="Noto Sans SC"/>
                          <a:cs typeface="Noto Sans SC"/>
                        </a:rPr>
                        <a:t>9</a:t>
                      </a:r>
                    </a:p>
                  </a:txBody>
                  <a:tcPr>
                    <a:lnL w="9525">
                      <a:solidFill>
                        <a:srgbClr val="DCE1E8"/>
                      </a:solidFill>
                      <a:prstDash val="soli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050" b="0">
                          <a:solidFill>
                            <a:srgbClr val="2B2F36"/>
                          </a:solidFill>
                          <a:latin typeface="Noto Sans SC"/>
                          <a:ea typeface="Noto Sans SC"/>
                          <a:cs typeface="Noto Sans SC"/>
                        </a:rPr>
                        <a:t>多视角图像生成 CAD 模型</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050" b="0">
                          <a:solidFill>
                            <a:srgbClr val="2B2F36"/>
                          </a:solidFill>
                          <a:latin typeface="Noto Sans SC"/>
                          <a:ea typeface="Noto Sans SC"/>
                          <a:cs typeface="Noto Sans SC"/>
                        </a:rPr>
                        <a:t>13</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extLst>
                  <a:ext uri="{0D108BD9-81ED-4DB2-BD59-A6C34878D82A}">
                    <a16:rowId xmlns:a16="http://schemas.microsoft.com/office/drawing/2014/main" val="10009"/>
                  </a:ext>
                </a:extLst>
              </a:tr>
              <a:tr h="244290">
                <a:tc>
                  <a:txBody>
                    <a:bodyPr/>
                    <a:lstStyle/>
                    <a:p>
                      <a:r>
                        <a:rPr sz="1050" b="0" dirty="0">
                          <a:solidFill>
                            <a:srgbClr val="2B2F36"/>
                          </a:solidFill>
                          <a:latin typeface="Noto Sans SC"/>
                          <a:ea typeface="Noto Sans SC"/>
                          <a:cs typeface="Noto Sans SC"/>
                        </a:rPr>
                        <a:t>10</a:t>
                      </a:r>
                    </a:p>
                  </a:txBody>
                  <a:tcPr>
                    <a:lnL w="9525">
                      <a:solidFill>
                        <a:srgbClr val="DCE1E8"/>
                      </a:solidFill>
                      <a:prstDash val="soli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050" b="0">
                          <a:solidFill>
                            <a:srgbClr val="2B2F36"/>
                          </a:solidFill>
                          <a:latin typeface="Noto Sans SC"/>
                          <a:ea typeface="Noto Sans SC"/>
                          <a:cs typeface="Noto Sans SC"/>
                        </a:rPr>
                        <a:t>文本检索相似 CAD 模型</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050" b="0">
                          <a:solidFill>
                            <a:srgbClr val="2B2F36"/>
                          </a:solidFill>
                          <a:latin typeface="Noto Sans SC"/>
                          <a:ea typeface="Noto Sans SC"/>
                          <a:cs typeface="Noto Sans SC"/>
                        </a:rPr>
                        <a:t>8</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extLst>
                  <a:ext uri="{0D108BD9-81ED-4DB2-BD59-A6C34878D82A}">
                    <a16:rowId xmlns:a16="http://schemas.microsoft.com/office/drawing/2014/main" val="10010"/>
                  </a:ext>
                </a:extLst>
              </a:tr>
              <a:tr h="244290">
                <a:tc>
                  <a:txBody>
                    <a:bodyPr/>
                    <a:lstStyle/>
                    <a:p>
                      <a:r>
                        <a:rPr sz="1050" b="0" dirty="0">
                          <a:solidFill>
                            <a:srgbClr val="2B2F36"/>
                          </a:solidFill>
                          <a:latin typeface="Noto Sans SC"/>
                          <a:ea typeface="Noto Sans SC"/>
                          <a:cs typeface="Noto Sans SC"/>
                        </a:rPr>
                        <a:t>13</a:t>
                      </a:r>
                    </a:p>
                  </a:txBody>
                  <a:tcPr>
                    <a:lnL w="9525">
                      <a:solidFill>
                        <a:srgbClr val="DCE1E8"/>
                      </a:solidFill>
                      <a:prstDash val="soli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050" b="0">
                          <a:solidFill>
                            <a:srgbClr val="2B2F36"/>
                          </a:solidFill>
                          <a:latin typeface="Noto Sans SC"/>
                          <a:ea typeface="Noto Sans SC"/>
                          <a:cs typeface="Noto Sans SC"/>
                        </a:rPr>
                        <a:t>修改模型关键尺寸参数</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050" b="0">
                          <a:solidFill>
                            <a:srgbClr val="2B2F36"/>
                          </a:solidFill>
                          <a:latin typeface="Noto Sans SC"/>
                          <a:ea typeface="Noto Sans SC"/>
                          <a:cs typeface="Noto Sans SC"/>
                        </a:rPr>
                        <a:t>5</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extLst>
                  <a:ext uri="{0D108BD9-81ED-4DB2-BD59-A6C34878D82A}">
                    <a16:rowId xmlns:a16="http://schemas.microsoft.com/office/drawing/2014/main" val="10011"/>
                  </a:ext>
                </a:extLst>
              </a:tr>
              <a:tr h="244290">
                <a:tc>
                  <a:txBody>
                    <a:bodyPr/>
                    <a:lstStyle/>
                    <a:p>
                      <a:r>
                        <a:rPr sz="1050" b="0">
                          <a:solidFill>
                            <a:srgbClr val="2B2F36"/>
                          </a:solidFill>
                          <a:latin typeface="Noto Sans SC"/>
                          <a:ea typeface="Noto Sans SC"/>
                          <a:cs typeface="Noto Sans SC"/>
                        </a:rPr>
                        <a:t>15</a:t>
                      </a:r>
                    </a:p>
                  </a:txBody>
                  <a:tcPr>
                    <a:lnL w="9525">
                      <a:solidFill>
                        <a:srgbClr val="DCE1E8"/>
                      </a:solidFill>
                      <a:prstDash val="soli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050" b="0">
                          <a:solidFill>
                            <a:srgbClr val="2B2F36"/>
                          </a:solidFill>
                          <a:latin typeface="Noto Sans SC"/>
                          <a:ea typeface="Noto Sans SC"/>
                          <a:cs typeface="Noto Sans SC"/>
                        </a:rPr>
                        <a:t>创建二维矩形轮廓</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050" b="0">
                          <a:solidFill>
                            <a:srgbClr val="2B2F36"/>
                          </a:solidFill>
                          <a:latin typeface="Noto Sans SC"/>
                          <a:ea typeface="Noto Sans SC"/>
                          <a:cs typeface="Noto Sans SC"/>
                        </a:rPr>
                        <a:t>2</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extLst>
                  <a:ext uri="{0D108BD9-81ED-4DB2-BD59-A6C34878D82A}">
                    <a16:rowId xmlns:a16="http://schemas.microsoft.com/office/drawing/2014/main" val="10012"/>
                  </a:ext>
                </a:extLst>
              </a:tr>
              <a:tr h="244290">
                <a:tc>
                  <a:txBody>
                    <a:bodyPr/>
                    <a:lstStyle/>
                    <a:p>
                      <a:r>
                        <a:rPr sz="1050" b="0">
                          <a:solidFill>
                            <a:srgbClr val="2B2F36"/>
                          </a:solidFill>
                          <a:latin typeface="Noto Sans SC"/>
                          <a:ea typeface="Noto Sans SC"/>
                          <a:cs typeface="Noto Sans SC"/>
                        </a:rPr>
                        <a:t>16</a:t>
                      </a:r>
                    </a:p>
                  </a:txBody>
                  <a:tcPr>
                    <a:lnL w="9525">
                      <a:solidFill>
                        <a:srgbClr val="DCE1E8"/>
                      </a:solidFill>
                      <a:prstDash val="soli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050" b="0" dirty="0" err="1">
                          <a:solidFill>
                            <a:srgbClr val="2B2F36"/>
                          </a:solidFill>
                          <a:latin typeface="Noto Sans SC"/>
                          <a:ea typeface="Noto Sans SC"/>
                          <a:cs typeface="Noto Sans SC"/>
                        </a:rPr>
                        <a:t>拉伸轮廓生成实体</a:t>
                      </a:r>
                      <a:endParaRPr sz="1050" b="0" dirty="0">
                        <a:solidFill>
                          <a:srgbClr val="2B2F36"/>
                        </a:solidFill>
                        <a:latin typeface="Noto Sans SC"/>
                        <a:ea typeface="Noto Sans SC"/>
                        <a:cs typeface="Noto Sans SC"/>
                      </a:endParaRP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050" b="0">
                          <a:solidFill>
                            <a:srgbClr val="2B2F36"/>
                          </a:solidFill>
                          <a:latin typeface="Noto Sans SC"/>
                          <a:ea typeface="Noto Sans SC"/>
                          <a:cs typeface="Noto Sans SC"/>
                        </a:rPr>
                        <a:t>3</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extLst>
                  <a:ext uri="{0D108BD9-81ED-4DB2-BD59-A6C34878D82A}">
                    <a16:rowId xmlns:a16="http://schemas.microsoft.com/office/drawing/2014/main" val="10013"/>
                  </a:ext>
                </a:extLst>
              </a:tr>
              <a:tr h="244290">
                <a:tc>
                  <a:txBody>
                    <a:bodyPr/>
                    <a:lstStyle/>
                    <a:p>
                      <a:r>
                        <a:rPr sz="1050" b="0">
                          <a:solidFill>
                            <a:srgbClr val="2B2F36"/>
                          </a:solidFill>
                          <a:latin typeface="Noto Sans SC"/>
                          <a:ea typeface="Noto Sans SC"/>
                          <a:cs typeface="Noto Sans SC"/>
                        </a:rPr>
                        <a:t>20</a:t>
                      </a:r>
                    </a:p>
                  </a:txBody>
                  <a:tcPr>
                    <a:lnL w="9525">
                      <a:solidFill>
                        <a:srgbClr val="DCE1E8"/>
                      </a:solidFill>
                      <a:prstDash val="soli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050" b="0">
                          <a:solidFill>
                            <a:srgbClr val="2B2F36"/>
                          </a:solidFill>
                          <a:latin typeface="Noto Sans SC"/>
                          <a:ea typeface="Noto Sans SC"/>
                          <a:cs typeface="Noto Sans SC"/>
                        </a:rPr>
                        <a:t>创建边倒角</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050" b="0">
                          <a:solidFill>
                            <a:srgbClr val="2B2F36"/>
                          </a:solidFill>
                          <a:latin typeface="Noto Sans SC"/>
                          <a:ea typeface="Noto Sans SC"/>
                          <a:cs typeface="Noto Sans SC"/>
                        </a:rPr>
                        <a:t>5</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extLst>
                  <a:ext uri="{0D108BD9-81ED-4DB2-BD59-A6C34878D82A}">
                    <a16:rowId xmlns:a16="http://schemas.microsoft.com/office/drawing/2014/main" val="10014"/>
                  </a:ext>
                </a:extLst>
              </a:tr>
              <a:tr h="244290">
                <a:tc>
                  <a:txBody>
                    <a:bodyPr/>
                    <a:lstStyle/>
                    <a:p>
                      <a:r>
                        <a:rPr sz="1050" b="0">
                          <a:solidFill>
                            <a:srgbClr val="2B2F36"/>
                          </a:solidFill>
                          <a:latin typeface="Noto Sans SC"/>
                          <a:ea typeface="Noto Sans SC"/>
                          <a:cs typeface="Noto Sans SC"/>
                        </a:rPr>
                        <a:t>21</a:t>
                      </a:r>
                    </a:p>
                  </a:txBody>
                  <a:tcPr>
                    <a:lnL w="9525">
                      <a:solidFill>
                        <a:srgbClr val="DCE1E8"/>
                      </a:solidFill>
                      <a:prstDash val="soli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050" b="0">
                          <a:solidFill>
                            <a:srgbClr val="2B2F36"/>
                          </a:solidFill>
                          <a:latin typeface="Noto Sans SC"/>
                          <a:ea typeface="Noto Sans SC"/>
                          <a:cs typeface="Noto Sans SC"/>
                        </a:rPr>
                        <a:t>撤销最近一次 CAD 操作</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050" b="0">
                          <a:solidFill>
                            <a:srgbClr val="2B2F36"/>
                          </a:solidFill>
                          <a:latin typeface="Noto Sans SC"/>
                          <a:ea typeface="Noto Sans SC"/>
                          <a:cs typeface="Noto Sans SC"/>
                        </a:rPr>
                        <a:t>5</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extLst>
                  <a:ext uri="{0D108BD9-81ED-4DB2-BD59-A6C34878D82A}">
                    <a16:rowId xmlns:a16="http://schemas.microsoft.com/office/drawing/2014/main" val="10015"/>
                  </a:ext>
                </a:extLst>
              </a:tr>
              <a:tr h="244290">
                <a:tc>
                  <a:txBody>
                    <a:bodyPr/>
                    <a:lstStyle/>
                    <a:p>
                      <a:r>
                        <a:rPr sz="1050" b="0">
                          <a:solidFill>
                            <a:srgbClr val="2B2F36"/>
                          </a:solidFill>
                          <a:latin typeface="Noto Sans SC"/>
                          <a:ea typeface="Noto Sans SC"/>
                          <a:cs typeface="Noto Sans SC"/>
                        </a:rPr>
                        <a:t>22</a:t>
                      </a:r>
                    </a:p>
                  </a:txBody>
                  <a:tcPr>
                    <a:lnL w="9525">
                      <a:solidFill>
                        <a:srgbClr val="DCE1E8"/>
                      </a:solidFill>
                      <a:prstDash val="soli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050" b="0">
                          <a:solidFill>
                            <a:srgbClr val="2B2F36"/>
                          </a:solidFill>
                          <a:latin typeface="Noto Sans SC"/>
                          <a:ea typeface="Noto Sans SC"/>
                          <a:cs typeface="Noto Sans SC"/>
                        </a:rPr>
                        <a:t>查看 CAD 模型树</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050" b="0" dirty="0">
                          <a:solidFill>
                            <a:srgbClr val="2B2F36"/>
                          </a:solidFill>
                          <a:latin typeface="Noto Sans SC"/>
                          <a:ea typeface="Noto Sans SC"/>
                          <a:cs typeface="Noto Sans SC"/>
                        </a:rPr>
                        <a:t>3</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extLst>
                  <a:ext uri="{0D108BD9-81ED-4DB2-BD59-A6C34878D82A}">
                    <a16:rowId xmlns:a16="http://schemas.microsoft.com/office/drawing/2014/main" val="10016"/>
                  </a:ext>
                </a:extLst>
              </a:tr>
              <a:tr h="244290">
                <a:tc>
                  <a:txBody>
                    <a:bodyPr/>
                    <a:lstStyle/>
                    <a:p>
                      <a:r>
                        <a:rPr sz="1050" b="0">
                          <a:solidFill>
                            <a:srgbClr val="2B2F36"/>
                          </a:solidFill>
                          <a:latin typeface="Noto Sans SC"/>
                          <a:ea typeface="Noto Sans SC"/>
                          <a:cs typeface="Noto Sans SC"/>
                        </a:rPr>
                        <a:t>23</a:t>
                      </a:r>
                    </a:p>
                  </a:txBody>
                  <a:tcPr>
                    <a:lnL w="9525">
                      <a:solidFill>
                        <a:srgbClr val="DCE1E8"/>
                      </a:solidFill>
                      <a:prstDash val="soli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050" b="0">
                          <a:solidFill>
                            <a:srgbClr val="2B2F36"/>
                          </a:solidFill>
                          <a:latin typeface="Noto Sans SC"/>
                          <a:ea typeface="Noto Sans SC"/>
                          <a:cs typeface="Noto Sans SC"/>
                        </a:rPr>
                        <a:t>导出 STEP / STL / GLB 文件</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050" b="0" dirty="0">
                          <a:solidFill>
                            <a:srgbClr val="2B2F36"/>
                          </a:solidFill>
                          <a:latin typeface="Noto Sans SC"/>
                          <a:ea typeface="Noto Sans SC"/>
                          <a:cs typeface="Noto Sans SC"/>
                        </a:rPr>
                        <a:t>5</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extLst>
                  <a:ext uri="{0D108BD9-81ED-4DB2-BD59-A6C34878D82A}">
                    <a16:rowId xmlns:a16="http://schemas.microsoft.com/office/drawing/2014/main" val="10017"/>
                  </a:ext>
                </a:extLst>
              </a:tr>
            </a:tbl>
          </a:graphicData>
        </a:graphic>
      </p:graphicFrame>
      <p:sp>
        <p:nvSpPr>
          <p:cNvPr id="7" name="矩形 6">
            <a:extLst>
              <a:ext uri="{FF2B5EF4-FFF2-40B4-BE49-F238E27FC236}">
                <a16:creationId xmlns:a16="http://schemas.microsoft.com/office/drawing/2014/main" id="{ACC9F71F-DF91-4779-A671-893599A2A161}"/>
              </a:ext>
            </a:extLst>
          </p:cNvPr>
          <p:cNvSpPr>
            <a:spLocks noGrp="1"/>
          </p:cNvSpPr>
          <p:nvPr/>
        </p:nvSpPr>
        <p:spPr>
          <a:xfrm>
            <a:off x="1016032" y="6121908"/>
            <a:ext cx="5715000" cy="228600"/>
          </a:xfrm>
          <a:prstGeom prst="rect">
            <a:avLst/>
          </a:prstGeom>
          <a:noFill/>
          <a:ln w="0">
            <a:noFill/>
            <a:prstDash val="solid"/>
          </a:ln>
        </p:spPr>
        <p:txBody>
          <a:bodyPr/>
          <a:lstStyle>
            <a:defPPr algn="l">
              <a:defRPr sz="1125" b="0">
                <a:solidFill>
                  <a:srgbClr val="5A6473"/>
                </a:solidFill>
                <a:latin typeface="Noto Sans SC"/>
                <a:ea typeface="Noto Sans SC"/>
                <a:cs typeface="Noto Sans SC"/>
              </a:defRPr>
            </a:defPPr>
          </a:lstStyle>
          <a:p>
            <a:pPr algn="l">
              <a:defRPr sz="1125" b="0">
                <a:solidFill>
                  <a:srgbClr val="5A6473"/>
                </a:solidFill>
                <a:latin typeface="Noto Sans SC"/>
                <a:ea typeface="Noto Sans SC"/>
                <a:cs typeface="Noto Sans SC"/>
              </a:defRPr>
            </a:pPr>
            <a:r>
              <a:rPr sz="1400" b="0" dirty="0" err="1">
                <a:solidFill>
                  <a:srgbClr val="5A6473"/>
                </a:solidFill>
                <a:latin typeface="Noto Sans SC"/>
                <a:ea typeface="Noto Sans SC"/>
                <a:cs typeface="Noto Sans SC"/>
              </a:rPr>
              <a:t>后续重点展示任务</a:t>
            </a:r>
            <a:r>
              <a:rPr sz="1400" b="0" dirty="0">
                <a:solidFill>
                  <a:srgbClr val="5A6473"/>
                </a:solidFill>
                <a:latin typeface="Noto Sans SC"/>
                <a:ea typeface="Noto Sans SC"/>
                <a:cs typeface="Noto Sans SC"/>
              </a:rPr>
              <a:t> </a:t>
            </a:r>
            <a:r>
              <a:rPr lang="en-US" sz="1400" b="0" dirty="0">
                <a:solidFill>
                  <a:srgbClr val="5A6473"/>
                </a:solidFill>
                <a:latin typeface="Noto Sans SC"/>
                <a:ea typeface="Noto Sans SC"/>
                <a:cs typeface="Noto Sans SC"/>
              </a:rPr>
              <a:t>4</a:t>
            </a:r>
            <a:r>
              <a:rPr lang="zh-CN" altLang="en-US" sz="1400" b="0" dirty="0">
                <a:solidFill>
                  <a:srgbClr val="5A6473"/>
                </a:solidFill>
                <a:latin typeface="Noto Sans SC"/>
                <a:ea typeface="Noto Sans SC"/>
                <a:cs typeface="Noto Sans SC"/>
              </a:rPr>
              <a:t>、</a:t>
            </a:r>
            <a:r>
              <a:rPr sz="1400" b="0" dirty="0">
                <a:solidFill>
                  <a:srgbClr val="5A6473"/>
                </a:solidFill>
                <a:latin typeface="Noto Sans SC"/>
                <a:ea typeface="Noto Sans SC"/>
                <a:cs typeface="Noto Sans SC"/>
              </a:rPr>
              <a:t>8、9、10。</a:t>
            </a:r>
          </a:p>
        </p:txBody>
      </p:sp>
    </p:spTree>
    <p:extLst>
      <p:ext uri="{BB962C8B-B14F-4D97-AF65-F5344CB8AC3E}">
        <p14:creationId xmlns:p14="http://schemas.microsoft.com/office/powerpoint/2010/main" val="20526330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2F425A29-5E96-4C07-BFBF-27C8359B5196}"/>
              </a:ext>
            </a:extLst>
          </p:cNvPr>
          <p:cNvSpPr>
            <a:spLocks noGrp="1"/>
          </p:cNvSpPr>
          <p:nvPr/>
        </p:nvSpPr>
        <p:spPr>
          <a:xfrm>
            <a:off x="1016032" y="711232"/>
            <a:ext cx="7620000" cy="266700"/>
          </a:xfrm>
          <a:prstGeom prst="rect">
            <a:avLst/>
          </a:prstGeom>
          <a:noFill/>
          <a:ln w="0">
            <a:noFill/>
            <a:prstDash val="solid"/>
          </a:ln>
        </p:spPr>
        <p:txBody>
          <a:bodyPr/>
          <a:lstStyle>
            <a:defPPr algn="l">
              <a:defRPr sz="1300" b="1">
                <a:solidFill>
                  <a:srgbClr val="ED7D31"/>
                </a:solidFill>
                <a:latin typeface="Noto Sans SC"/>
                <a:ea typeface="Noto Sans SC"/>
                <a:cs typeface="Noto Sans SC"/>
              </a:defRPr>
            </a:defPPr>
          </a:lstStyle>
          <a:p>
            <a:pPr algn="l">
              <a:defRPr sz="1300" b="1">
                <a:solidFill>
                  <a:srgbClr val="ED7D31"/>
                </a:solidFill>
                <a:latin typeface="Noto Sans SC"/>
                <a:ea typeface="Noto Sans SC"/>
                <a:cs typeface="Noto Sans SC"/>
              </a:defRPr>
            </a:pPr>
            <a:r>
              <a:rPr sz="1300" b="1">
                <a:solidFill>
                  <a:srgbClr val="ED7D31"/>
                </a:solidFill>
                <a:latin typeface="Noto Sans SC"/>
                <a:ea typeface="Noto Sans SC"/>
                <a:cs typeface="Noto Sans SC"/>
              </a:rPr>
              <a:t>TASK 4 · 单视角部署</a:t>
            </a:r>
          </a:p>
        </p:txBody>
      </p:sp>
      <p:sp>
        <p:nvSpPr>
          <p:cNvPr id="2" name="矩形 1">
            <a:extLst>
              <a:ext uri="{FF2B5EF4-FFF2-40B4-BE49-F238E27FC236}">
                <a16:creationId xmlns:a16="http://schemas.microsoft.com/office/drawing/2014/main" id="{64F46611-1A49-4D9D-BB33-0F93F0B5F4D4}"/>
              </a:ext>
            </a:extLst>
          </p:cNvPr>
          <p:cNvSpPr>
            <a:spLocks noGrp="1"/>
          </p:cNvSpPr>
          <p:nvPr/>
        </p:nvSpPr>
        <p:spPr>
          <a:xfrm>
            <a:off x="1016032" y="1092232"/>
            <a:ext cx="10160032" cy="590550"/>
          </a:xfrm>
          <a:prstGeom prst="rect">
            <a:avLst/>
          </a:prstGeom>
          <a:noFill/>
          <a:ln w="0">
            <a:noFill/>
            <a:prstDash val="solid"/>
          </a:ln>
        </p:spPr>
        <p:txBody>
          <a:bodyPr/>
          <a:lstStyle>
            <a:defPPr algn="l">
              <a:defRPr sz="2550" b="1">
                <a:solidFill>
                  <a:srgbClr val="2B2F36"/>
                </a:solidFill>
                <a:latin typeface="Noto Sans SC"/>
                <a:ea typeface="Noto Sans SC"/>
                <a:cs typeface="Noto Sans SC"/>
              </a:defRPr>
            </a:defPPr>
          </a:lstStyle>
          <a:p>
            <a:pPr algn="l">
              <a:defRPr sz="2550" b="1">
                <a:solidFill>
                  <a:srgbClr val="2B2F36"/>
                </a:solidFill>
                <a:latin typeface="Noto Sans SC"/>
                <a:ea typeface="Noto Sans SC"/>
                <a:cs typeface="Noto Sans SC"/>
              </a:defRPr>
            </a:pPr>
            <a:r>
              <a:rPr sz="2550" b="1">
                <a:solidFill>
                  <a:srgbClr val="2B2F36"/>
                </a:solidFill>
                <a:latin typeface="Noto Sans SC"/>
                <a:ea typeface="Noto Sans SC"/>
                <a:cs typeface="Noto Sans SC"/>
              </a:rPr>
              <a:t>任务4 部署单视角图像生成 CAD 模型</a:t>
            </a:r>
          </a:p>
        </p:txBody>
      </p:sp>
      <p:sp>
        <p:nvSpPr>
          <p:cNvPr id="3" name="矩形 2">
            <a:extLst>
              <a:ext uri="{FF2B5EF4-FFF2-40B4-BE49-F238E27FC236}">
                <a16:creationId xmlns:a16="http://schemas.microsoft.com/office/drawing/2014/main" id="{D75312F5-F290-46EC-859F-4B89AC48DE01}"/>
              </a:ext>
            </a:extLst>
          </p:cNvPr>
          <p:cNvSpPr>
            <a:spLocks noGrp="1"/>
          </p:cNvSpPr>
          <p:nvPr/>
        </p:nvSpPr>
        <p:spPr>
          <a:xfrm>
            <a:off x="1016032" y="2025682"/>
            <a:ext cx="10160032" cy="12668"/>
          </a:xfrm>
          <a:prstGeom prst="rect">
            <a:avLst/>
          </a:prstGeom>
          <a:solidFill>
            <a:srgbClr val="DCE1E8"/>
          </a:solidFill>
          <a:ln w="0">
            <a:solidFill>
              <a:srgbClr val="DCE1E8"/>
            </a:solidFill>
            <a:prstDash val="solid"/>
          </a:ln>
        </p:spPr>
      </p:sp>
      <p:sp>
        <p:nvSpPr>
          <p:cNvPr id="4" name="矩形 3">
            <a:extLst>
              <a:ext uri="{FF2B5EF4-FFF2-40B4-BE49-F238E27FC236}">
                <a16:creationId xmlns:a16="http://schemas.microsoft.com/office/drawing/2014/main" id="{7400416E-E44C-4824-83B1-2AB33D478A10}"/>
              </a:ext>
            </a:extLst>
          </p:cNvPr>
          <p:cNvSpPr>
            <a:spLocks noGrp="1"/>
          </p:cNvSpPr>
          <p:nvPr/>
        </p:nvSpPr>
        <p:spPr>
          <a:xfrm>
            <a:off x="1016032" y="6350032"/>
            <a:ext cx="6667500" cy="266700"/>
          </a:xfrm>
          <a:prstGeom prst="rect">
            <a:avLst/>
          </a:prstGeom>
          <a:noFill/>
          <a:ln w="0">
            <a:noFill/>
            <a:prstDash val="solid"/>
          </a:ln>
        </p:spPr>
        <p:txBody>
          <a:bodyPr/>
          <a:lstStyle>
            <a:defPPr algn="l">
              <a:defRPr sz="1100" b="0">
                <a:solidFill>
                  <a:srgbClr val="A0A8B4"/>
                </a:solidFill>
                <a:latin typeface="Noto Sans SC"/>
                <a:ea typeface="Noto Sans SC"/>
                <a:cs typeface="Noto Sans SC"/>
              </a:defRPr>
            </a:defPPr>
          </a:lstStyle>
          <a:p>
            <a:pPr algn="l">
              <a:defRPr sz="1100" b="0">
                <a:solidFill>
                  <a:srgbClr val="A0A8B4"/>
                </a:solidFill>
                <a:latin typeface="Noto Sans SC"/>
                <a:ea typeface="Noto Sans SC"/>
                <a:cs typeface="Noto Sans SC"/>
              </a:defRPr>
            </a:pPr>
            <a:r>
              <a:rPr sz="1100" b="0">
                <a:solidFill>
                  <a:srgbClr val="A0A8B4"/>
                </a:solidFill>
                <a:latin typeface="Noto Sans SC"/>
                <a:ea typeface="Noto Sans SC"/>
                <a:cs typeface="Noto Sans SC"/>
              </a:rPr>
              <a:t>SimpleCADforDSH ｜ 讨论四 · 规划扑克估算</a:t>
            </a:r>
          </a:p>
        </p:txBody>
      </p:sp>
      <p:sp>
        <p:nvSpPr>
          <p:cNvPr id="6" name="矩形: 圆角 5">
            <a:extLst>
              <a:ext uri="{FF2B5EF4-FFF2-40B4-BE49-F238E27FC236}">
                <a16:creationId xmlns:a16="http://schemas.microsoft.com/office/drawing/2014/main" id="{49CE4210-5939-409D-B8DE-3255D60BE04B}"/>
              </a:ext>
            </a:extLst>
          </p:cNvPr>
          <p:cNvSpPr>
            <a:spLocks noGrp="1"/>
          </p:cNvSpPr>
          <p:nvPr/>
        </p:nvSpPr>
        <p:spPr>
          <a:xfrm>
            <a:off x="1016032" y="2276475"/>
            <a:ext cx="10160032" cy="914400"/>
          </a:xfrm>
          <a:prstGeom prst="roundRect">
            <a:avLst>
              <a:gd name="adj" fmla="val 8333"/>
            </a:avLst>
          </a:prstGeom>
          <a:solidFill>
            <a:srgbClr val="F5F7FA"/>
          </a:solidFill>
          <a:ln w="0">
            <a:solidFill>
              <a:srgbClr val="DCE1E8"/>
            </a:solidFill>
            <a:prstDash val="solid"/>
          </a:ln>
        </p:spPr>
        <p:txBody>
          <a:bodyPr/>
          <a:lstStyle>
            <a:defPPr algn="l">
              <a:defRPr sz="1163" b="0">
                <a:solidFill>
                  <a:srgbClr val="2B2F36"/>
                </a:solidFill>
                <a:latin typeface="Noto Sans SC"/>
                <a:ea typeface="Noto Sans SC"/>
                <a:cs typeface="Noto Sans SC"/>
              </a:defRPr>
            </a:defPPr>
          </a:lstStyle>
          <a:p>
            <a:pPr algn="l">
              <a:defRPr sz="1163" b="0">
                <a:solidFill>
                  <a:srgbClr val="2B2F36"/>
                </a:solidFill>
                <a:latin typeface="Noto Sans SC"/>
                <a:ea typeface="Noto Sans SC"/>
                <a:cs typeface="Noto Sans SC"/>
              </a:defRPr>
            </a:pPr>
            <a:r>
              <a:rPr sz="1600" b="0" dirty="0" err="1">
                <a:solidFill>
                  <a:srgbClr val="2B2F36"/>
                </a:solidFill>
                <a:latin typeface="Noto Sans SC"/>
                <a:ea typeface="Noto Sans SC"/>
                <a:cs typeface="Noto Sans SC"/>
              </a:rPr>
              <a:t>任务说明</a:t>
            </a:r>
            <a:endParaRPr sz="1600" b="0" dirty="0">
              <a:solidFill>
                <a:srgbClr val="2B2F36"/>
              </a:solidFill>
              <a:latin typeface="Noto Sans SC"/>
              <a:ea typeface="Noto Sans SC"/>
              <a:cs typeface="Noto Sans SC"/>
            </a:endParaRPr>
          </a:p>
          <a:p>
            <a:pPr algn="l">
              <a:defRPr sz="1163" b="0">
                <a:solidFill>
                  <a:srgbClr val="2B2F36"/>
                </a:solidFill>
                <a:latin typeface="Noto Sans SC"/>
                <a:ea typeface="Noto Sans SC"/>
                <a:cs typeface="Noto Sans SC"/>
              </a:defRPr>
            </a:pPr>
            <a:r>
              <a:rPr sz="1600" b="0" dirty="0" err="1">
                <a:solidFill>
                  <a:srgbClr val="2B2F36"/>
                </a:solidFill>
                <a:latin typeface="Noto Sans SC"/>
                <a:ea typeface="Noto Sans SC"/>
                <a:cs typeface="Noto Sans SC"/>
              </a:rPr>
              <a:t>采用开源模型代码与权重，完成单视角图像生成</a:t>
            </a:r>
            <a:r>
              <a:rPr sz="1600" b="0" dirty="0">
                <a:solidFill>
                  <a:srgbClr val="2B2F36"/>
                </a:solidFill>
                <a:latin typeface="Noto Sans SC"/>
                <a:ea typeface="Noto Sans SC"/>
                <a:cs typeface="Noto Sans SC"/>
              </a:rPr>
              <a:t> CAD </a:t>
            </a:r>
            <a:r>
              <a:rPr sz="1600" b="0" dirty="0" err="1">
                <a:solidFill>
                  <a:srgbClr val="2B2F36"/>
                </a:solidFill>
                <a:latin typeface="Noto Sans SC"/>
                <a:ea typeface="Noto Sans SC"/>
                <a:cs typeface="Noto Sans SC"/>
              </a:rPr>
              <a:t>的部署和推理接入</a:t>
            </a:r>
            <a:r>
              <a:rPr sz="1600" b="0" dirty="0">
                <a:solidFill>
                  <a:srgbClr val="2B2F36"/>
                </a:solidFill>
                <a:latin typeface="Noto Sans SC"/>
                <a:ea typeface="Noto Sans SC"/>
                <a:cs typeface="Noto Sans SC"/>
              </a:rPr>
              <a:t>。</a:t>
            </a:r>
          </a:p>
        </p:txBody>
      </p:sp>
      <p:graphicFrame>
        <p:nvGraphicFramePr>
          <p:cNvPr id="7" name="表格 6">
            <a:extLst>
              <a:ext uri="{FF2B5EF4-FFF2-40B4-BE49-F238E27FC236}">
                <a16:creationId xmlns:a16="http://schemas.microsoft.com/office/drawing/2014/main" id="{CB45B422-B9B2-478F-9C7A-59F13725402C}"/>
              </a:ext>
            </a:extLst>
          </p:cNvPr>
          <p:cNvGraphicFramePr/>
          <p:nvPr>
            <p:extLst>
              <p:ext uri="{D42A27DB-BD31-4B8C-83A1-F6EECF244321}">
                <p14:modId xmlns:p14="http://schemas.microsoft.com/office/powerpoint/2010/main" val="1964777425"/>
              </p:ext>
            </p:extLst>
          </p:nvPr>
        </p:nvGraphicFramePr>
        <p:xfrm>
          <a:off x="1016032" y="3332512"/>
          <a:ext cx="10160032" cy="3017520"/>
        </p:xfrm>
        <a:graphic>
          <a:graphicData uri="http://schemas.openxmlformats.org/drawingml/2006/table">
            <a:tbl>
              <a:tblPr firstRow="1" bandRow="1"/>
              <a:tblGrid>
                <a:gridCol w="2540008">
                  <a:extLst>
                    <a:ext uri="{9D8B030D-6E8A-4147-A177-3AD203B41FA5}">
                      <a16:colId xmlns:a16="http://schemas.microsoft.com/office/drawing/2014/main" val="20000"/>
                    </a:ext>
                  </a:extLst>
                </a:gridCol>
                <a:gridCol w="2540008">
                  <a:extLst>
                    <a:ext uri="{9D8B030D-6E8A-4147-A177-3AD203B41FA5}">
                      <a16:colId xmlns:a16="http://schemas.microsoft.com/office/drawing/2014/main" val="20001"/>
                    </a:ext>
                  </a:extLst>
                </a:gridCol>
                <a:gridCol w="2540008">
                  <a:extLst>
                    <a:ext uri="{9D8B030D-6E8A-4147-A177-3AD203B41FA5}">
                      <a16:colId xmlns:a16="http://schemas.microsoft.com/office/drawing/2014/main" val="20002"/>
                    </a:ext>
                  </a:extLst>
                </a:gridCol>
                <a:gridCol w="2540008">
                  <a:extLst>
                    <a:ext uri="{9D8B030D-6E8A-4147-A177-3AD203B41FA5}">
                      <a16:colId xmlns:a16="http://schemas.microsoft.com/office/drawing/2014/main" val="20003"/>
                    </a:ext>
                  </a:extLst>
                </a:gridCol>
              </a:tblGrid>
              <a:tr h="328792">
                <a:tc>
                  <a:txBody>
                    <a:bodyPr/>
                    <a:lstStyle/>
                    <a:p>
                      <a:r>
                        <a:rPr sz="1600" b="1">
                          <a:solidFill>
                            <a:srgbClr val="FFFFFF"/>
                          </a:solidFill>
                          <a:latin typeface="Noto Sans SC"/>
                          <a:ea typeface="Noto Sans SC"/>
                          <a:cs typeface="Noto Sans SC"/>
                        </a:rPr>
                        <a:t>成员</a:t>
                      </a:r>
                    </a:p>
                  </a:txBody>
                  <a:tcPr>
                    <a:lnL w="9525">
                      <a:solidFill>
                        <a:srgbClr val="DCE1E8"/>
                      </a:solidFill>
                      <a:prstDash val="solid"/>
                    </a:lnL>
                    <a:lnR w="9525">
                      <a:solidFill>
                        <a:srgbClr val="DCE1E8"/>
                      </a:solidFill>
                      <a:prstDash val="solid"/>
                    </a:lnR>
                    <a:lnT w="9525">
                      <a:solidFill>
                        <a:srgbClr val="DCE1E8"/>
                      </a:solidFill>
                      <a:prstDash val="solid"/>
                    </a:lnT>
                    <a:lnB w="9525">
                      <a:solidFill>
                        <a:srgbClr val="DCE1E8"/>
                      </a:solidFill>
                      <a:prstDash val="solid"/>
                    </a:lnB>
                    <a:solidFill>
                      <a:srgbClr val="4472C4"/>
                    </a:solidFill>
                  </a:tcPr>
                </a:tc>
                <a:tc>
                  <a:txBody>
                    <a:bodyPr/>
                    <a:lstStyle/>
                    <a:p>
                      <a:r>
                        <a:rPr sz="1600" b="1" dirty="0" err="1">
                          <a:solidFill>
                            <a:srgbClr val="FFFFFF"/>
                          </a:solidFill>
                          <a:latin typeface="Noto Sans SC"/>
                          <a:ea typeface="Noto Sans SC"/>
                          <a:cs typeface="Noto Sans SC"/>
                        </a:rPr>
                        <a:t>第一轮</a:t>
                      </a:r>
                      <a:endParaRPr sz="1600" b="1" dirty="0">
                        <a:solidFill>
                          <a:srgbClr val="FFFFFF"/>
                        </a:solidFill>
                        <a:latin typeface="Noto Sans SC"/>
                        <a:ea typeface="Noto Sans SC"/>
                        <a:cs typeface="Noto Sans SC"/>
                      </a:endParaRPr>
                    </a:p>
                  </a:txBody>
                  <a:tcPr>
                    <a:lnL w="9525" cap="flat" cmpd="sng" algn="ctr">
                      <a:solidFill>
                        <a:srgbClr val="DCE1E8"/>
                      </a:solidFill>
                      <a:prstDash val="solid"/>
                      <a:round/>
                      <a:headEnd type="none" w="med" len="med"/>
                      <a:tailEnd type="none" w="med" len="med"/>
                    </a:lnL>
                    <a:lnR w="9525">
                      <a:solidFill>
                        <a:srgbClr val="DCE1E8"/>
                      </a:solidFill>
                      <a:prstDash val="solid"/>
                    </a:lnR>
                    <a:lnT w="9525">
                      <a:solidFill>
                        <a:srgbClr val="DCE1E8"/>
                      </a:solidFill>
                      <a:prstDash val="solid"/>
                    </a:lnT>
                    <a:lnB w="9525">
                      <a:solidFill>
                        <a:srgbClr val="DCE1E8"/>
                      </a:solidFill>
                      <a:prstDash val="solid"/>
                    </a:lnB>
                    <a:solidFill>
                      <a:srgbClr val="4472C4"/>
                    </a:solidFill>
                  </a:tcPr>
                </a:tc>
                <a:tc>
                  <a:txBody>
                    <a:bodyPr/>
                    <a:lstStyle/>
                    <a:p>
                      <a:r>
                        <a:rPr sz="1600" b="1">
                          <a:solidFill>
                            <a:srgbClr val="FFFFFF"/>
                          </a:solidFill>
                          <a:latin typeface="Noto Sans SC"/>
                          <a:ea typeface="Noto Sans SC"/>
                          <a:cs typeface="Noto Sans SC"/>
                        </a:rPr>
                        <a:t>第二轮</a:t>
                      </a:r>
                    </a:p>
                  </a:txBody>
                  <a:tcPr>
                    <a:lnL w="9525" cap="flat" cmpd="sng" algn="ctr">
                      <a:solidFill>
                        <a:srgbClr val="DCE1E8"/>
                      </a:solidFill>
                      <a:prstDash val="solid"/>
                      <a:round/>
                      <a:headEnd type="none" w="med" len="med"/>
                      <a:tailEnd type="none" w="med" len="med"/>
                    </a:lnL>
                    <a:lnR w="9525">
                      <a:solidFill>
                        <a:srgbClr val="DCE1E8"/>
                      </a:solidFill>
                      <a:prstDash val="solid"/>
                    </a:lnR>
                    <a:lnT w="9525">
                      <a:solidFill>
                        <a:srgbClr val="DCE1E8"/>
                      </a:solidFill>
                      <a:prstDash val="solid"/>
                    </a:lnT>
                    <a:lnB w="9525">
                      <a:solidFill>
                        <a:srgbClr val="DCE1E8"/>
                      </a:solidFill>
                      <a:prstDash val="solid"/>
                    </a:lnB>
                    <a:solidFill>
                      <a:srgbClr val="4472C4"/>
                    </a:solidFill>
                  </a:tcPr>
                </a:tc>
                <a:tc>
                  <a:txBody>
                    <a:bodyPr/>
                    <a:lstStyle/>
                    <a:p>
                      <a:r>
                        <a:rPr sz="1600" b="1">
                          <a:solidFill>
                            <a:srgbClr val="FFFFFF"/>
                          </a:solidFill>
                          <a:latin typeface="Noto Sans SC"/>
                          <a:ea typeface="Noto Sans SC"/>
                          <a:cs typeface="Noto Sans SC"/>
                        </a:rPr>
                        <a:t>第三轮</a:t>
                      </a:r>
                    </a:p>
                  </a:txBody>
                  <a:tcPr>
                    <a:lnL w="9525" cap="flat" cmpd="sng" algn="ctr">
                      <a:solidFill>
                        <a:srgbClr val="DCE1E8"/>
                      </a:solidFill>
                      <a:prstDash val="solid"/>
                      <a:round/>
                      <a:headEnd type="none" w="med" len="med"/>
                      <a:tailEnd type="none" w="med" len="med"/>
                    </a:lnL>
                    <a:lnR w="9525">
                      <a:solidFill>
                        <a:srgbClr val="DCE1E8"/>
                      </a:solidFill>
                      <a:prstDash val="solid"/>
                    </a:lnR>
                    <a:lnT w="9525">
                      <a:solidFill>
                        <a:srgbClr val="DCE1E8"/>
                      </a:solidFill>
                      <a:prstDash val="solid"/>
                    </a:lnT>
                    <a:lnB w="9525">
                      <a:solidFill>
                        <a:srgbClr val="DCE1E8"/>
                      </a:solidFill>
                      <a:prstDash val="solid"/>
                    </a:lnB>
                    <a:solidFill>
                      <a:srgbClr val="4472C4"/>
                    </a:solidFill>
                  </a:tcPr>
                </a:tc>
                <a:extLst>
                  <a:ext uri="{0D108BD9-81ED-4DB2-BD59-A6C34878D82A}">
                    <a16:rowId xmlns:a16="http://schemas.microsoft.com/office/drawing/2014/main" val="10000"/>
                  </a:ext>
                </a:extLst>
              </a:tr>
              <a:tr h="328792">
                <a:tc>
                  <a:txBody>
                    <a:bodyPr/>
                    <a:lstStyle/>
                    <a:p>
                      <a:r>
                        <a:rPr sz="1600" b="0">
                          <a:solidFill>
                            <a:srgbClr val="2B2F36"/>
                          </a:solidFill>
                          <a:latin typeface="Noto Sans SC"/>
                          <a:ea typeface="Noto Sans SC"/>
                          <a:cs typeface="Noto Sans SC"/>
                        </a:rPr>
                        <a:t>许祖嘉</a:t>
                      </a:r>
                    </a:p>
                  </a:txBody>
                  <a:tcPr>
                    <a:lnL w="9525">
                      <a:solidFill>
                        <a:srgbClr val="DCE1E8"/>
                      </a:solidFill>
                      <a:prstDash val="soli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600" b="0" dirty="0">
                          <a:solidFill>
                            <a:srgbClr val="2B2F36"/>
                          </a:solidFill>
                          <a:latin typeface="Noto Sans SC"/>
                          <a:ea typeface="Noto Sans SC"/>
                          <a:cs typeface="Noto Sans SC"/>
                        </a:rPr>
                        <a:t>13</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600" b="0">
                          <a:solidFill>
                            <a:srgbClr val="2B2F36"/>
                          </a:solidFill>
                          <a:latin typeface="Noto Sans SC"/>
                          <a:ea typeface="Noto Sans SC"/>
                          <a:cs typeface="Noto Sans SC"/>
                        </a:rPr>
                        <a:t>8</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600" b="0">
                          <a:solidFill>
                            <a:srgbClr val="2B2F36"/>
                          </a:solidFill>
                          <a:latin typeface="Noto Sans SC"/>
                          <a:ea typeface="Noto Sans SC"/>
                          <a:cs typeface="Noto Sans SC"/>
                        </a:rPr>
                        <a:t>8</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extLst>
                  <a:ext uri="{0D108BD9-81ED-4DB2-BD59-A6C34878D82A}">
                    <a16:rowId xmlns:a16="http://schemas.microsoft.com/office/drawing/2014/main" val="10001"/>
                  </a:ext>
                </a:extLst>
              </a:tr>
              <a:tr h="328792">
                <a:tc>
                  <a:txBody>
                    <a:bodyPr/>
                    <a:lstStyle/>
                    <a:p>
                      <a:r>
                        <a:rPr sz="1600" b="0">
                          <a:solidFill>
                            <a:srgbClr val="2B2F36"/>
                          </a:solidFill>
                          <a:latin typeface="Noto Sans SC"/>
                          <a:ea typeface="Noto Sans SC"/>
                          <a:cs typeface="Noto Sans SC"/>
                        </a:rPr>
                        <a:t>李健博</a:t>
                      </a:r>
                    </a:p>
                  </a:txBody>
                  <a:tcPr>
                    <a:lnL w="9525">
                      <a:solidFill>
                        <a:srgbClr val="DCE1E8"/>
                      </a:solidFill>
                      <a:prstDash val="soli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600" b="0">
                          <a:solidFill>
                            <a:srgbClr val="2B2F36"/>
                          </a:solidFill>
                          <a:latin typeface="Noto Sans SC"/>
                          <a:ea typeface="Noto Sans SC"/>
                          <a:cs typeface="Noto Sans SC"/>
                        </a:rPr>
                        <a:t>8</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600" b="0">
                          <a:solidFill>
                            <a:srgbClr val="2B2F36"/>
                          </a:solidFill>
                          <a:latin typeface="Noto Sans SC"/>
                          <a:ea typeface="Noto Sans SC"/>
                          <a:cs typeface="Noto Sans SC"/>
                        </a:rPr>
                        <a:t>5</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600" b="0">
                          <a:solidFill>
                            <a:srgbClr val="2B2F36"/>
                          </a:solidFill>
                          <a:latin typeface="Noto Sans SC"/>
                          <a:ea typeface="Noto Sans SC"/>
                          <a:cs typeface="Noto Sans SC"/>
                        </a:rPr>
                        <a:t>8</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extLst>
                  <a:ext uri="{0D108BD9-81ED-4DB2-BD59-A6C34878D82A}">
                    <a16:rowId xmlns:a16="http://schemas.microsoft.com/office/drawing/2014/main" val="10002"/>
                  </a:ext>
                </a:extLst>
              </a:tr>
              <a:tr h="328792">
                <a:tc>
                  <a:txBody>
                    <a:bodyPr/>
                    <a:lstStyle/>
                    <a:p>
                      <a:r>
                        <a:rPr sz="1600" b="0">
                          <a:solidFill>
                            <a:srgbClr val="2B2F36"/>
                          </a:solidFill>
                          <a:latin typeface="Noto Sans SC"/>
                          <a:ea typeface="Noto Sans SC"/>
                          <a:cs typeface="Noto Sans SC"/>
                        </a:rPr>
                        <a:t>常诚</a:t>
                      </a:r>
                    </a:p>
                  </a:txBody>
                  <a:tcPr>
                    <a:lnL w="9525">
                      <a:solidFill>
                        <a:srgbClr val="DCE1E8"/>
                      </a:solidFill>
                      <a:prstDash val="soli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600" b="0">
                          <a:solidFill>
                            <a:srgbClr val="2B2F36"/>
                          </a:solidFill>
                          <a:latin typeface="Noto Sans SC"/>
                          <a:ea typeface="Noto Sans SC"/>
                          <a:cs typeface="Noto Sans SC"/>
                        </a:rPr>
                        <a:t>13</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600" b="0">
                          <a:solidFill>
                            <a:srgbClr val="2B2F36"/>
                          </a:solidFill>
                          <a:latin typeface="Noto Sans SC"/>
                          <a:ea typeface="Noto Sans SC"/>
                          <a:cs typeface="Noto Sans SC"/>
                        </a:rPr>
                        <a:t>8</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600" b="0">
                          <a:solidFill>
                            <a:srgbClr val="2B2F36"/>
                          </a:solidFill>
                          <a:latin typeface="Noto Sans SC"/>
                          <a:ea typeface="Noto Sans SC"/>
                          <a:cs typeface="Noto Sans SC"/>
                        </a:rPr>
                        <a:t>8</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extLst>
                  <a:ext uri="{0D108BD9-81ED-4DB2-BD59-A6C34878D82A}">
                    <a16:rowId xmlns:a16="http://schemas.microsoft.com/office/drawing/2014/main" val="10003"/>
                  </a:ext>
                </a:extLst>
              </a:tr>
              <a:tr h="328792">
                <a:tc>
                  <a:txBody>
                    <a:bodyPr/>
                    <a:lstStyle/>
                    <a:p>
                      <a:r>
                        <a:rPr sz="1600" b="0">
                          <a:solidFill>
                            <a:srgbClr val="2B2F36"/>
                          </a:solidFill>
                          <a:latin typeface="Noto Sans SC"/>
                          <a:ea typeface="Noto Sans SC"/>
                          <a:cs typeface="Noto Sans SC"/>
                        </a:rPr>
                        <a:t>刘子轩</a:t>
                      </a:r>
                    </a:p>
                  </a:txBody>
                  <a:tcPr>
                    <a:lnL w="9525">
                      <a:solidFill>
                        <a:srgbClr val="DCE1E8"/>
                      </a:solidFill>
                      <a:prstDash val="soli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600" b="0" dirty="0">
                          <a:solidFill>
                            <a:srgbClr val="2B2F36"/>
                          </a:solidFill>
                          <a:latin typeface="Noto Sans SC"/>
                          <a:ea typeface="Noto Sans SC"/>
                          <a:cs typeface="Noto Sans SC"/>
                        </a:rPr>
                        <a:t>8</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600" b="0">
                          <a:solidFill>
                            <a:srgbClr val="2B2F36"/>
                          </a:solidFill>
                          <a:latin typeface="Noto Sans SC"/>
                          <a:ea typeface="Noto Sans SC"/>
                          <a:cs typeface="Noto Sans SC"/>
                        </a:rPr>
                        <a:t>5</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600" b="0">
                          <a:solidFill>
                            <a:srgbClr val="2B2F36"/>
                          </a:solidFill>
                          <a:latin typeface="Noto Sans SC"/>
                          <a:ea typeface="Noto Sans SC"/>
                          <a:cs typeface="Noto Sans SC"/>
                        </a:rPr>
                        <a:t>8</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extLst>
                  <a:ext uri="{0D108BD9-81ED-4DB2-BD59-A6C34878D82A}">
                    <a16:rowId xmlns:a16="http://schemas.microsoft.com/office/drawing/2014/main" val="10004"/>
                  </a:ext>
                </a:extLst>
              </a:tr>
              <a:tr h="328792">
                <a:tc>
                  <a:txBody>
                    <a:bodyPr/>
                    <a:lstStyle/>
                    <a:p>
                      <a:r>
                        <a:rPr sz="1600" b="0">
                          <a:solidFill>
                            <a:srgbClr val="2B2F36"/>
                          </a:solidFill>
                          <a:latin typeface="Noto Sans SC"/>
                          <a:ea typeface="Noto Sans SC"/>
                          <a:cs typeface="Noto Sans SC"/>
                        </a:rPr>
                        <a:t>侯永森</a:t>
                      </a:r>
                    </a:p>
                  </a:txBody>
                  <a:tcPr>
                    <a:lnL w="9525">
                      <a:solidFill>
                        <a:srgbClr val="DCE1E8"/>
                      </a:solidFill>
                      <a:prstDash val="soli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600" b="0">
                          <a:solidFill>
                            <a:srgbClr val="2B2F36"/>
                          </a:solidFill>
                          <a:latin typeface="Noto Sans SC"/>
                          <a:ea typeface="Noto Sans SC"/>
                          <a:cs typeface="Noto Sans SC"/>
                        </a:rPr>
                        <a:t>8</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600" b="0">
                          <a:solidFill>
                            <a:srgbClr val="2B2F36"/>
                          </a:solidFill>
                          <a:latin typeface="Noto Sans SC"/>
                          <a:ea typeface="Noto Sans SC"/>
                          <a:cs typeface="Noto Sans SC"/>
                        </a:rPr>
                        <a:t>5</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600" b="0">
                          <a:solidFill>
                            <a:srgbClr val="2B2F36"/>
                          </a:solidFill>
                          <a:latin typeface="Noto Sans SC"/>
                          <a:ea typeface="Noto Sans SC"/>
                          <a:cs typeface="Noto Sans SC"/>
                        </a:rPr>
                        <a:t>8</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extLst>
                  <a:ext uri="{0D108BD9-81ED-4DB2-BD59-A6C34878D82A}">
                    <a16:rowId xmlns:a16="http://schemas.microsoft.com/office/drawing/2014/main" val="10005"/>
                  </a:ext>
                </a:extLst>
              </a:tr>
              <a:tr h="328792">
                <a:tc>
                  <a:txBody>
                    <a:bodyPr/>
                    <a:lstStyle/>
                    <a:p>
                      <a:r>
                        <a:rPr sz="1600" b="0">
                          <a:solidFill>
                            <a:srgbClr val="2B2F36"/>
                          </a:solidFill>
                          <a:latin typeface="Noto Sans SC"/>
                          <a:ea typeface="Noto Sans SC"/>
                          <a:cs typeface="Noto Sans SC"/>
                        </a:rPr>
                        <a:t>庞佳泽</a:t>
                      </a:r>
                    </a:p>
                  </a:txBody>
                  <a:tcPr>
                    <a:lnL w="9525">
                      <a:solidFill>
                        <a:srgbClr val="DCE1E8"/>
                      </a:solidFill>
                      <a:prstDash val="soli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600" b="0" dirty="0">
                          <a:solidFill>
                            <a:srgbClr val="2B2F36"/>
                          </a:solidFill>
                          <a:latin typeface="Noto Sans SC"/>
                          <a:ea typeface="Noto Sans SC"/>
                          <a:cs typeface="Noto Sans SC"/>
                        </a:rPr>
                        <a:t>8</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600" b="0">
                          <a:solidFill>
                            <a:srgbClr val="2B2F36"/>
                          </a:solidFill>
                          <a:latin typeface="Noto Sans SC"/>
                          <a:ea typeface="Noto Sans SC"/>
                          <a:cs typeface="Noto Sans SC"/>
                        </a:rPr>
                        <a:t>5</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600" b="0">
                          <a:solidFill>
                            <a:srgbClr val="2B2F36"/>
                          </a:solidFill>
                          <a:latin typeface="Noto Sans SC"/>
                          <a:ea typeface="Noto Sans SC"/>
                          <a:cs typeface="Noto Sans SC"/>
                        </a:rPr>
                        <a:t>8</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extLst>
                  <a:ext uri="{0D108BD9-81ED-4DB2-BD59-A6C34878D82A}">
                    <a16:rowId xmlns:a16="http://schemas.microsoft.com/office/drawing/2014/main" val="10006"/>
                  </a:ext>
                </a:extLst>
              </a:tr>
              <a:tr h="328792">
                <a:tc>
                  <a:txBody>
                    <a:bodyPr/>
                    <a:lstStyle/>
                    <a:p>
                      <a:r>
                        <a:rPr sz="1600" b="0">
                          <a:solidFill>
                            <a:srgbClr val="2B2F36"/>
                          </a:solidFill>
                          <a:latin typeface="Noto Sans SC"/>
                          <a:ea typeface="Noto Sans SC"/>
                          <a:cs typeface="Noto Sans SC"/>
                        </a:rPr>
                        <a:t>余智皓</a:t>
                      </a:r>
                    </a:p>
                  </a:txBody>
                  <a:tcPr>
                    <a:lnL w="9525">
                      <a:solidFill>
                        <a:srgbClr val="DCE1E8"/>
                      </a:solidFill>
                      <a:prstDash val="soli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600" b="0">
                          <a:solidFill>
                            <a:srgbClr val="2B2F36"/>
                          </a:solidFill>
                          <a:latin typeface="Noto Sans SC"/>
                          <a:ea typeface="Noto Sans SC"/>
                          <a:cs typeface="Noto Sans SC"/>
                        </a:rPr>
                        <a:t>7</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600" b="0">
                          <a:solidFill>
                            <a:srgbClr val="2B2F36"/>
                          </a:solidFill>
                          <a:latin typeface="Noto Sans SC"/>
                          <a:ea typeface="Noto Sans SC"/>
                          <a:cs typeface="Noto Sans SC"/>
                        </a:rPr>
                        <a:t>5</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600" b="0">
                          <a:solidFill>
                            <a:srgbClr val="2B2F36"/>
                          </a:solidFill>
                          <a:latin typeface="Noto Sans SC"/>
                          <a:ea typeface="Noto Sans SC"/>
                          <a:cs typeface="Noto Sans SC"/>
                        </a:rPr>
                        <a:t>8</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extLst>
                  <a:ext uri="{0D108BD9-81ED-4DB2-BD59-A6C34878D82A}">
                    <a16:rowId xmlns:a16="http://schemas.microsoft.com/office/drawing/2014/main" val="10007"/>
                  </a:ext>
                </a:extLst>
              </a:tr>
              <a:tr h="328792">
                <a:tc>
                  <a:txBody>
                    <a:bodyPr/>
                    <a:lstStyle/>
                    <a:p>
                      <a:r>
                        <a:rPr sz="1600" b="0">
                          <a:solidFill>
                            <a:srgbClr val="2B2F36"/>
                          </a:solidFill>
                          <a:latin typeface="Noto Sans SC"/>
                          <a:ea typeface="Noto Sans SC"/>
                          <a:cs typeface="Noto Sans SC"/>
                        </a:rPr>
                        <a:t>严翊航</a:t>
                      </a:r>
                    </a:p>
                  </a:txBody>
                  <a:tcPr>
                    <a:lnL w="9525">
                      <a:solidFill>
                        <a:srgbClr val="DCE1E8"/>
                      </a:solidFill>
                      <a:prstDash val="soli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600" b="0" dirty="0">
                          <a:solidFill>
                            <a:srgbClr val="2B2F36"/>
                          </a:solidFill>
                          <a:latin typeface="Noto Sans SC"/>
                          <a:ea typeface="Noto Sans SC"/>
                          <a:cs typeface="Noto Sans SC"/>
                        </a:rPr>
                        <a:t>8</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600" b="0">
                          <a:solidFill>
                            <a:srgbClr val="2B2F36"/>
                          </a:solidFill>
                          <a:latin typeface="Noto Sans SC"/>
                          <a:ea typeface="Noto Sans SC"/>
                          <a:cs typeface="Noto Sans SC"/>
                        </a:rPr>
                        <a:t>5</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600" b="0" dirty="0">
                          <a:solidFill>
                            <a:srgbClr val="2B2F36"/>
                          </a:solidFill>
                          <a:latin typeface="Noto Sans SC"/>
                          <a:ea typeface="Noto Sans SC"/>
                          <a:cs typeface="Noto Sans SC"/>
                        </a:rPr>
                        <a:t>8</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8069604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2DF82B6F-C700-4576-A467-ED8E3F17B80D}"/>
              </a:ext>
            </a:extLst>
          </p:cNvPr>
          <p:cNvSpPr>
            <a:spLocks noGrp="1"/>
          </p:cNvSpPr>
          <p:nvPr/>
        </p:nvSpPr>
        <p:spPr>
          <a:xfrm>
            <a:off x="1016032" y="711232"/>
            <a:ext cx="7620000" cy="266700"/>
          </a:xfrm>
          <a:prstGeom prst="rect">
            <a:avLst/>
          </a:prstGeom>
          <a:noFill/>
          <a:ln w="0">
            <a:noFill/>
            <a:prstDash val="solid"/>
          </a:ln>
        </p:spPr>
        <p:txBody>
          <a:bodyPr/>
          <a:lstStyle>
            <a:defPPr algn="l">
              <a:defRPr sz="1300" b="1">
                <a:solidFill>
                  <a:srgbClr val="ED7D31"/>
                </a:solidFill>
                <a:latin typeface="Noto Sans SC"/>
                <a:ea typeface="Noto Sans SC"/>
                <a:cs typeface="Noto Sans SC"/>
              </a:defRPr>
            </a:defPPr>
          </a:lstStyle>
          <a:p>
            <a:pPr algn="l">
              <a:defRPr sz="1300" b="1">
                <a:solidFill>
                  <a:srgbClr val="ED7D31"/>
                </a:solidFill>
                <a:latin typeface="Noto Sans SC"/>
                <a:ea typeface="Noto Sans SC"/>
                <a:cs typeface="Noto Sans SC"/>
              </a:defRPr>
            </a:pPr>
            <a:r>
              <a:rPr sz="1300" b="1">
                <a:solidFill>
                  <a:srgbClr val="ED7D31"/>
                </a:solidFill>
                <a:latin typeface="Noto Sans SC"/>
                <a:ea typeface="Noto Sans SC"/>
                <a:cs typeface="Noto Sans SC"/>
              </a:rPr>
              <a:t>TASK 4 · 轮次讨论</a:t>
            </a:r>
          </a:p>
        </p:txBody>
      </p:sp>
      <p:sp>
        <p:nvSpPr>
          <p:cNvPr id="2" name="矩形 1">
            <a:extLst>
              <a:ext uri="{FF2B5EF4-FFF2-40B4-BE49-F238E27FC236}">
                <a16:creationId xmlns:a16="http://schemas.microsoft.com/office/drawing/2014/main" id="{85A814DC-285F-4109-AB66-EDE9721EC622}"/>
              </a:ext>
            </a:extLst>
          </p:cNvPr>
          <p:cNvSpPr>
            <a:spLocks noGrp="1"/>
          </p:cNvSpPr>
          <p:nvPr/>
        </p:nvSpPr>
        <p:spPr>
          <a:xfrm>
            <a:off x="1016032" y="1092232"/>
            <a:ext cx="10160032" cy="590550"/>
          </a:xfrm>
          <a:prstGeom prst="rect">
            <a:avLst/>
          </a:prstGeom>
          <a:noFill/>
          <a:ln w="0">
            <a:noFill/>
            <a:prstDash val="solid"/>
          </a:ln>
        </p:spPr>
        <p:txBody>
          <a:bodyPr/>
          <a:lstStyle>
            <a:defPPr algn="l">
              <a:defRPr sz="2550" b="1">
                <a:solidFill>
                  <a:srgbClr val="2B2F36"/>
                </a:solidFill>
                <a:latin typeface="Noto Sans SC"/>
                <a:ea typeface="Noto Sans SC"/>
                <a:cs typeface="Noto Sans SC"/>
              </a:defRPr>
            </a:defPPr>
          </a:lstStyle>
          <a:p>
            <a:pPr algn="l">
              <a:defRPr sz="2550" b="1">
                <a:solidFill>
                  <a:srgbClr val="2B2F36"/>
                </a:solidFill>
                <a:latin typeface="Noto Sans SC"/>
                <a:ea typeface="Noto Sans SC"/>
                <a:cs typeface="Noto Sans SC"/>
              </a:defRPr>
            </a:pPr>
            <a:r>
              <a:rPr sz="2550" b="1">
                <a:solidFill>
                  <a:srgbClr val="2B2F36"/>
                </a:solidFill>
                <a:latin typeface="Noto Sans SC"/>
                <a:ea typeface="Noto Sans SC"/>
                <a:cs typeface="Noto Sans SC"/>
              </a:rPr>
              <a:t>任务4 轮次讨论与最终故事点</a:t>
            </a:r>
          </a:p>
        </p:txBody>
      </p:sp>
      <p:sp>
        <p:nvSpPr>
          <p:cNvPr id="3" name="矩形 2">
            <a:extLst>
              <a:ext uri="{FF2B5EF4-FFF2-40B4-BE49-F238E27FC236}">
                <a16:creationId xmlns:a16="http://schemas.microsoft.com/office/drawing/2014/main" id="{3E9D86D1-F2C4-41EF-B3D2-1227ABAE4FD3}"/>
              </a:ext>
            </a:extLst>
          </p:cNvPr>
          <p:cNvSpPr>
            <a:spLocks noGrp="1"/>
          </p:cNvSpPr>
          <p:nvPr/>
        </p:nvSpPr>
        <p:spPr>
          <a:xfrm>
            <a:off x="1016032" y="2025682"/>
            <a:ext cx="10160032" cy="12668"/>
          </a:xfrm>
          <a:prstGeom prst="rect">
            <a:avLst/>
          </a:prstGeom>
          <a:solidFill>
            <a:srgbClr val="DCE1E8"/>
          </a:solidFill>
          <a:ln w="0">
            <a:solidFill>
              <a:srgbClr val="DCE1E8"/>
            </a:solidFill>
            <a:prstDash val="solid"/>
          </a:ln>
        </p:spPr>
      </p:sp>
      <p:sp>
        <p:nvSpPr>
          <p:cNvPr id="4" name="矩形 3">
            <a:extLst>
              <a:ext uri="{FF2B5EF4-FFF2-40B4-BE49-F238E27FC236}">
                <a16:creationId xmlns:a16="http://schemas.microsoft.com/office/drawing/2014/main" id="{2B66030B-4CA7-4041-ADF3-26B2C0006580}"/>
              </a:ext>
            </a:extLst>
          </p:cNvPr>
          <p:cNvSpPr>
            <a:spLocks noGrp="1"/>
          </p:cNvSpPr>
          <p:nvPr/>
        </p:nvSpPr>
        <p:spPr>
          <a:xfrm>
            <a:off x="1016032" y="6350032"/>
            <a:ext cx="6667500" cy="266700"/>
          </a:xfrm>
          <a:prstGeom prst="rect">
            <a:avLst/>
          </a:prstGeom>
          <a:noFill/>
          <a:ln w="0">
            <a:noFill/>
            <a:prstDash val="solid"/>
          </a:ln>
        </p:spPr>
        <p:txBody>
          <a:bodyPr/>
          <a:lstStyle>
            <a:defPPr algn="l">
              <a:defRPr sz="1100" b="0">
                <a:solidFill>
                  <a:srgbClr val="A0A8B4"/>
                </a:solidFill>
                <a:latin typeface="Noto Sans SC"/>
                <a:ea typeface="Noto Sans SC"/>
                <a:cs typeface="Noto Sans SC"/>
              </a:defRPr>
            </a:defPPr>
          </a:lstStyle>
          <a:p>
            <a:pPr algn="l">
              <a:defRPr sz="1100" b="0">
                <a:solidFill>
                  <a:srgbClr val="A0A8B4"/>
                </a:solidFill>
                <a:latin typeface="Noto Sans SC"/>
                <a:ea typeface="Noto Sans SC"/>
                <a:cs typeface="Noto Sans SC"/>
              </a:defRPr>
            </a:pPr>
            <a:r>
              <a:rPr sz="1100" b="0">
                <a:solidFill>
                  <a:srgbClr val="A0A8B4"/>
                </a:solidFill>
                <a:latin typeface="Noto Sans SC"/>
                <a:ea typeface="Noto Sans SC"/>
                <a:cs typeface="Noto Sans SC"/>
              </a:rPr>
              <a:t>SimpleCADforDSH ｜ 讨论四 · 规划扑克估算</a:t>
            </a:r>
          </a:p>
        </p:txBody>
      </p:sp>
      <p:sp>
        <p:nvSpPr>
          <p:cNvPr id="6" name="矩形: 圆角 5">
            <a:extLst>
              <a:ext uri="{FF2B5EF4-FFF2-40B4-BE49-F238E27FC236}">
                <a16:creationId xmlns:a16="http://schemas.microsoft.com/office/drawing/2014/main" id="{BD629B18-20DA-4A11-8EFF-6BFECEEC6274}"/>
              </a:ext>
            </a:extLst>
          </p:cNvPr>
          <p:cNvSpPr>
            <a:spLocks noGrp="1"/>
          </p:cNvSpPr>
          <p:nvPr/>
        </p:nvSpPr>
        <p:spPr>
          <a:xfrm>
            <a:off x="1016032" y="2324100"/>
            <a:ext cx="4857750" cy="1409700"/>
          </a:xfrm>
          <a:prstGeom prst="roundRect">
            <a:avLst>
              <a:gd name="adj" fmla="val 5405"/>
            </a:avLst>
          </a:prstGeom>
          <a:solidFill>
            <a:srgbClr val="E8EEF8"/>
          </a:solidFill>
          <a:ln w="0">
            <a:solidFill>
              <a:srgbClr val="4472C4"/>
            </a:solidFill>
            <a:prstDash val="solid"/>
          </a:ln>
        </p:spPr>
        <p:txBody>
          <a:bodyPr/>
          <a:lstStyle>
            <a:defPPr algn="l">
              <a:defRPr sz="1238" b="0">
                <a:solidFill>
                  <a:srgbClr val="2B2F36"/>
                </a:solidFill>
                <a:latin typeface="Noto Sans SC"/>
                <a:ea typeface="Noto Sans SC"/>
                <a:cs typeface="Noto Sans SC"/>
              </a:defRPr>
            </a:defPPr>
          </a:lstStyle>
          <a:p>
            <a:pPr algn="l">
              <a:defRPr sz="1238" b="0">
                <a:solidFill>
                  <a:srgbClr val="2B2F36"/>
                </a:solidFill>
                <a:latin typeface="Noto Sans SC"/>
                <a:ea typeface="Noto Sans SC"/>
                <a:cs typeface="Noto Sans SC"/>
              </a:defRPr>
            </a:pPr>
            <a:r>
              <a:rPr sz="1600" b="0" dirty="0" err="1">
                <a:solidFill>
                  <a:srgbClr val="2B2F36"/>
                </a:solidFill>
                <a:latin typeface="Noto Sans SC"/>
                <a:ea typeface="Noto Sans SC"/>
                <a:cs typeface="Noto Sans SC"/>
              </a:rPr>
              <a:t>第一轮</a:t>
            </a:r>
            <a:endParaRPr sz="1600" b="0" dirty="0">
              <a:solidFill>
                <a:srgbClr val="2B2F36"/>
              </a:solidFill>
              <a:latin typeface="Noto Sans SC"/>
              <a:ea typeface="Noto Sans SC"/>
              <a:cs typeface="Noto Sans SC"/>
            </a:endParaRPr>
          </a:p>
          <a:p>
            <a:pPr algn="l">
              <a:defRPr sz="1238" b="0">
                <a:solidFill>
                  <a:srgbClr val="2B2F36"/>
                </a:solidFill>
                <a:latin typeface="Noto Sans SC"/>
                <a:ea typeface="Noto Sans SC"/>
                <a:cs typeface="Noto Sans SC"/>
              </a:defRPr>
            </a:pPr>
            <a:r>
              <a:rPr sz="1600" b="0" dirty="0" err="1">
                <a:solidFill>
                  <a:srgbClr val="2B2F36"/>
                </a:solidFill>
                <a:latin typeface="Noto Sans SC"/>
                <a:ea typeface="Noto Sans SC"/>
                <a:cs typeface="Noto Sans SC"/>
              </a:rPr>
              <a:t>最高</a:t>
            </a:r>
            <a:r>
              <a:rPr sz="1600" b="0" dirty="0">
                <a:solidFill>
                  <a:srgbClr val="2B2F36"/>
                </a:solidFill>
                <a:latin typeface="Noto Sans SC"/>
                <a:ea typeface="Noto Sans SC"/>
                <a:cs typeface="Noto Sans SC"/>
              </a:rPr>
              <a:t> 13 </a:t>
            </a:r>
            <a:r>
              <a:rPr sz="1600" b="0" dirty="0" err="1">
                <a:solidFill>
                  <a:srgbClr val="2B2F36"/>
                </a:solidFill>
                <a:latin typeface="Noto Sans SC"/>
                <a:ea typeface="Noto Sans SC"/>
                <a:cs typeface="Noto Sans SC"/>
              </a:rPr>
              <a:t>点，最低</a:t>
            </a:r>
            <a:r>
              <a:rPr sz="1600" b="0" dirty="0">
                <a:solidFill>
                  <a:srgbClr val="2B2F36"/>
                </a:solidFill>
                <a:latin typeface="Noto Sans SC"/>
                <a:ea typeface="Noto Sans SC"/>
                <a:cs typeface="Noto Sans SC"/>
              </a:rPr>
              <a:t> 7 </a:t>
            </a:r>
            <a:r>
              <a:rPr sz="1600" b="0" dirty="0" err="1">
                <a:solidFill>
                  <a:srgbClr val="2B2F36"/>
                </a:solidFill>
                <a:latin typeface="Noto Sans SC"/>
                <a:ea typeface="Noto Sans SC"/>
                <a:cs typeface="Noto Sans SC"/>
              </a:rPr>
              <a:t>点。高估值关注图像识别、参数精度和生成结果验证；低估值认为单视角比多视角简单</a:t>
            </a:r>
            <a:r>
              <a:rPr sz="1600" b="0" dirty="0">
                <a:solidFill>
                  <a:srgbClr val="2B2F36"/>
                </a:solidFill>
                <a:latin typeface="Noto Sans SC"/>
                <a:ea typeface="Noto Sans SC"/>
                <a:cs typeface="Noto Sans SC"/>
              </a:rPr>
              <a:t>。</a:t>
            </a:r>
          </a:p>
        </p:txBody>
      </p:sp>
      <p:sp>
        <p:nvSpPr>
          <p:cNvPr id="7" name="矩形: 圆角 6">
            <a:extLst>
              <a:ext uri="{FF2B5EF4-FFF2-40B4-BE49-F238E27FC236}">
                <a16:creationId xmlns:a16="http://schemas.microsoft.com/office/drawing/2014/main" id="{772D6668-8815-4BB5-9320-9B7354F0D024}"/>
              </a:ext>
            </a:extLst>
          </p:cNvPr>
          <p:cNvSpPr>
            <a:spLocks noGrp="1"/>
          </p:cNvSpPr>
          <p:nvPr/>
        </p:nvSpPr>
        <p:spPr>
          <a:xfrm>
            <a:off x="6318218" y="2324100"/>
            <a:ext cx="4857750" cy="1409700"/>
          </a:xfrm>
          <a:prstGeom prst="roundRect">
            <a:avLst>
              <a:gd name="adj" fmla="val 5405"/>
            </a:avLst>
          </a:prstGeom>
          <a:solidFill>
            <a:srgbClr val="FCEDE0"/>
          </a:solidFill>
          <a:ln w="0">
            <a:solidFill>
              <a:srgbClr val="ED7D31"/>
            </a:solidFill>
            <a:prstDash val="solid"/>
          </a:ln>
        </p:spPr>
        <p:txBody>
          <a:bodyPr/>
          <a:lstStyle>
            <a:defPPr algn="l">
              <a:defRPr sz="1238" b="0">
                <a:solidFill>
                  <a:srgbClr val="2B2F36"/>
                </a:solidFill>
                <a:latin typeface="Noto Sans SC"/>
                <a:ea typeface="Noto Sans SC"/>
                <a:cs typeface="Noto Sans SC"/>
              </a:defRPr>
            </a:defPPr>
          </a:lstStyle>
          <a:p>
            <a:pPr algn="l">
              <a:defRPr sz="1238" b="0">
                <a:solidFill>
                  <a:srgbClr val="2B2F36"/>
                </a:solidFill>
                <a:latin typeface="Noto Sans SC"/>
                <a:ea typeface="Noto Sans SC"/>
                <a:cs typeface="Noto Sans SC"/>
              </a:defRPr>
            </a:pPr>
            <a:r>
              <a:rPr sz="1600" b="0" dirty="0" err="1">
                <a:solidFill>
                  <a:srgbClr val="2B2F36"/>
                </a:solidFill>
                <a:latin typeface="Noto Sans SC"/>
                <a:ea typeface="Noto Sans SC"/>
                <a:cs typeface="Noto Sans SC"/>
              </a:rPr>
              <a:t>第二轮</a:t>
            </a:r>
            <a:endParaRPr sz="1600" b="0" dirty="0">
              <a:solidFill>
                <a:srgbClr val="2B2F36"/>
              </a:solidFill>
              <a:latin typeface="Noto Sans SC"/>
              <a:ea typeface="Noto Sans SC"/>
              <a:cs typeface="Noto Sans SC"/>
            </a:endParaRPr>
          </a:p>
          <a:p>
            <a:pPr algn="l">
              <a:defRPr sz="1238" b="0">
                <a:solidFill>
                  <a:srgbClr val="2B2F36"/>
                </a:solidFill>
                <a:latin typeface="Noto Sans SC"/>
                <a:ea typeface="Noto Sans SC"/>
                <a:cs typeface="Noto Sans SC"/>
              </a:defRPr>
            </a:pPr>
            <a:r>
              <a:rPr sz="1600" b="0" dirty="0" err="1">
                <a:solidFill>
                  <a:srgbClr val="2B2F36"/>
                </a:solidFill>
                <a:latin typeface="Noto Sans SC"/>
                <a:ea typeface="Noto Sans SC"/>
                <a:cs typeface="Noto Sans SC"/>
              </a:rPr>
              <a:t>最高</a:t>
            </a:r>
            <a:r>
              <a:rPr sz="1600" b="0" dirty="0">
                <a:solidFill>
                  <a:srgbClr val="2B2F36"/>
                </a:solidFill>
                <a:latin typeface="Noto Sans SC"/>
                <a:ea typeface="Noto Sans SC"/>
                <a:cs typeface="Noto Sans SC"/>
              </a:rPr>
              <a:t> 8 </a:t>
            </a:r>
            <a:r>
              <a:rPr sz="1600" b="0" dirty="0" err="1">
                <a:solidFill>
                  <a:srgbClr val="2B2F36"/>
                </a:solidFill>
                <a:latin typeface="Noto Sans SC"/>
                <a:ea typeface="Noto Sans SC"/>
                <a:cs typeface="Noto Sans SC"/>
              </a:rPr>
              <a:t>点，最低</a:t>
            </a:r>
            <a:r>
              <a:rPr sz="1600" b="0" dirty="0">
                <a:solidFill>
                  <a:srgbClr val="2B2F36"/>
                </a:solidFill>
                <a:latin typeface="Noto Sans SC"/>
                <a:ea typeface="Noto Sans SC"/>
                <a:cs typeface="Noto Sans SC"/>
              </a:rPr>
              <a:t> 5 </a:t>
            </a:r>
            <a:r>
              <a:rPr sz="1600" b="0" dirty="0" err="1">
                <a:solidFill>
                  <a:srgbClr val="2B2F36"/>
                </a:solidFill>
                <a:latin typeface="Noto Sans SC"/>
                <a:ea typeface="Noto Sans SC"/>
                <a:cs typeface="Noto Sans SC"/>
              </a:rPr>
              <a:t>点。即使复用开源模型，仍需完成环境部署、插件接入和结果核验</a:t>
            </a:r>
            <a:r>
              <a:rPr sz="1600" b="0" dirty="0">
                <a:solidFill>
                  <a:srgbClr val="2B2F36"/>
                </a:solidFill>
                <a:latin typeface="Noto Sans SC"/>
                <a:ea typeface="Noto Sans SC"/>
                <a:cs typeface="Noto Sans SC"/>
              </a:rPr>
              <a:t>。</a:t>
            </a:r>
          </a:p>
        </p:txBody>
      </p:sp>
      <p:sp>
        <p:nvSpPr>
          <p:cNvPr id="8" name="矩形 7">
            <a:extLst>
              <a:ext uri="{FF2B5EF4-FFF2-40B4-BE49-F238E27FC236}">
                <a16:creationId xmlns:a16="http://schemas.microsoft.com/office/drawing/2014/main" id="{4B049EF1-1925-4935-A480-7C7C5D36E1F6}"/>
              </a:ext>
            </a:extLst>
          </p:cNvPr>
          <p:cNvSpPr>
            <a:spLocks noGrp="1"/>
          </p:cNvSpPr>
          <p:nvPr/>
        </p:nvSpPr>
        <p:spPr>
          <a:xfrm>
            <a:off x="1016032" y="4267200"/>
            <a:ext cx="2857500" cy="285750"/>
          </a:xfrm>
          <a:prstGeom prst="rect">
            <a:avLst/>
          </a:prstGeom>
          <a:noFill/>
          <a:ln w="0">
            <a:noFill/>
            <a:prstDash val="solid"/>
          </a:ln>
        </p:spPr>
        <p:txBody>
          <a:bodyPr/>
          <a:lstStyle>
            <a:defPPr algn="l">
              <a:defRPr sz="1425" b="1">
                <a:solidFill>
                  <a:srgbClr val="4472C4"/>
                </a:solidFill>
                <a:latin typeface="Noto Sans SC"/>
                <a:ea typeface="Noto Sans SC"/>
                <a:cs typeface="Noto Sans SC"/>
              </a:defRPr>
            </a:defPPr>
          </a:lstStyle>
          <a:p>
            <a:pPr algn="l">
              <a:defRPr sz="1425" b="1">
                <a:solidFill>
                  <a:srgbClr val="4472C4"/>
                </a:solidFill>
                <a:latin typeface="Noto Sans SC"/>
                <a:ea typeface="Noto Sans SC"/>
                <a:cs typeface="Noto Sans SC"/>
              </a:defRPr>
            </a:pPr>
            <a:r>
              <a:rPr sz="1425" b="1">
                <a:solidFill>
                  <a:srgbClr val="4472C4"/>
                </a:solidFill>
                <a:latin typeface="Noto Sans SC"/>
                <a:ea typeface="Noto Sans SC"/>
                <a:cs typeface="Noto Sans SC"/>
              </a:rPr>
              <a:t>第三轮结论</a:t>
            </a:r>
          </a:p>
        </p:txBody>
      </p:sp>
      <p:sp>
        <p:nvSpPr>
          <p:cNvPr id="9" name="矩形 8">
            <a:extLst>
              <a:ext uri="{FF2B5EF4-FFF2-40B4-BE49-F238E27FC236}">
                <a16:creationId xmlns:a16="http://schemas.microsoft.com/office/drawing/2014/main" id="{658EF3D6-7083-4E91-BAD5-9D8411EBDFE5}"/>
              </a:ext>
            </a:extLst>
          </p:cNvPr>
          <p:cNvSpPr>
            <a:spLocks noGrp="1"/>
          </p:cNvSpPr>
          <p:nvPr/>
        </p:nvSpPr>
        <p:spPr>
          <a:xfrm>
            <a:off x="1016032" y="4667250"/>
            <a:ext cx="6667500" cy="381000"/>
          </a:xfrm>
          <a:prstGeom prst="rect">
            <a:avLst/>
          </a:prstGeom>
          <a:noFill/>
          <a:ln w="0">
            <a:noFill/>
            <a:prstDash val="solid"/>
          </a:ln>
        </p:spPr>
        <p:txBody>
          <a:bodyPr/>
          <a:lstStyle>
            <a:defPPr algn="l">
              <a:defRPr sz="2025" b="1">
                <a:solidFill>
                  <a:srgbClr val="2B2F36"/>
                </a:solidFill>
                <a:latin typeface="Noto Sans SC"/>
                <a:ea typeface="Noto Sans SC"/>
                <a:cs typeface="Noto Sans SC"/>
              </a:defRPr>
            </a:defPPr>
          </a:lstStyle>
          <a:p>
            <a:pPr algn="l">
              <a:defRPr sz="2025" b="1">
                <a:solidFill>
                  <a:srgbClr val="2B2F36"/>
                </a:solidFill>
                <a:latin typeface="Noto Sans SC"/>
                <a:ea typeface="Noto Sans SC"/>
                <a:cs typeface="Noto Sans SC"/>
              </a:defRPr>
            </a:pPr>
            <a:r>
              <a:rPr sz="2025" b="1" dirty="0" err="1">
                <a:solidFill>
                  <a:srgbClr val="2B2F36"/>
                </a:solidFill>
                <a:latin typeface="Noto Sans SC"/>
                <a:ea typeface="Noto Sans SC"/>
                <a:cs typeface="Noto Sans SC"/>
              </a:rPr>
              <a:t>八名成员均出</a:t>
            </a:r>
            <a:r>
              <a:rPr sz="2025" b="1" dirty="0">
                <a:solidFill>
                  <a:srgbClr val="2B2F36"/>
                </a:solidFill>
                <a:latin typeface="Noto Sans SC"/>
                <a:ea typeface="Noto Sans SC"/>
                <a:cs typeface="Noto Sans SC"/>
              </a:rPr>
              <a:t> 8 </a:t>
            </a:r>
            <a:r>
              <a:rPr sz="2025" b="1" dirty="0" err="1">
                <a:solidFill>
                  <a:srgbClr val="2B2F36"/>
                </a:solidFill>
                <a:latin typeface="Noto Sans SC"/>
                <a:ea typeface="Noto Sans SC"/>
                <a:cs typeface="Noto Sans SC"/>
              </a:rPr>
              <a:t>点，估算收敛</a:t>
            </a:r>
            <a:r>
              <a:rPr sz="2025" b="1" dirty="0">
                <a:solidFill>
                  <a:srgbClr val="2B2F36"/>
                </a:solidFill>
                <a:latin typeface="Noto Sans SC"/>
                <a:ea typeface="Noto Sans SC"/>
                <a:cs typeface="Noto Sans SC"/>
              </a:rPr>
              <a:t>。</a:t>
            </a:r>
          </a:p>
        </p:txBody>
      </p:sp>
      <p:sp>
        <p:nvSpPr>
          <p:cNvPr id="10" name="矩形: 圆角 9">
            <a:extLst>
              <a:ext uri="{FF2B5EF4-FFF2-40B4-BE49-F238E27FC236}">
                <a16:creationId xmlns:a16="http://schemas.microsoft.com/office/drawing/2014/main" id="{D5D60648-AB5A-420F-A7FE-FACF48A8C59D}"/>
              </a:ext>
            </a:extLst>
          </p:cNvPr>
          <p:cNvSpPr>
            <a:spLocks noGrp="1"/>
          </p:cNvSpPr>
          <p:nvPr/>
        </p:nvSpPr>
        <p:spPr>
          <a:xfrm>
            <a:off x="8763000" y="4229100"/>
            <a:ext cx="2409825" cy="1009650"/>
          </a:xfrm>
          <a:prstGeom prst="roundRect">
            <a:avLst>
              <a:gd name="adj" fmla="val 7547"/>
            </a:avLst>
          </a:prstGeom>
          <a:solidFill>
            <a:srgbClr val="4472C4"/>
          </a:solidFill>
          <a:ln w="0">
            <a:solidFill>
              <a:srgbClr val="4472C4"/>
            </a:solidFill>
            <a:prstDash val="solid"/>
          </a:ln>
        </p:spPr>
        <p:txBody>
          <a:bodyPr/>
          <a:lstStyle>
            <a:defPPr algn="l">
              <a:defRPr sz="1800" b="1">
                <a:solidFill>
                  <a:srgbClr val="FFFFFF"/>
                </a:solidFill>
                <a:latin typeface="Noto Sans SC"/>
                <a:ea typeface="Noto Sans SC"/>
                <a:cs typeface="Noto Sans SC"/>
              </a:defRPr>
            </a:defPPr>
          </a:lstStyle>
          <a:p>
            <a:pPr algn="l">
              <a:defRPr sz="1800" b="1">
                <a:solidFill>
                  <a:srgbClr val="FFFFFF"/>
                </a:solidFill>
                <a:latin typeface="Noto Sans SC"/>
                <a:ea typeface="Noto Sans SC"/>
                <a:cs typeface="Noto Sans SC"/>
              </a:defRPr>
            </a:pPr>
            <a:r>
              <a:rPr sz="1800" b="1">
                <a:solidFill>
                  <a:srgbClr val="FFFFFF"/>
                </a:solidFill>
                <a:latin typeface="Noto Sans SC"/>
                <a:ea typeface="Noto Sans SC"/>
                <a:cs typeface="Noto Sans SC"/>
              </a:rPr>
              <a:t>最终工作量</a:t>
            </a:r>
          </a:p>
          <a:p>
            <a:pPr algn="l">
              <a:defRPr sz="1800" b="1">
                <a:solidFill>
                  <a:srgbClr val="FFFFFF"/>
                </a:solidFill>
                <a:latin typeface="Noto Sans SC"/>
                <a:ea typeface="Noto Sans SC"/>
                <a:cs typeface="Noto Sans SC"/>
              </a:defRPr>
            </a:pPr>
            <a:r>
              <a:rPr sz="1800" b="1">
                <a:solidFill>
                  <a:srgbClr val="FFFFFF"/>
                </a:solidFill>
                <a:latin typeface="Noto Sans SC"/>
                <a:ea typeface="Noto Sans SC"/>
                <a:cs typeface="Noto Sans SC"/>
              </a:rPr>
              <a:t>8 点</a:t>
            </a:r>
          </a:p>
        </p:txBody>
      </p:sp>
    </p:spTree>
    <p:extLst>
      <p:ext uri="{BB962C8B-B14F-4D97-AF65-F5344CB8AC3E}">
        <p14:creationId xmlns:p14="http://schemas.microsoft.com/office/powerpoint/2010/main" val="10561959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B7CEF5A1-23A2-4366-83FA-F0CB888A9624}"/>
              </a:ext>
            </a:extLst>
          </p:cNvPr>
          <p:cNvSpPr>
            <a:spLocks noGrp="1"/>
          </p:cNvSpPr>
          <p:nvPr/>
        </p:nvSpPr>
        <p:spPr>
          <a:xfrm>
            <a:off x="1016032" y="711232"/>
            <a:ext cx="7620000" cy="266700"/>
          </a:xfrm>
          <a:prstGeom prst="rect">
            <a:avLst/>
          </a:prstGeom>
          <a:noFill/>
          <a:ln w="0">
            <a:noFill/>
            <a:prstDash val="solid"/>
          </a:ln>
        </p:spPr>
        <p:txBody>
          <a:bodyPr/>
          <a:lstStyle>
            <a:defPPr algn="l">
              <a:defRPr sz="1300" b="1">
                <a:solidFill>
                  <a:srgbClr val="ED7D31"/>
                </a:solidFill>
                <a:latin typeface="Noto Sans SC"/>
                <a:ea typeface="Noto Sans SC"/>
                <a:cs typeface="Noto Sans SC"/>
              </a:defRPr>
            </a:defPPr>
          </a:lstStyle>
          <a:p>
            <a:pPr algn="l">
              <a:defRPr sz="1300" b="1">
                <a:solidFill>
                  <a:srgbClr val="ED7D31"/>
                </a:solidFill>
                <a:latin typeface="Noto Sans SC"/>
                <a:ea typeface="Noto Sans SC"/>
                <a:cs typeface="Noto Sans SC"/>
              </a:defRPr>
            </a:pPr>
            <a:r>
              <a:rPr sz="1300" b="1">
                <a:solidFill>
                  <a:srgbClr val="ED7D31"/>
                </a:solidFill>
                <a:latin typeface="Noto Sans SC"/>
                <a:ea typeface="Noto Sans SC"/>
                <a:cs typeface="Noto Sans SC"/>
              </a:rPr>
              <a:t>TASK 8 · 文本生成</a:t>
            </a:r>
          </a:p>
        </p:txBody>
      </p:sp>
      <p:sp>
        <p:nvSpPr>
          <p:cNvPr id="2" name="矩形 1">
            <a:extLst>
              <a:ext uri="{FF2B5EF4-FFF2-40B4-BE49-F238E27FC236}">
                <a16:creationId xmlns:a16="http://schemas.microsoft.com/office/drawing/2014/main" id="{D4EEDE7F-3636-4C5D-9B5F-F4431293B461}"/>
              </a:ext>
            </a:extLst>
          </p:cNvPr>
          <p:cNvSpPr>
            <a:spLocks noGrp="1"/>
          </p:cNvSpPr>
          <p:nvPr/>
        </p:nvSpPr>
        <p:spPr>
          <a:xfrm>
            <a:off x="1016032" y="1092232"/>
            <a:ext cx="10160032" cy="590550"/>
          </a:xfrm>
          <a:prstGeom prst="rect">
            <a:avLst/>
          </a:prstGeom>
          <a:noFill/>
          <a:ln w="0">
            <a:noFill/>
            <a:prstDash val="solid"/>
          </a:ln>
        </p:spPr>
        <p:txBody>
          <a:bodyPr/>
          <a:lstStyle>
            <a:defPPr algn="l">
              <a:defRPr sz="2550" b="1">
                <a:solidFill>
                  <a:srgbClr val="2B2F36"/>
                </a:solidFill>
                <a:latin typeface="Noto Sans SC"/>
                <a:ea typeface="Noto Sans SC"/>
                <a:cs typeface="Noto Sans SC"/>
              </a:defRPr>
            </a:defPPr>
          </a:lstStyle>
          <a:p>
            <a:pPr algn="l">
              <a:defRPr sz="2550" b="1">
                <a:solidFill>
                  <a:srgbClr val="2B2F36"/>
                </a:solidFill>
                <a:latin typeface="Noto Sans SC"/>
                <a:ea typeface="Noto Sans SC"/>
                <a:cs typeface="Noto Sans SC"/>
              </a:defRPr>
            </a:pPr>
            <a:r>
              <a:rPr sz="2550" b="1">
                <a:solidFill>
                  <a:srgbClr val="2B2F36"/>
                </a:solidFill>
                <a:latin typeface="Noto Sans SC"/>
                <a:ea typeface="Noto Sans SC"/>
                <a:cs typeface="Noto Sans SC"/>
              </a:rPr>
              <a:t>任务8 文本描述生成 CAD 模型</a:t>
            </a:r>
          </a:p>
        </p:txBody>
      </p:sp>
      <p:sp>
        <p:nvSpPr>
          <p:cNvPr id="3" name="矩形 2">
            <a:extLst>
              <a:ext uri="{FF2B5EF4-FFF2-40B4-BE49-F238E27FC236}">
                <a16:creationId xmlns:a16="http://schemas.microsoft.com/office/drawing/2014/main" id="{768FB7F5-1DCB-4076-84FF-51F9FDFAD041}"/>
              </a:ext>
            </a:extLst>
          </p:cNvPr>
          <p:cNvSpPr>
            <a:spLocks noGrp="1"/>
          </p:cNvSpPr>
          <p:nvPr/>
        </p:nvSpPr>
        <p:spPr>
          <a:xfrm>
            <a:off x="1016032" y="2025682"/>
            <a:ext cx="10160032" cy="12668"/>
          </a:xfrm>
          <a:prstGeom prst="rect">
            <a:avLst/>
          </a:prstGeom>
          <a:solidFill>
            <a:srgbClr val="DCE1E8"/>
          </a:solidFill>
          <a:ln w="0">
            <a:solidFill>
              <a:srgbClr val="DCE1E8"/>
            </a:solidFill>
            <a:prstDash val="solid"/>
          </a:ln>
        </p:spPr>
      </p:sp>
      <p:sp>
        <p:nvSpPr>
          <p:cNvPr id="4" name="矩形 3">
            <a:extLst>
              <a:ext uri="{FF2B5EF4-FFF2-40B4-BE49-F238E27FC236}">
                <a16:creationId xmlns:a16="http://schemas.microsoft.com/office/drawing/2014/main" id="{B9ADF38C-3CE3-49E1-BAED-7C775AFF978B}"/>
              </a:ext>
            </a:extLst>
          </p:cNvPr>
          <p:cNvSpPr>
            <a:spLocks noGrp="1"/>
          </p:cNvSpPr>
          <p:nvPr/>
        </p:nvSpPr>
        <p:spPr>
          <a:xfrm>
            <a:off x="1016032" y="6350032"/>
            <a:ext cx="6667500" cy="266700"/>
          </a:xfrm>
          <a:prstGeom prst="rect">
            <a:avLst/>
          </a:prstGeom>
          <a:noFill/>
          <a:ln w="0">
            <a:noFill/>
            <a:prstDash val="solid"/>
          </a:ln>
        </p:spPr>
        <p:txBody>
          <a:bodyPr/>
          <a:lstStyle>
            <a:defPPr algn="l">
              <a:defRPr sz="1100" b="0">
                <a:solidFill>
                  <a:srgbClr val="A0A8B4"/>
                </a:solidFill>
                <a:latin typeface="Noto Sans SC"/>
                <a:ea typeface="Noto Sans SC"/>
                <a:cs typeface="Noto Sans SC"/>
              </a:defRPr>
            </a:defPPr>
          </a:lstStyle>
          <a:p>
            <a:pPr algn="l">
              <a:defRPr sz="1100" b="0">
                <a:solidFill>
                  <a:srgbClr val="A0A8B4"/>
                </a:solidFill>
                <a:latin typeface="Noto Sans SC"/>
                <a:ea typeface="Noto Sans SC"/>
                <a:cs typeface="Noto Sans SC"/>
              </a:defRPr>
            </a:pPr>
            <a:r>
              <a:rPr sz="1100" b="0">
                <a:solidFill>
                  <a:srgbClr val="A0A8B4"/>
                </a:solidFill>
                <a:latin typeface="Noto Sans SC"/>
                <a:ea typeface="Noto Sans SC"/>
                <a:cs typeface="Noto Sans SC"/>
              </a:rPr>
              <a:t>SimpleCADforDSH ｜ 讨论四 · 规划扑克估算</a:t>
            </a:r>
          </a:p>
        </p:txBody>
      </p:sp>
      <p:sp>
        <p:nvSpPr>
          <p:cNvPr id="6" name="矩形: 圆角 5">
            <a:extLst>
              <a:ext uri="{FF2B5EF4-FFF2-40B4-BE49-F238E27FC236}">
                <a16:creationId xmlns:a16="http://schemas.microsoft.com/office/drawing/2014/main" id="{6D5D24F2-0FDF-4C22-8BEE-23D197115DEC}"/>
              </a:ext>
            </a:extLst>
          </p:cNvPr>
          <p:cNvSpPr>
            <a:spLocks noGrp="1"/>
          </p:cNvSpPr>
          <p:nvPr/>
        </p:nvSpPr>
        <p:spPr>
          <a:xfrm>
            <a:off x="1016032" y="2276475"/>
            <a:ext cx="10160032" cy="914400"/>
          </a:xfrm>
          <a:prstGeom prst="roundRect">
            <a:avLst>
              <a:gd name="adj" fmla="val 8333"/>
            </a:avLst>
          </a:prstGeom>
          <a:solidFill>
            <a:srgbClr val="F5F7FA"/>
          </a:solidFill>
          <a:ln w="0">
            <a:solidFill>
              <a:srgbClr val="DCE1E8"/>
            </a:solidFill>
            <a:prstDash val="solid"/>
          </a:ln>
        </p:spPr>
        <p:txBody>
          <a:bodyPr/>
          <a:lstStyle>
            <a:defPPr algn="l">
              <a:defRPr sz="1163" b="0">
                <a:solidFill>
                  <a:srgbClr val="2B2F36"/>
                </a:solidFill>
                <a:latin typeface="Noto Sans SC"/>
                <a:ea typeface="Noto Sans SC"/>
                <a:cs typeface="Noto Sans SC"/>
              </a:defRPr>
            </a:defPPr>
          </a:lstStyle>
          <a:p>
            <a:pPr algn="l">
              <a:defRPr sz="1163" b="0">
                <a:solidFill>
                  <a:srgbClr val="2B2F36"/>
                </a:solidFill>
                <a:latin typeface="Noto Sans SC"/>
                <a:ea typeface="Noto Sans SC"/>
                <a:cs typeface="Noto Sans SC"/>
              </a:defRPr>
            </a:pPr>
            <a:r>
              <a:rPr sz="1600" b="0" dirty="0" err="1">
                <a:solidFill>
                  <a:srgbClr val="2B2F36"/>
                </a:solidFill>
                <a:latin typeface="Noto Sans SC"/>
                <a:ea typeface="Noto Sans SC"/>
                <a:cs typeface="Noto Sans SC"/>
              </a:rPr>
              <a:t>任务说明</a:t>
            </a:r>
            <a:endParaRPr sz="1600" b="0" dirty="0">
              <a:solidFill>
                <a:srgbClr val="2B2F36"/>
              </a:solidFill>
              <a:latin typeface="Noto Sans SC"/>
              <a:ea typeface="Noto Sans SC"/>
              <a:cs typeface="Noto Sans SC"/>
            </a:endParaRPr>
          </a:p>
          <a:p>
            <a:pPr algn="l">
              <a:defRPr sz="1163" b="0">
                <a:solidFill>
                  <a:srgbClr val="2B2F36"/>
                </a:solidFill>
                <a:latin typeface="Noto Sans SC"/>
                <a:ea typeface="Noto Sans SC"/>
                <a:cs typeface="Noto Sans SC"/>
              </a:defRPr>
            </a:pPr>
            <a:r>
              <a:rPr sz="1600" b="0" dirty="0" err="1">
                <a:solidFill>
                  <a:srgbClr val="2B2F36"/>
                </a:solidFill>
                <a:latin typeface="Noto Sans SC"/>
                <a:ea typeface="Noto Sans SC"/>
                <a:cs typeface="Noto Sans SC"/>
              </a:rPr>
              <a:t>接收自然语言零件描述，提取形状与尺寸信息，调用生成能力创建</a:t>
            </a:r>
            <a:r>
              <a:rPr sz="1600" b="0" dirty="0">
                <a:solidFill>
                  <a:srgbClr val="2B2F36"/>
                </a:solidFill>
                <a:latin typeface="Noto Sans SC"/>
                <a:ea typeface="Noto Sans SC"/>
                <a:cs typeface="Noto Sans SC"/>
              </a:rPr>
              <a:t> CAD </a:t>
            </a:r>
            <a:r>
              <a:rPr sz="1600" b="0" dirty="0" err="1">
                <a:solidFill>
                  <a:srgbClr val="2B2F36"/>
                </a:solidFill>
                <a:latin typeface="Noto Sans SC"/>
                <a:ea typeface="Noto Sans SC"/>
                <a:cs typeface="Noto Sans SC"/>
              </a:rPr>
              <a:t>模型并展示预览；处理描述缺失、尺寸冲突和生成失败。验收范围对应</a:t>
            </a:r>
            <a:r>
              <a:rPr sz="1600" b="0" dirty="0">
                <a:solidFill>
                  <a:srgbClr val="2B2F36"/>
                </a:solidFill>
                <a:latin typeface="Noto Sans SC"/>
                <a:ea typeface="Noto Sans SC"/>
                <a:cs typeface="Noto Sans SC"/>
              </a:rPr>
              <a:t> US01。</a:t>
            </a:r>
          </a:p>
        </p:txBody>
      </p:sp>
      <p:graphicFrame>
        <p:nvGraphicFramePr>
          <p:cNvPr id="7" name="表格 6">
            <a:extLst>
              <a:ext uri="{FF2B5EF4-FFF2-40B4-BE49-F238E27FC236}">
                <a16:creationId xmlns:a16="http://schemas.microsoft.com/office/drawing/2014/main" id="{A82A2BAA-4ED3-43FC-B965-E6FECD9D2C7C}"/>
              </a:ext>
            </a:extLst>
          </p:cNvPr>
          <p:cNvGraphicFramePr/>
          <p:nvPr>
            <p:extLst>
              <p:ext uri="{D42A27DB-BD31-4B8C-83A1-F6EECF244321}">
                <p14:modId xmlns:p14="http://schemas.microsoft.com/office/powerpoint/2010/main" val="3243036621"/>
              </p:ext>
            </p:extLst>
          </p:nvPr>
        </p:nvGraphicFramePr>
        <p:xfrm>
          <a:off x="1016032" y="3356447"/>
          <a:ext cx="10160032" cy="3017520"/>
        </p:xfrm>
        <a:graphic>
          <a:graphicData uri="http://schemas.openxmlformats.org/drawingml/2006/table">
            <a:tbl>
              <a:tblPr firstRow="1" bandRow="1"/>
              <a:tblGrid>
                <a:gridCol w="2540008">
                  <a:extLst>
                    <a:ext uri="{9D8B030D-6E8A-4147-A177-3AD203B41FA5}">
                      <a16:colId xmlns:a16="http://schemas.microsoft.com/office/drawing/2014/main" val="20000"/>
                    </a:ext>
                  </a:extLst>
                </a:gridCol>
                <a:gridCol w="2540008">
                  <a:extLst>
                    <a:ext uri="{9D8B030D-6E8A-4147-A177-3AD203B41FA5}">
                      <a16:colId xmlns:a16="http://schemas.microsoft.com/office/drawing/2014/main" val="20001"/>
                    </a:ext>
                  </a:extLst>
                </a:gridCol>
                <a:gridCol w="2540008">
                  <a:extLst>
                    <a:ext uri="{9D8B030D-6E8A-4147-A177-3AD203B41FA5}">
                      <a16:colId xmlns:a16="http://schemas.microsoft.com/office/drawing/2014/main" val="20002"/>
                    </a:ext>
                  </a:extLst>
                </a:gridCol>
                <a:gridCol w="2540008">
                  <a:extLst>
                    <a:ext uri="{9D8B030D-6E8A-4147-A177-3AD203B41FA5}">
                      <a16:colId xmlns:a16="http://schemas.microsoft.com/office/drawing/2014/main" val="20003"/>
                    </a:ext>
                  </a:extLst>
                </a:gridCol>
              </a:tblGrid>
              <a:tr h="257584">
                <a:tc>
                  <a:txBody>
                    <a:bodyPr/>
                    <a:lstStyle/>
                    <a:p>
                      <a:r>
                        <a:rPr sz="1600" b="1">
                          <a:solidFill>
                            <a:srgbClr val="FFFFFF"/>
                          </a:solidFill>
                          <a:latin typeface="Noto Sans SC"/>
                          <a:ea typeface="Noto Sans SC"/>
                          <a:cs typeface="Noto Sans SC"/>
                        </a:rPr>
                        <a:t>成员</a:t>
                      </a:r>
                    </a:p>
                  </a:txBody>
                  <a:tcPr>
                    <a:lnL w="9525">
                      <a:solidFill>
                        <a:srgbClr val="DCE1E8"/>
                      </a:solidFill>
                      <a:prstDash val="solid"/>
                    </a:lnL>
                    <a:lnR w="9525">
                      <a:solidFill>
                        <a:srgbClr val="DCE1E8"/>
                      </a:solidFill>
                      <a:prstDash val="solid"/>
                    </a:lnR>
                    <a:lnT w="9525">
                      <a:solidFill>
                        <a:srgbClr val="DCE1E8"/>
                      </a:solidFill>
                      <a:prstDash val="solid"/>
                    </a:lnT>
                    <a:lnB w="9525">
                      <a:solidFill>
                        <a:srgbClr val="DCE1E8"/>
                      </a:solidFill>
                      <a:prstDash val="solid"/>
                    </a:lnB>
                    <a:solidFill>
                      <a:srgbClr val="4472C4"/>
                    </a:solidFill>
                  </a:tcPr>
                </a:tc>
                <a:tc>
                  <a:txBody>
                    <a:bodyPr/>
                    <a:lstStyle/>
                    <a:p>
                      <a:r>
                        <a:rPr sz="1600" b="1">
                          <a:solidFill>
                            <a:srgbClr val="FFFFFF"/>
                          </a:solidFill>
                          <a:latin typeface="Noto Sans SC"/>
                          <a:ea typeface="Noto Sans SC"/>
                          <a:cs typeface="Noto Sans SC"/>
                        </a:rPr>
                        <a:t>第一轮</a:t>
                      </a:r>
                    </a:p>
                  </a:txBody>
                  <a:tcPr>
                    <a:lnL w="9525" cap="flat" cmpd="sng" algn="ctr">
                      <a:solidFill>
                        <a:srgbClr val="DCE1E8"/>
                      </a:solidFill>
                      <a:prstDash val="solid"/>
                      <a:round/>
                      <a:headEnd type="none" w="med" len="med"/>
                      <a:tailEnd type="none" w="med" len="med"/>
                    </a:lnL>
                    <a:lnR w="9525">
                      <a:solidFill>
                        <a:srgbClr val="DCE1E8"/>
                      </a:solidFill>
                      <a:prstDash val="solid"/>
                    </a:lnR>
                    <a:lnT w="9525">
                      <a:solidFill>
                        <a:srgbClr val="DCE1E8"/>
                      </a:solidFill>
                      <a:prstDash val="solid"/>
                    </a:lnT>
                    <a:lnB w="9525">
                      <a:solidFill>
                        <a:srgbClr val="DCE1E8"/>
                      </a:solidFill>
                      <a:prstDash val="solid"/>
                    </a:lnB>
                    <a:solidFill>
                      <a:srgbClr val="4472C4"/>
                    </a:solidFill>
                  </a:tcPr>
                </a:tc>
                <a:tc>
                  <a:txBody>
                    <a:bodyPr/>
                    <a:lstStyle/>
                    <a:p>
                      <a:r>
                        <a:rPr sz="1600" b="1">
                          <a:solidFill>
                            <a:srgbClr val="FFFFFF"/>
                          </a:solidFill>
                          <a:latin typeface="Noto Sans SC"/>
                          <a:ea typeface="Noto Sans SC"/>
                          <a:cs typeface="Noto Sans SC"/>
                        </a:rPr>
                        <a:t>第二轮</a:t>
                      </a:r>
                    </a:p>
                  </a:txBody>
                  <a:tcPr>
                    <a:lnL w="9525" cap="flat" cmpd="sng" algn="ctr">
                      <a:solidFill>
                        <a:srgbClr val="DCE1E8"/>
                      </a:solidFill>
                      <a:prstDash val="solid"/>
                      <a:round/>
                      <a:headEnd type="none" w="med" len="med"/>
                      <a:tailEnd type="none" w="med" len="med"/>
                    </a:lnL>
                    <a:lnR w="9525">
                      <a:solidFill>
                        <a:srgbClr val="DCE1E8"/>
                      </a:solidFill>
                      <a:prstDash val="solid"/>
                    </a:lnR>
                    <a:lnT w="9525">
                      <a:solidFill>
                        <a:srgbClr val="DCE1E8"/>
                      </a:solidFill>
                      <a:prstDash val="solid"/>
                    </a:lnT>
                    <a:lnB w="9525">
                      <a:solidFill>
                        <a:srgbClr val="DCE1E8"/>
                      </a:solidFill>
                      <a:prstDash val="solid"/>
                    </a:lnB>
                    <a:solidFill>
                      <a:srgbClr val="4472C4"/>
                    </a:solidFill>
                  </a:tcPr>
                </a:tc>
                <a:tc>
                  <a:txBody>
                    <a:bodyPr/>
                    <a:lstStyle/>
                    <a:p>
                      <a:r>
                        <a:rPr sz="1600" b="1">
                          <a:solidFill>
                            <a:srgbClr val="FFFFFF"/>
                          </a:solidFill>
                          <a:latin typeface="Noto Sans SC"/>
                          <a:ea typeface="Noto Sans SC"/>
                          <a:cs typeface="Noto Sans SC"/>
                        </a:rPr>
                        <a:t>第三轮</a:t>
                      </a:r>
                    </a:p>
                  </a:txBody>
                  <a:tcPr>
                    <a:lnL w="9525" cap="flat" cmpd="sng" algn="ctr">
                      <a:solidFill>
                        <a:srgbClr val="DCE1E8"/>
                      </a:solidFill>
                      <a:prstDash val="solid"/>
                      <a:round/>
                      <a:headEnd type="none" w="med" len="med"/>
                      <a:tailEnd type="none" w="med" len="med"/>
                    </a:lnL>
                    <a:lnR w="9525">
                      <a:solidFill>
                        <a:srgbClr val="DCE1E8"/>
                      </a:solidFill>
                      <a:prstDash val="solid"/>
                    </a:lnR>
                    <a:lnT w="9525">
                      <a:solidFill>
                        <a:srgbClr val="DCE1E8"/>
                      </a:solidFill>
                      <a:prstDash val="solid"/>
                    </a:lnT>
                    <a:lnB w="9525">
                      <a:solidFill>
                        <a:srgbClr val="DCE1E8"/>
                      </a:solidFill>
                      <a:prstDash val="solid"/>
                    </a:lnB>
                    <a:solidFill>
                      <a:srgbClr val="4472C4"/>
                    </a:solidFill>
                  </a:tcPr>
                </a:tc>
                <a:extLst>
                  <a:ext uri="{0D108BD9-81ED-4DB2-BD59-A6C34878D82A}">
                    <a16:rowId xmlns:a16="http://schemas.microsoft.com/office/drawing/2014/main" val="10000"/>
                  </a:ext>
                </a:extLst>
              </a:tr>
              <a:tr h="328792">
                <a:tc>
                  <a:txBody>
                    <a:bodyPr/>
                    <a:lstStyle/>
                    <a:p>
                      <a:r>
                        <a:rPr sz="1600" b="0">
                          <a:solidFill>
                            <a:srgbClr val="2B2F36"/>
                          </a:solidFill>
                          <a:latin typeface="Noto Sans SC"/>
                          <a:ea typeface="Noto Sans SC"/>
                          <a:cs typeface="Noto Sans SC"/>
                        </a:rPr>
                        <a:t>许祖嘉</a:t>
                      </a:r>
                    </a:p>
                  </a:txBody>
                  <a:tcPr>
                    <a:lnL w="9525">
                      <a:solidFill>
                        <a:srgbClr val="DCE1E8"/>
                      </a:solidFill>
                      <a:prstDash val="soli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600" b="0" dirty="0">
                          <a:solidFill>
                            <a:srgbClr val="2B2F36"/>
                          </a:solidFill>
                          <a:latin typeface="Noto Sans SC"/>
                          <a:ea typeface="Noto Sans SC"/>
                          <a:cs typeface="Noto Sans SC"/>
                        </a:rPr>
                        <a:t>3</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600" b="0">
                          <a:solidFill>
                            <a:srgbClr val="2B2F36"/>
                          </a:solidFill>
                          <a:latin typeface="Noto Sans SC"/>
                          <a:ea typeface="Noto Sans SC"/>
                          <a:cs typeface="Noto Sans SC"/>
                        </a:rPr>
                        <a:t>5</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600" b="0">
                          <a:solidFill>
                            <a:srgbClr val="2B2F36"/>
                          </a:solidFill>
                          <a:latin typeface="Noto Sans SC"/>
                          <a:ea typeface="Noto Sans SC"/>
                          <a:cs typeface="Noto Sans SC"/>
                        </a:rPr>
                        <a:t>13</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extLst>
                  <a:ext uri="{0D108BD9-81ED-4DB2-BD59-A6C34878D82A}">
                    <a16:rowId xmlns:a16="http://schemas.microsoft.com/office/drawing/2014/main" val="10001"/>
                  </a:ext>
                </a:extLst>
              </a:tr>
              <a:tr h="328792">
                <a:tc>
                  <a:txBody>
                    <a:bodyPr/>
                    <a:lstStyle/>
                    <a:p>
                      <a:r>
                        <a:rPr sz="1600" b="0">
                          <a:solidFill>
                            <a:srgbClr val="2B2F36"/>
                          </a:solidFill>
                          <a:latin typeface="Noto Sans SC"/>
                          <a:ea typeface="Noto Sans SC"/>
                          <a:cs typeface="Noto Sans SC"/>
                        </a:rPr>
                        <a:t>李健博</a:t>
                      </a:r>
                    </a:p>
                  </a:txBody>
                  <a:tcPr>
                    <a:lnL w="9525">
                      <a:solidFill>
                        <a:srgbClr val="DCE1E8"/>
                      </a:solidFill>
                      <a:prstDash val="soli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600" b="0">
                          <a:solidFill>
                            <a:srgbClr val="2B2F36"/>
                          </a:solidFill>
                          <a:latin typeface="Noto Sans SC"/>
                          <a:ea typeface="Noto Sans SC"/>
                          <a:cs typeface="Noto Sans SC"/>
                        </a:rPr>
                        <a:t>3</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600" b="0">
                          <a:solidFill>
                            <a:srgbClr val="2B2F36"/>
                          </a:solidFill>
                          <a:latin typeface="Noto Sans SC"/>
                          <a:ea typeface="Noto Sans SC"/>
                          <a:cs typeface="Noto Sans SC"/>
                        </a:rPr>
                        <a:t>5</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600" b="0">
                          <a:solidFill>
                            <a:srgbClr val="2B2F36"/>
                          </a:solidFill>
                          <a:latin typeface="Noto Sans SC"/>
                          <a:ea typeface="Noto Sans SC"/>
                          <a:cs typeface="Noto Sans SC"/>
                        </a:rPr>
                        <a:t>13</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extLst>
                  <a:ext uri="{0D108BD9-81ED-4DB2-BD59-A6C34878D82A}">
                    <a16:rowId xmlns:a16="http://schemas.microsoft.com/office/drawing/2014/main" val="10002"/>
                  </a:ext>
                </a:extLst>
              </a:tr>
              <a:tr h="328792">
                <a:tc>
                  <a:txBody>
                    <a:bodyPr/>
                    <a:lstStyle/>
                    <a:p>
                      <a:r>
                        <a:rPr sz="1600" b="0">
                          <a:solidFill>
                            <a:srgbClr val="2B2F36"/>
                          </a:solidFill>
                          <a:latin typeface="Noto Sans SC"/>
                          <a:ea typeface="Noto Sans SC"/>
                          <a:cs typeface="Noto Sans SC"/>
                        </a:rPr>
                        <a:t>常诚</a:t>
                      </a:r>
                    </a:p>
                  </a:txBody>
                  <a:tcPr>
                    <a:lnL w="9525">
                      <a:solidFill>
                        <a:srgbClr val="DCE1E8"/>
                      </a:solidFill>
                      <a:prstDash val="soli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600" b="0">
                          <a:solidFill>
                            <a:srgbClr val="2B2F36"/>
                          </a:solidFill>
                          <a:latin typeface="Noto Sans SC"/>
                          <a:ea typeface="Noto Sans SC"/>
                          <a:cs typeface="Noto Sans SC"/>
                        </a:rPr>
                        <a:t>5</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600" b="0">
                          <a:solidFill>
                            <a:srgbClr val="2B2F36"/>
                          </a:solidFill>
                          <a:latin typeface="Noto Sans SC"/>
                          <a:ea typeface="Noto Sans SC"/>
                          <a:cs typeface="Noto Sans SC"/>
                        </a:rPr>
                        <a:t>8</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600" b="0">
                          <a:solidFill>
                            <a:srgbClr val="2B2F36"/>
                          </a:solidFill>
                          <a:latin typeface="Noto Sans SC"/>
                          <a:ea typeface="Noto Sans SC"/>
                          <a:cs typeface="Noto Sans SC"/>
                        </a:rPr>
                        <a:t>13</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extLst>
                  <a:ext uri="{0D108BD9-81ED-4DB2-BD59-A6C34878D82A}">
                    <a16:rowId xmlns:a16="http://schemas.microsoft.com/office/drawing/2014/main" val="10003"/>
                  </a:ext>
                </a:extLst>
              </a:tr>
              <a:tr h="328792">
                <a:tc>
                  <a:txBody>
                    <a:bodyPr/>
                    <a:lstStyle/>
                    <a:p>
                      <a:r>
                        <a:rPr sz="1600" b="0">
                          <a:solidFill>
                            <a:srgbClr val="2B2F36"/>
                          </a:solidFill>
                          <a:latin typeface="Noto Sans SC"/>
                          <a:ea typeface="Noto Sans SC"/>
                          <a:cs typeface="Noto Sans SC"/>
                        </a:rPr>
                        <a:t>刘子轩</a:t>
                      </a:r>
                    </a:p>
                  </a:txBody>
                  <a:tcPr>
                    <a:lnL w="9525">
                      <a:solidFill>
                        <a:srgbClr val="DCE1E8"/>
                      </a:solidFill>
                      <a:prstDash val="soli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600" b="0">
                          <a:solidFill>
                            <a:srgbClr val="2B2F36"/>
                          </a:solidFill>
                          <a:latin typeface="Noto Sans SC"/>
                          <a:ea typeface="Noto Sans SC"/>
                          <a:cs typeface="Noto Sans SC"/>
                        </a:rPr>
                        <a:t>3</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600" b="0">
                          <a:solidFill>
                            <a:srgbClr val="2B2F36"/>
                          </a:solidFill>
                          <a:latin typeface="Noto Sans SC"/>
                          <a:ea typeface="Noto Sans SC"/>
                          <a:cs typeface="Noto Sans SC"/>
                        </a:rPr>
                        <a:t>8</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600" b="0">
                          <a:solidFill>
                            <a:srgbClr val="2B2F36"/>
                          </a:solidFill>
                          <a:latin typeface="Noto Sans SC"/>
                          <a:ea typeface="Noto Sans SC"/>
                          <a:cs typeface="Noto Sans SC"/>
                        </a:rPr>
                        <a:t>13</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extLst>
                  <a:ext uri="{0D108BD9-81ED-4DB2-BD59-A6C34878D82A}">
                    <a16:rowId xmlns:a16="http://schemas.microsoft.com/office/drawing/2014/main" val="10004"/>
                  </a:ext>
                </a:extLst>
              </a:tr>
              <a:tr h="328792">
                <a:tc>
                  <a:txBody>
                    <a:bodyPr/>
                    <a:lstStyle/>
                    <a:p>
                      <a:r>
                        <a:rPr sz="1600" b="0" dirty="0" err="1">
                          <a:solidFill>
                            <a:srgbClr val="2B2F36"/>
                          </a:solidFill>
                          <a:latin typeface="Noto Sans SC"/>
                          <a:ea typeface="Noto Sans SC"/>
                          <a:cs typeface="Noto Sans SC"/>
                        </a:rPr>
                        <a:t>侯永森</a:t>
                      </a:r>
                      <a:endParaRPr sz="1600" b="0" dirty="0">
                        <a:solidFill>
                          <a:srgbClr val="2B2F36"/>
                        </a:solidFill>
                        <a:latin typeface="Noto Sans SC"/>
                        <a:ea typeface="Noto Sans SC"/>
                        <a:cs typeface="Noto Sans SC"/>
                      </a:endParaRPr>
                    </a:p>
                  </a:txBody>
                  <a:tcPr>
                    <a:lnL w="9525">
                      <a:solidFill>
                        <a:srgbClr val="DCE1E8"/>
                      </a:solidFill>
                      <a:prstDash val="soli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600" b="0">
                          <a:solidFill>
                            <a:srgbClr val="2B2F36"/>
                          </a:solidFill>
                          <a:latin typeface="Noto Sans SC"/>
                          <a:ea typeface="Noto Sans SC"/>
                          <a:cs typeface="Noto Sans SC"/>
                        </a:rPr>
                        <a:t>5</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600" b="0">
                          <a:solidFill>
                            <a:srgbClr val="2B2F36"/>
                          </a:solidFill>
                          <a:latin typeface="Noto Sans SC"/>
                          <a:ea typeface="Noto Sans SC"/>
                          <a:cs typeface="Noto Sans SC"/>
                        </a:rPr>
                        <a:t>8</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600" b="0">
                          <a:solidFill>
                            <a:srgbClr val="2B2F36"/>
                          </a:solidFill>
                          <a:latin typeface="Noto Sans SC"/>
                          <a:ea typeface="Noto Sans SC"/>
                          <a:cs typeface="Noto Sans SC"/>
                        </a:rPr>
                        <a:t>13</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extLst>
                  <a:ext uri="{0D108BD9-81ED-4DB2-BD59-A6C34878D82A}">
                    <a16:rowId xmlns:a16="http://schemas.microsoft.com/office/drawing/2014/main" val="10005"/>
                  </a:ext>
                </a:extLst>
              </a:tr>
              <a:tr h="328792">
                <a:tc>
                  <a:txBody>
                    <a:bodyPr/>
                    <a:lstStyle/>
                    <a:p>
                      <a:r>
                        <a:rPr sz="1600" b="0" dirty="0" err="1">
                          <a:solidFill>
                            <a:srgbClr val="2B2F36"/>
                          </a:solidFill>
                          <a:latin typeface="Noto Sans SC"/>
                          <a:ea typeface="Noto Sans SC"/>
                          <a:cs typeface="Noto Sans SC"/>
                        </a:rPr>
                        <a:t>庞佳泽</a:t>
                      </a:r>
                      <a:endParaRPr sz="1600" b="0" dirty="0">
                        <a:solidFill>
                          <a:srgbClr val="2B2F36"/>
                        </a:solidFill>
                        <a:latin typeface="Noto Sans SC"/>
                        <a:ea typeface="Noto Sans SC"/>
                        <a:cs typeface="Noto Sans SC"/>
                      </a:endParaRPr>
                    </a:p>
                  </a:txBody>
                  <a:tcPr>
                    <a:lnL w="9525">
                      <a:solidFill>
                        <a:srgbClr val="DCE1E8"/>
                      </a:solidFill>
                      <a:prstDash val="soli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600" b="0">
                          <a:solidFill>
                            <a:srgbClr val="2B2F36"/>
                          </a:solidFill>
                          <a:latin typeface="Noto Sans SC"/>
                          <a:ea typeface="Noto Sans SC"/>
                          <a:cs typeface="Noto Sans SC"/>
                        </a:rPr>
                        <a:t>3</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600" b="0">
                          <a:solidFill>
                            <a:srgbClr val="2B2F36"/>
                          </a:solidFill>
                          <a:latin typeface="Noto Sans SC"/>
                          <a:ea typeface="Noto Sans SC"/>
                          <a:cs typeface="Noto Sans SC"/>
                        </a:rPr>
                        <a:t>5</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600" b="0">
                          <a:solidFill>
                            <a:srgbClr val="2B2F36"/>
                          </a:solidFill>
                          <a:latin typeface="Noto Sans SC"/>
                          <a:ea typeface="Noto Sans SC"/>
                          <a:cs typeface="Noto Sans SC"/>
                        </a:rPr>
                        <a:t>13</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extLst>
                  <a:ext uri="{0D108BD9-81ED-4DB2-BD59-A6C34878D82A}">
                    <a16:rowId xmlns:a16="http://schemas.microsoft.com/office/drawing/2014/main" val="10006"/>
                  </a:ext>
                </a:extLst>
              </a:tr>
              <a:tr h="328792">
                <a:tc>
                  <a:txBody>
                    <a:bodyPr/>
                    <a:lstStyle/>
                    <a:p>
                      <a:r>
                        <a:rPr sz="1600" b="0">
                          <a:solidFill>
                            <a:srgbClr val="2B2F36"/>
                          </a:solidFill>
                          <a:latin typeface="Noto Sans SC"/>
                          <a:ea typeface="Noto Sans SC"/>
                          <a:cs typeface="Noto Sans SC"/>
                        </a:rPr>
                        <a:t>余智皓</a:t>
                      </a:r>
                    </a:p>
                  </a:txBody>
                  <a:tcPr>
                    <a:lnL w="9525">
                      <a:solidFill>
                        <a:srgbClr val="DCE1E8"/>
                      </a:solidFill>
                      <a:prstDash val="soli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600" b="0">
                          <a:solidFill>
                            <a:srgbClr val="2B2F36"/>
                          </a:solidFill>
                          <a:latin typeface="Noto Sans SC"/>
                          <a:ea typeface="Noto Sans SC"/>
                          <a:cs typeface="Noto Sans SC"/>
                        </a:rPr>
                        <a:t>2</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600" b="0">
                          <a:solidFill>
                            <a:srgbClr val="2B2F36"/>
                          </a:solidFill>
                          <a:latin typeface="Noto Sans SC"/>
                          <a:ea typeface="Noto Sans SC"/>
                          <a:cs typeface="Noto Sans SC"/>
                        </a:rPr>
                        <a:t>5</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600" b="0">
                          <a:solidFill>
                            <a:srgbClr val="2B2F36"/>
                          </a:solidFill>
                          <a:latin typeface="Noto Sans SC"/>
                          <a:ea typeface="Noto Sans SC"/>
                          <a:cs typeface="Noto Sans SC"/>
                        </a:rPr>
                        <a:t>13</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extLst>
                  <a:ext uri="{0D108BD9-81ED-4DB2-BD59-A6C34878D82A}">
                    <a16:rowId xmlns:a16="http://schemas.microsoft.com/office/drawing/2014/main" val="10007"/>
                  </a:ext>
                </a:extLst>
              </a:tr>
              <a:tr h="328792">
                <a:tc>
                  <a:txBody>
                    <a:bodyPr/>
                    <a:lstStyle/>
                    <a:p>
                      <a:r>
                        <a:rPr sz="1600" b="0">
                          <a:solidFill>
                            <a:srgbClr val="2B2F36"/>
                          </a:solidFill>
                          <a:latin typeface="Noto Sans SC"/>
                          <a:ea typeface="Noto Sans SC"/>
                          <a:cs typeface="Noto Sans SC"/>
                        </a:rPr>
                        <a:t>严翊航</a:t>
                      </a:r>
                    </a:p>
                  </a:txBody>
                  <a:tcPr>
                    <a:lnL w="9525">
                      <a:solidFill>
                        <a:srgbClr val="DCE1E8"/>
                      </a:solidFill>
                      <a:prstDash val="soli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600" b="0">
                          <a:solidFill>
                            <a:srgbClr val="2B2F36"/>
                          </a:solidFill>
                          <a:latin typeface="Noto Sans SC"/>
                          <a:ea typeface="Noto Sans SC"/>
                          <a:cs typeface="Noto Sans SC"/>
                        </a:rPr>
                        <a:t>3</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600" b="0">
                          <a:solidFill>
                            <a:srgbClr val="2B2F36"/>
                          </a:solidFill>
                          <a:latin typeface="Noto Sans SC"/>
                          <a:ea typeface="Noto Sans SC"/>
                          <a:cs typeface="Noto Sans SC"/>
                        </a:rPr>
                        <a:t>5</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600" b="0" dirty="0">
                          <a:solidFill>
                            <a:srgbClr val="2B2F36"/>
                          </a:solidFill>
                          <a:latin typeface="Noto Sans SC"/>
                          <a:ea typeface="Noto Sans SC"/>
                          <a:cs typeface="Noto Sans SC"/>
                        </a:rPr>
                        <a:t>13</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0303300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D522585F-0FCE-4FBA-A422-75B61FF0EE16}"/>
              </a:ext>
            </a:extLst>
          </p:cNvPr>
          <p:cNvSpPr>
            <a:spLocks noGrp="1"/>
          </p:cNvSpPr>
          <p:nvPr/>
        </p:nvSpPr>
        <p:spPr>
          <a:xfrm>
            <a:off x="1016032" y="711232"/>
            <a:ext cx="7620000" cy="266700"/>
          </a:xfrm>
          <a:prstGeom prst="rect">
            <a:avLst/>
          </a:prstGeom>
          <a:noFill/>
          <a:ln w="0">
            <a:noFill/>
            <a:prstDash val="solid"/>
          </a:ln>
        </p:spPr>
        <p:txBody>
          <a:bodyPr/>
          <a:lstStyle>
            <a:defPPr algn="l">
              <a:defRPr sz="1300" b="1">
                <a:solidFill>
                  <a:srgbClr val="ED7D31"/>
                </a:solidFill>
                <a:latin typeface="Noto Sans SC"/>
                <a:ea typeface="Noto Sans SC"/>
                <a:cs typeface="Noto Sans SC"/>
              </a:defRPr>
            </a:defPPr>
          </a:lstStyle>
          <a:p>
            <a:pPr algn="l">
              <a:defRPr sz="1300" b="1">
                <a:solidFill>
                  <a:srgbClr val="ED7D31"/>
                </a:solidFill>
                <a:latin typeface="Noto Sans SC"/>
                <a:ea typeface="Noto Sans SC"/>
                <a:cs typeface="Noto Sans SC"/>
              </a:defRPr>
            </a:pPr>
            <a:r>
              <a:rPr sz="1300" b="1">
                <a:solidFill>
                  <a:srgbClr val="ED7D31"/>
                </a:solidFill>
                <a:latin typeface="Noto Sans SC"/>
                <a:ea typeface="Noto Sans SC"/>
                <a:cs typeface="Noto Sans SC"/>
              </a:rPr>
              <a:t>TASK 8 · 轮次讨论</a:t>
            </a:r>
          </a:p>
        </p:txBody>
      </p:sp>
      <p:sp>
        <p:nvSpPr>
          <p:cNvPr id="2" name="矩形 1">
            <a:extLst>
              <a:ext uri="{FF2B5EF4-FFF2-40B4-BE49-F238E27FC236}">
                <a16:creationId xmlns:a16="http://schemas.microsoft.com/office/drawing/2014/main" id="{99168AB6-DAEF-4556-95A6-F87103354D34}"/>
              </a:ext>
            </a:extLst>
          </p:cNvPr>
          <p:cNvSpPr>
            <a:spLocks noGrp="1"/>
          </p:cNvSpPr>
          <p:nvPr/>
        </p:nvSpPr>
        <p:spPr>
          <a:xfrm>
            <a:off x="1016032" y="1092232"/>
            <a:ext cx="10160032" cy="590550"/>
          </a:xfrm>
          <a:prstGeom prst="rect">
            <a:avLst/>
          </a:prstGeom>
          <a:noFill/>
          <a:ln w="0">
            <a:noFill/>
            <a:prstDash val="solid"/>
          </a:ln>
        </p:spPr>
        <p:txBody>
          <a:bodyPr/>
          <a:lstStyle>
            <a:defPPr algn="l">
              <a:defRPr sz="2550" b="1">
                <a:solidFill>
                  <a:srgbClr val="2B2F36"/>
                </a:solidFill>
                <a:latin typeface="Noto Sans SC"/>
                <a:ea typeface="Noto Sans SC"/>
                <a:cs typeface="Noto Sans SC"/>
              </a:defRPr>
            </a:defPPr>
          </a:lstStyle>
          <a:p>
            <a:pPr algn="l">
              <a:defRPr sz="2550" b="1">
                <a:solidFill>
                  <a:srgbClr val="2B2F36"/>
                </a:solidFill>
                <a:latin typeface="Noto Sans SC"/>
                <a:ea typeface="Noto Sans SC"/>
                <a:cs typeface="Noto Sans SC"/>
              </a:defRPr>
            </a:pPr>
            <a:r>
              <a:rPr sz="2550" b="1">
                <a:solidFill>
                  <a:srgbClr val="2B2F36"/>
                </a:solidFill>
                <a:latin typeface="Noto Sans SC"/>
                <a:ea typeface="Noto Sans SC"/>
                <a:cs typeface="Noto Sans SC"/>
              </a:rPr>
              <a:t>任务8 轮次讨论与最终故事点</a:t>
            </a:r>
          </a:p>
        </p:txBody>
      </p:sp>
      <p:sp>
        <p:nvSpPr>
          <p:cNvPr id="3" name="矩形 2">
            <a:extLst>
              <a:ext uri="{FF2B5EF4-FFF2-40B4-BE49-F238E27FC236}">
                <a16:creationId xmlns:a16="http://schemas.microsoft.com/office/drawing/2014/main" id="{6451C634-D78B-4F02-A92B-75F3EA2EC75A}"/>
              </a:ext>
            </a:extLst>
          </p:cNvPr>
          <p:cNvSpPr>
            <a:spLocks noGrp="1"/>
          </p:cNvSpPr>
          <p:nvPr/>
        </p:nvSpPr>
        <p:spPr>
          <a:xfrm>
            <a:off x="1016032" y="2025682"/>
            <a:ext cx="10160032" cy="12668"/>
          </a:xfrm>
          <a:prstGeom prst="rect">
            <a:avLst/>
          </a:prstGeom>
          <a:solidFill>
            <a:srgbClr val="DCE1E8"/>
          </a:solidFill>
          <a:ln w="0">
            <a:solidFill>
              <a:srgbClr val="DCE1E8"/>
            </a:solidFill>
            <a:prstDash val="solid"/>
          </a:ln>
        </p:spPr>
      </p:sp>
      <p:sp>
        <p:nvSpPr>
          <p:cNvPr id="4" name="矩形 3">
            <a:extLst>
              <a:ext uri="{FF2B5EF4-FFF2-40B4-BE49-F238E27FC236}">
                <a16:creationId xmlns:a16="http://schemas.microsoft.com/office/drawing/2014/main" id="{9929841E-CD2A-4E0E-99D7-FC1AB16B3750}"/>
              </a:ext>
            </a:extLst>
          </p:cNvPr>
          <p:cNvSpPr>
            <a:spLocks noGrp="1"/>
          </p:cNvSpPr>
          <p:nvPr/>
        </p:nvSpPr>
        <p:spPr>
          <a:xfrm>
            <a:off x="1016032" y="6350032"/>
            <a:ext cx="6667500" cy="266700"/>
          </a:xfrm>
          <a:prstGeom prst="rect">
            <a:avLst/>
          </a:prstGeom>
          <a:noFill/>
          <a:ln w="0">
            <a:noFill/>
            <a:prstDash val="solid"/>
          </a:ln>
        </p:spPr>
        <p:txBody>
          <a:bodyPr/>
          <a:lstStyle>
            <a:defPPr algn="l">
              <a:defRPr sz="1100" b="0">
                <a:solidFill>
                  <a:srgbClr val="A0A8B4"/>
                </a:solidFill>
                <a:latin typeface="Noto Sans SC"/>
                <a:ea typeface="Noto Sans SC"/>
                <a:cs typeface="Noto Sans SC"/>
              </a:defRPr>
            </a:defPPr>
          </a:lstStyle>
          <a:p>
            <a:pPr algn="l">
              <a:defRPr sz="1100" b="0">
                <a:solidFill>
                  <a:srgbClr val="A0A8B4"/>
                </a:solidFill>
                <a:latin typeface="Noto Sans SC"/>
                <a:ea typeface="Noto Sans SC"/>
                <a:cs typeface="Noto Sans SC"/>
              </a:defRPr>
            </a:pPr>
            <a:r>
              <a:rPr sz="1100" b="0">
                <a:solidFill>
                  <a:srgbClr val="A0A8B4"/>
                </a:solidFill>
                <a:latin typeface="Noto Sans SC"/>
                <a:ea typeface="Noto Sans SC"/>
                <a:cs typeface="Noto Sans SC"/>
              </a:rPr>
              <a:t>SimpleCADforDSH ｜ 讨论四 · 规划扑克估算</a:t>
            </a:r>
          </a:p>
        </p:txBody>
      </p:sp>
      <p:sp>
        <p:nvSpPr>
          <p:cNvPr id="6" name="矩形: 圆角 5">
            <a:extLst>
              <a:ext uri="{FF2B5EF4-FFF2-40B4-BE49-F238E27FC236}">
                <a16:creationId xmlns:a16="http://schemas.microsoft.com/office/drawing/2014/main" id="{7F72B5DF-8A4C-4AE1-A59C-5979972BC31A}"/>
              </a:ext>
            </a:extLst>
          </p:cNvPr>
          <p:cNvSpPr>
            <a:spLocks noGrp="1"/>
          </p:cNvSpPr>
          <p:nvPr/>
        </p:nvSpPr>
        <p:spPr>
          <a:xfrm>
            <a:off x="1016032" y="2324100"/>
            <a:ext cx="4857750" cy="1409700"/>
          </a:xfrm>
          <a:prstGeom prst="roundRect">
            <a:avLst>
              <a:gd name="adj" fmla="val 5405"/>
            </a:avLst>
          </a:prstGeom>
          <a:solidFill>
            <a:srgbClr val="E8EEF8"/>
          </a:solidFill>
          <a:ln w="0">
            <a:solidFill>
              <a:srgbClr val="4472C4"/>
            </a:solidFill>
            <a:prstDash val="solid"/>
          </a:ln>
        </p:spPr>
        <p:txBody>
          <a:bodyPr/>
          <a:lstStyle>
            <a:defPPr algn="l">
              <a:defRPr sz="1238" b="0">
                <a:solidFill>
                  <a:srgbClr val="2B2F36"/>
                </a:solidFill>
                <a:latin typeface="Noto Sans SC"/>
                <a:ea typeface="Noto Sans SC"/>
                <a:cs typeface="Noto Sans SC"/>
              </a:defRPr>
            </a:defPPr>
          </a:lstStyle>
          <a:p>
            <a:pPr algn="l">
              <a:defRPr sz="1238" b="0">
                <a:solidFill>
                  <a:srgbClr val="2B2F36"/>
                </a:solidFill>
                <a:latin typeface="Noto Sans SC"/>
                <a:ea typeface="Noto Sans SC"/>
                <a:cs typeface="Noto Sans SC"/>
              </a:defRPr>
            </a:pPr>
            <a:r>
              <a:rPr sz="1600" b="0" dirty="0" err="1">
                <a:solidFill>
                  <a:srgbClr val="2B2F36"/>
                </a:solidFill>
                <a:latin typeface="Noto Sans SC"/>
                <a:ea typeface="Noto Sans SC"/>
                <a:cs typeface="Noto Sans SC"/>
              </a:rPr>
              <a:t>第一轮</a:t>
            </a:r>
            <a:endParaRPr sz="1600" b="0" dirty="0">
              <a:solidFill>
                <a:srgbClr val="2B2F36"/>
              </a:solidFill>
              <a:latin typeface="Noto Sans SC"/>
              <a:ea typeface="Noto Sans SC"/>
              <a:cs typeface="Noto Sans SC"/>
            </a:endParaRPr>
          </a:p>
          <a:p>
            <a:pPr algn="l">
              <a:defRPr sz="1238" b="0">
                <a:solidFill>
                  <a:srgbClr val="2B2F36"/>
                </a:solidFill>
                <a:latin typeface="Noto Sans SC"/>
                <a:ea typeface="Noto Sans SC"/>
                <a:cs typeface="Noto Sans SC"/>
              </a:defRPr>
            </a:pPr>
            <a:r>
              <a:rPr sz="1600" b="0" dirty="0" err="1">
                <a:solidFill>
                  <a:srgbClr val="2B2F36"/>
                </a:solidFill>
                <a:latin typeface="Noto Sans SC"/>
                <a:ea typeface="Noto Sans SC"/>
                <a:cs typeface="Noto Sans SC"/>
              </a:rPr>
              <a:t>最高</a:t>
            </a:r>
            <a:r>
              <a:rPr sz="1600" b="0" dirty="0">
                <a:solidFill>
                  <a:srgbClr val="2B2F36"/>
                </a:solidFill>
                <a:latin typeface="Noto Sans SC"/>
                <a:ea typeface="Noto Sans SC"/>
                <a:cs typeface="Noto Sans SC"/>
              </a:rPr>
              <a:t> 5 </a:t>
            </a:r>
            <a:r>
              <a:rPr sz="1600" b="0" dirty="0" err="1">
                <a:solidFill>
                  <a:srgbClr val="2B2F36"/>
                </a:solidFill>
                <a:latin typeface="Noto Sans SC"/>
                <a:ea typeface="Noto Sans SC"/>
                <a:cs typeface="Noto Sans SC"/>
              </a:rPr>
              <a:t>点，最低</a:t>
            </a:r>
            <a:r>
              <a:rPr sz="1600" b="0" dirty="0">
                <a:solidFill>
                  <a:srgbClr val="2B2F36"/>
                </a:solidFill>
                <a:latin typeface="Noto Sans SC"/>
                <a:ea typeface="Noto Sans SC"/>
                <a:cs typeface="Noto Sans SC"/>
              </a:rPr>
              <a:t> 2 </a:t>
            </a:r>
            <a:r>
              <a:rPr sz="1600" b="0" dirty="0" err="1">
                <a:solidFill>
                  <a:srgbClr val="2B2F36"/>
                </a:solidFill>
                <a:latin typeface="Noto Sans SC"/>
                <a:ea typeface="Noto Sans SC"/>
                <a:cs typeface="Noto Sans SC"/>
              </a:rPr>
              <a:t>点。高估值关注尺寸解析、生成结果校验；低估值认为可复用已有服务。补充说明需覆盖尺寸提取、核对及异常提示</a:t>
            </a:r>
            <a:r>
              <a:rPr sz="1600" b="0" dirty="0">
                <a:solidFill>
                  <a:srgbClr val="2B2F36"/>
                </a:solidFill>
                <a:latin typeface="Noto Sans SC"/>
                <a:ea typeface="Noto Sans SC"/>
                <a:cs typeface="Noto Sans SC"/>
              </a:rPr>
              <a:t>。</a:t>
            </a:r>
          </a:p>
        </p:txBody>
      </p:sp>
      <p:sp>
        <p:nvSpPr>
          <p:cNvPr id="7" name="矩形: 圆角 6">
            <a:extLst>
              <a:ext uri="{FF2B5EF4-FFF2-40B4-BE49-F238E27FC236}">
                <a16:creationId xmlns:a16="http://schemas.microsoft.com/office/drawing/2014/main" id="{C49E7C27-D004-418D-9911-39519D7D483F}"/>
              </a:ext>
            </a:extLst>
          </p:cNvPr>
          <p:cNvSpPr>
            <a:spLocks noGrp="1"/>
          </p:cNvSpPr>
          <p:nvPr/>
        </p:nvSpPr>
        <p:spPr>
          <a:xfrm>
            <a:off x="6318218" y="2324100"/>
            <a:ext cx="4857750" cy="1409700"/>
          </a:xfrm>
          <a:prstGeom prst="roundRect">
            <a:avLst>
              <a:gd name="adj" fmla="val 5405"/>
            </a:avLst>
          </a:prstGeom>
          <a:solidFill>
            <a:srgbClr val="FCEDE0"/>
          </a:solidFill>
          <a:ln w="0">
            <a:solidFill>
              <a:srgbClr val="ED7D31"/>
            </a:solidFill>
            <a:prstDash val="solid"/>
          </a:ln>
        </p:spPr>
        <p:txBody>
          <a:bodyPr/>
          <a:lstStyle>
            <a:defPPr algn="l">
              <a:defRPr sz="1238" b="0">
                <a:solidFill>
                  <a:srgbClr val="2B2F36"/>
                </a:solidFill>
                <a:latin typeface="Noto Sans SC"/>
                <a:ea typeface="Noto Sans SC"/>
                <a:cs typeface="Noto Sans SC"/>
              </a:defRPr>
            </a:defPPr>
          </a:lstStyle>
          <a:p>
            <a:pPr algn="l">
              <a:defRPr sz="1238" b="0">
                <a:solidFill>
                  <a:srgbClr val="2B2F36"/>
                </a:solidFill>
                <a:latin typeface="Noto Sans SC"/>
                <a:ea typeface="Noto Sans SC"/>
                <a:cs typeface="Noto Sans SC"/>
              </a:defRPr>
            </a:pPr>
            <a:r>
              <a:rPr sz="1600" b="0" dirty="0" err="1">
                <a:solidFill>
                  <a:srgbClr val="2B2F36"/>
                </a:solidFill>
                <a:latin typeface="Noto Sans SC"/>
                <a:ea typeface="Noto Sans SC"/>
                <a:cs typeface="Noto Sans SC"/>
              </a:rPr>
              <a:t>第二轮</a:t>
            </a:r>
            <a:endParaRPr sz="1600" b="0" dirty="0">
              <a:solidFill>
                <a:srgbClr val="2B2F36"/>
              </a:solidFill>
              <a:latin typeface="Noto Sans SC"/>
              <a:ea typeface="Noto Sans SC"/>
              <a:cs typeface="Noto Sans SC"/>
            </a:endParaRPr>
          </a:p>
          <a:p>
            <a:pPr algn="l">
              <a:defRPr sz="1238" b="0">
                <a:solidFill>
                  <a:srgbClr val="2B2F36"/>
                </a:solidFill>
                <a:latin typeface="Noto Sans SC"/>
                <a:ea typeface="Noto Sans SC"/>
                <a:cs typeface="Noto Sans SC"/>
              </a:defRPr>
            </a:pPr>
            <a:r>
              <a:rPr sz="1600" b="0" dirty="0" err="1">
                <a:solidFill>
                  <a:srgbClr val="2B2F36"/>
                </a:solidFill>
                <a:latin typeface="Noto Sans SC"/>
                <a:ea typeface="Noto Sans SC"/>
                <a:cs typeface="Noto Sans SC"/>
              </a:rPr>
              <a:t>最高</a:t>
            </a:r>
            <a:r>
              <a:rPr sz="1600" b="0" dirty="0">
                <a:solidFill>
                  <a:srgbClr val="2B2F36"/>
                </a:solidFill>
                <a:latin typeface="Noto Sans SC"/>
                <a:ea typeface="Noto Sans SC"/>
                <a:cs typeface="Noto Sans SC"/>
              </a:rPr>
              <a:t> 8 </a:t>
            </a:r>
            <a:r>
              <a:rPr sz="1600" b="0" dirty="0" err="1">
                <a:solidFill>
                  <a:srgbClr val="2B2F36"/>
                </a:solidFill>
                <a:latin typeface="Noto Sans SC"/>
                <a:ea typeface="Noto Sans SC"/>
                <a:cs typeface="Noto Sans SC"/>
              </a:rPr>
              <a:t>点，最低</a:t>
            </a:r>
            <a:r>
              <a:rPr sz="1600" b="0" dirty="0">
                <a:solidFill>
                  <a:srgbClr val="2B2F36"/>
                </a:solidFill>
                <a:latin typeface="Noto Sans SC"/>
                <a:ea typeface="Noto Sans SC"/>
                <a:cs typeface="Noto Sans SC"/>
              </a:rPr>
              <a:t> 5 </a:t>
            </a:r>
            <a:r>
              <a:rPr sz="1600" b="0" dirty="0" err="1">
                <a:solidFill>
                  <a:srgbClr val="2B2F36"/>
                </a:solidFill>
                <a:latin typeface="Noto Sans SC"/>
                <a:ea typeface="Noto Sans SC"/>
                <a:cs typeface="Noto Sans SC"/>
              </a:rPr>
              <a:t>点。讨论聚焦尺寸解析与生成服务联调，并验证缺失尺寸、尺寸冲突和服务失败</a:t>
            </a:r>
            <a:r>
              <a:rPr sz="1600" b="0" dirty="0">
                <a:solidFill>
                  <a:srgbClr val="2B2F36"/>
                </a:solidFill>
                <a:latin typeface="Noto Sans SC"/>
                <a:ea typeface="Noto Sans SC"/>
                <a:cs typeface="Noto Sans SC"/>
              </a:rPr>
              <a:t>。</a:t>
            </a:r>
          </a:p>
        </p:txBody>
      </p:sp>
      <p:sp>
        <p:nvSpPr>
          <p:cNvPr id="8" name="矩形 7">
            <a:extLst>
              <a:ext uri="{FF2B5EF4-FFF2-40B4-BE49-F238E27FC236}">
                <a16:creationId xmlns:a16="http://schemas.microsoft.com/office/drawing/2014/main" id="{B27AA212-5E72-4DE1-8BBC-3DC2C8D16A4D}"/>
              </a:ext>
            </a:extLst>
          </p:cNvPr>
          <p:cNvSpPr>
            <a:spLocks noGrp="1"/>
          </p:cNvSpPr>
          <p:nvPr/>
        </p:nvSpPr>
        <p:spPr>
          <a:xfrm>
            <a:off x="1016032" y="4267200"/>
            <a:ext cx="2857500" cy="285750"/>
          </a:xfrm>
          <a:prstGeom prst="rect">
            <a:avLst/>
          </a:prstGeom>
          <a:noFill/>
          <a:ln w="0">
            <a:noFill/>
            <a:prstDash val="solid"/>
          </a:ln>
        </p:spPr>
        <p:txBody>
          <a:bodyPr/>
          <a:lstStyle>
            <a:defPPr algn="l">
              <a:defRPr sz="1425" b="1">
                <a:solidFill>
                  <a:srgbClr val="4472C4"/>
                </a:solidFill>
                <a:latin typeface="Noto Sans SC"/>
                <a:ea typeface="Noto Sans SC"/>
                <a:cs typeface="Noto Sans SC"/>
              </a:defRPr>
            </a:defPPr>
          </a:lstStyle>
          <a:p>
            <a:pPr algn="l">
              <a:defRPr sz="1425" b="1">
                <a:solidFill>
                  <a:srgbClr val="4472C4"/>
                </a:solidFill>
                <a:latin typeface="Noto Sans SC"/>
                <a:ea typeface="Noto Sans SC"/>
                <a:cs typeface="Noto Sans SC"/>
              </a:defRPr>
            </a:pPr>
            <a:r>
              <a:rPr sz="1425" b="1">
                <a:solidFill>
                  <a:srgbClr val="4472C4"/>
                </a:solidFill>
                <a:latin typeface="Noto Sans SC"/>
                <a:ea typeface="Noto Sans SC"/>
                <a:cs typeface="Noto Sans SC"/>
              </a:rPr>
              <a:t>第三轮结论</a:t>
            </a:r>
          </a:p>
        </p:txBody>
      </p:sp>
      <p:sp>
        <p:nvSpPr>
          <p:cNvPr id="9" name="矩形 8">
            <a:extLst>
              <a:ext uri="{FF2B5EF4-FFF2-40B4-BE49-F238E27FC236}">
                <a16:creationId xmlns:a16="http://schemas.microsoft.com/office/drawing/2014/main" id="{B0E4DA8F-F5A9-482C-B6D7-E90895E89922}"/>
              </a:ext>
            </a:extLst>
          </p:cNvPr>
          <p:cNvSpPr>
            <a:spLocks noGrp="1"/>
          </p:cNvSpPr>
          <p:nvPr/>
        </p:nvSpPr>
        <p:spPr>
          <a:xfrm>
            <a:off x="1016032" y="4667250"/>
            <a:ext cx="6667500" cy="381000"/>
          </a:xfrm>
          <a:prstGeom prst="rect">
            <a:avLst/>
          </a:prstGeom>
          <a:noFill/>
          <a:ln w="0">
            <a:noFill/>
            <a:prstDash val="solid"/>
          </a:ln>
        </p:spPr>
        <p:txBody>
          <a:bodyPr/>
          <a:lstStyle>
            <a:defPPr algn="l">
              <a:defRPr sz="2025" b="1">
                <a:solidFill>
                  <a:srgbClr val="2B2F36"/>
                </a:solidFill>
                <a:latin typeface="Noto Sans SC"/>
                <a:ea typeface="Noto Sans SC"/>
                <a:cs typeface="Noto Sans SC"/>
              </a:defRPr>
            </a:defPPr>
          </a:lstStyle>
          <a:p>
            <a:pPr algn="l">
              <a:defRPr sz="2025" b="1">
                <a:solidFill>
                  <a:srgbClr val="2B2F36"/>
                </a:solidFill>
                <a:latin typeface="Noto Sans SC"/>
                <a:ea typeface="Noto Sans SC"/>
                <a:cs typeface="Noto Sans SC"/>
              </a:defRPr>
            </a:pPr>
            <a:r>
              <a:rPr sz="2025" b="1" dirty="0" err="1">
                <a:solidFill>
                  <a:srgbClr val="2B2F36"/>
                </a:solidFill>
                <a:latin typeface="Noto Sans SC"/>
                <a:ea typeface="Noto Sans SC"/>
                <a:cs typeface="Noto Sans SC"/>
              </a:rPr>
              <a:t>八名成员均出</a:t>
            </a:r>
            <a:r>
              <a:rPr sz="2025" b="1" dirty="0">
                <a:solidFill>
                  <a:srgbClr val="2B2F36"/>
                </a:solidFill>
                <a:latin typeface="Noto Sans SC"/>
                <a:ea typeface="Noto Sans SC"/>
                <a:cs typeface="Noto Sans SC"/>
              </a:rPr>
              <a:t> 13 </a:t>
            </a:r>
            <a:r>
              <a:rPr sz="2025" b="1" dirty="0" err="1">
                <a:solidFill>
                  <a:srgbClr val="2B2F36"/>
                </a:solidFill>
                <a:latin typeface="Noto Sans SC"/>
                <a:ea typeface="Noto Sans SC"/>
                <a:cs typeface="Noto Sans SC"/>
              </a:rPr>
              <a:t>点，估算收敛</a:t>
            </a:r>
            <a:r>
              <a:rPr sz="2025" b="1" dirty="0">
                <a:solidFill>
                  <a:srgbClr val="2B2F36"/>
                </a:solidFill>
                <a:latin typeface="Noto Sans SC"/>
                <a:ea typeface="Noto Sans SC"/>
                <a:cs typeface="Noto Sans SC"/>
              </a:rPr>
              <a:t>。</a:t>
            </a:r>
          </a:p>
        </p:txBody>
      </p:sp>
      <p:sp>
        <p:nvSpPr>
          <p:cNvPr id="10" name="矩形: 圆角 9">
            <a:extLst>
              <a:ext uri="{FF2B5EF4-FFF2-40B4-BE49-F238E27FC236}">
                <a16:creationId xmlns:a16="http://schemas.microsoft.com/office/drawing/2014/main" id="{703F7C8A-34DA-46F0-8DF4-B33918416987}"/>
              </a:ext>
            </a:extLst>
          </p:cNvPr>
          <p:cNvSpPr>
            <a:spLocks noGrp="1"/>
          </p:cNvSpPr>
          <p:nvPr/>
        </p:nvSpPr>
        <p:spPr>
          <a:xfrm>
            <a:off x="8763000" y="4229100"/>
            <a:ext cx="2409825" cy="1009650"/>
          </a:xfrm>
          <a:prstGeom prst="roundRect">
            <a:avLst>
              <a:gd name="adj" fmla="val 7547"/>
            </a:avLst>
          </a:prstGeom>
          <a:solidFill>
            <a:srgbClr val="4472C4"/>
          </a:solidFill>
          <a:ln w="0">
            <a:solidFill>
              <a:srgbClr val="4472C4"/>
            </a:solidFill>
            <a:prstDash val="solid"/>
          </a:ln>
        </p:spPr>
        <p:txBody>
          <a:bodyPr/>
          <a:lstStyle>
            <a:defPPr algn="l">
              <a:defRPr sz="1800" b="1">
                <a:solidFill>
                  <a:srgbClr val="FFFFFF"/>
                </a:solidFill>
                <a:latin typeface="Noto Sans SC"/>
                <a:ea typeface="Noto Sans SC"/>
                <a:cs typeface="Noto Sans SC"/>
              </a:defRPr>
            </a:defPPr>
          </a:lstStyle>
          <a:p>
            <a:pPr algn="l">
              <a:defRPr sz="1800" b="1">
                <a:solidFill>
                  <a:srgbClr val="FFFFFF"/>
                </a:solidFill>
                <a:latin typeface="Noto Sans SC"/>
                <a:ea typeface="Noto Sans SC"/>
                <a:cs typeface="Noto Sans SC"/>
              </a:defRPr>
            </a:pPr>
            <a:r>
              <a:rPr sz="1800" b="1">
                <a:solidFill>
                  <a:srgbClr val="FFFFFF"/>
                </a:solidFill>
                <a:latin typeface="Noto Sans SC"/>
                <a:ea typeface="Noto Sans SC"/>
                <a:cs typeface="Noto Sans SC"/>
              </a:rPr>
              <a:t>最终工作量</a:t>
            </a:r>
          </a:p>
          <a:p>
            <a:pPr algn="l">
              <a:defRPr sz="1800" b="1">
                <a:solidFill>
                  <a:srgbClr val="FFFFFF"/>
                </a:solidFill>
                <a:latin typeface="Noto Sans SC"/>
                <a:ea typeface="Noto Sans SC"/>
                <a:cs typeface="Noto Sans SC"/>
              </a:defRPr>
            </a:pPr>
            <a:r>
              <a:rPr sz="1800" b="1">
                <a:solidFill>
                  <a:srgbClr val="FFFFFF"/>
                </a:solidFill>
                <a:latin typeface="Noto Sans SC"/>
                <a:ea typeface="Noto Sans SC"/>
                <a:cs typeface="Noto Sans SC"/>
              </a:rPr>
              <a:t>13 点</a:t>
            </a:r>
          </a:p>
        </p:txBody>
      </p:sp>
      <p:sp>
        <p:nvSpPr>
          <p:cNvPr id="11" name="矩形 10">
            <a:extLst>
              <a:ext uri="{FF2B5EF4-FFF2-40B4-BE49-F238E27FC236}">
                <a16:creationId xmlns:a16="http://schemas.microsoft.com/office/drawing/2014/main" id="{8555F36A-002E-4957-9FE9-D42B0575964F}"/>
              </a:ext>
            </a:extLst>
          </p:cNvPr>
          <p:cNvSpPr>
            <a:spLocks noGrp="1"/>
          </p:cNvSpPr>
          <p:nvPr/>
        </p:nvSpPr>
        <p:spPr>
          <a:xfrm>
            <a:off x="1016032" y="5524500"/>
            <a:ext cx="10160032" cy="419100"/>
          </a:xfrm>
          <a:prstGeom prst="rect">
            <a:avLst/>
          </a:prstGeom>
          <a:noFill/>
          <a:ln w="0">
            <a:noFill/>
            <a:prstDash val="solid"/>
          </a:ln>
        </p:spPr>
        <p:txBody>
          <a:bodyPr/>
          <a:lstStyle>
            <a:defPPr algn="l">
              <a:defRPr sz="1163" b="0">
                <a:solidFill>
                  <a:srgbClr val="5A6473"/>
                </a:solidFill>
                <a:latin typeface="Noto Sans SC"/>
                <a:ea typeface="Noto Sans SC"/>
                <a:cs typeface="Noto Sans SC"/>
              </a:defRPr>
            </a:defPPr>
          </a:lstStyle>
          <a:p>
            <a:pPr algn="l">
              <a:defRPr sz="1163" b="0">
                <a:solidFill>
                  <a:srgbClr val="5A6473"/>
                </a:solidFill>
                <a:latin typeface="Noto Sans SC"/>
                <a:ea typeface="Noto Sans SC"/>
                <a:cs typeface="Noto Sans SC"/>
              </a:defRPr>
            </a:pPr>
            <a:r>
              <a:rPr sz="1400" b="0" dirty="0">
                <a:solidFill>
                  <a:srgbClr val="5A6473"/>
                </a:solidFill>
                <a:latin typeface="Noto Sans SC"/>
                <a:ea typeface="Noto Sans SC"/>
                <a:cs typeface="Noto Sans SC"/>
              </a:rPr>
              <a:t>AT01-04、AT01-05、AT01-06 </a:t>
            </a:r>
            <a:r>
              <a:rPr sz="1400" b="0" dirty="0" err="1">
                <a:solidFill>
                  <a:srgbClr val="5A6473"/>
                </a:solidFill>
                <a:latin typeface="Noto Sans SC"/>
                <a:ea typeface="Noto Sans SC"/>
                <a:cs typeface="Noto Sans SC"/>
              </a:rPr>
              <a:t>分别要求识别缺失尺寸、尺寸冲突和服务失败，不能把无效结果标记为成功</a:t>
            </a:r>
            <a:r>
              <a:rPr sz="1400" b="0" dirty="0">
                <a:solidFill>
                  <a:srgbClr val="5A6473"/>
                </a:solidFill>
                <a:latin typeface="Noto Sans SC"/>
                <a:ea typeface="Noto Sans SC"/>
                <a:cs typeface="Noto Sans SC"/>
              </a:rPr>
              <a:t>。</a:t>
            </a:r>
          </a:p>
        </p:txBody>
      </p:sp>
    </p:spTree>
    <p:extLst>
      <p:ext uri="{BB962C8B-B14F-4D97-AF65-F5344CB8AC3E}">
        <p14:creationId xmlns:p14="http://schemas.microsoft.com/office/powerpoint/2010/main" val="19813832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176BD69B-CEC8-4FBA-BB65-C90D3A375B24}"/>
              </a:ext>
            </a:extLst>
          </p:cNvPr>
          <p:cNvSpPr>
            <a:spLocks noGrp="1"/>
          </p:cNvSpPr>
          <p:nvPr/>
        </p:nvSpPr>
        <p:spPr>
          <a:xfrm>
            <a:off x="1016032" y="711232"/>
            <a:ext cx="7620000" cy="266700"/>
          </a:xfrm>
          <a:prstGeom prst="rect">
            <a:avLst/>
          </a:prstGeom>
          <a:noFill/>
          <a:ln w="0">
            <a:noFill/>
            <a:prstDash val="solid"/>
          </a:ln>
        </p:spPr>
        <p:txBody>
          <a:bodyPr/>
          <a:lstStyle>
            <a:defPPr algn="l">
              <a:defRPr sz="1300" b="1">
                <a:solidFill>
                  <a:srgbClr val="ED7D31"/>
                </a:solidFill>
                <a:latin typeface="Noto Sans SC"/>
                <a:ea typeface="Noto Sans SC"/>
                <a:cs typeface="Noto Sans SC"/>
              </a:defRPr>
            </a:defPPr>
          </a:lstStyle>
          <a:p>
            <a:pPr algn="l">
              <a:defRPr sz="1300" b="1">
                <a:solidFill>
                  <a:srgbClr val="ED7D31"/>
                </a:solidFill>
                <a:latin typeface="Noto Sans SC"/>
                <a:ea typeface="Noto Sans SC"/>
                <a:cs typeface="Noto Sans SC"/>
              </a:defRPr>
            </a:pPr>
            <a:r>
              <a:rPr sz="1300" b="1">
                <a:solidFill>
                  <a:srgbClr val="ED7D31"/>
                </a:solidFill>
                <a:latin typeface="Noto Sans SC"/>
                <a:ea typeface="Noto Sans SC"/>
                <a:cs typeface="Noto Sans SC"/>
              </a:rPr>
              <a:t>TASK 9 · 多视角生成</a:t>
            </a:r>
          </a:p>
        </p:txBody>
      </p:sp>
      <p:sp>
        <p:nvSpPr>
          <p:cNvPr id="2" name="矩形 1">
            <a:extLst>
              <a:ext uri="{FF2B5EF4-FFF2-40B4-BE49-F238E27FC236}">
                <a16:creationId xmlns:a16="http://schemas.microsoft.com/office/drawing/2014/main" id="{4AFB31B1-D8C3-4362-8F45-DCE35EE1148A}"/>
              </a:ext>
            </a:extLst>
          </p:cNvPr>
          <p:cNvSpPr>
            <a:spLocks noGrp="1"/>
          </p:cNvSpPr>
          <p:nvPr/>
        </p:nvSpPr>
        <p:spPr>
          <a:xfrm>
            <a:off x="1016032" y="1092232"/>
            <a:ext cx="10160032" cy="590550"/>
          </a:xfrm>
          <a:prstGeom prst="rect">
            <a:avLst/>
          </a:prstGeom>
          <a:noFill/>
          <a:ln w="0">
            <a:noFill/>
            <a:prstDash val="solid"/>
          </a:ln>
        </p:spPr>
        <p:txBody>
          <a:bodyPr/>
          <a:lstStyle>
            <a:defPPr algn="l">
              <a:defRPr sz="2550" b="1">
                <a:solidFill>
                  <a:srgbClr val="2B2F36"/>
                </a:solidFill>
                <a:latin typeface="Noto Sans SC"/>
                <a:ea typeface="Noto Sans SC"/>
                <a:cs typeface="Noto Sans SC"/>
              </a:defRPr>
            </a:defPPr>
          </a:lstStyle>
          <a:p>
            <a:pPr algn="l">
              <a:defRPr sz="2550" b="1">
                <a:solidFill>
                  <a:srgbClr val="2B2F36"/>
                </a:solidFill>
                <a:latin typeface="Noto Sans SC"/>
                <a:ea typeface="Noto Sans SC"/>
                <a:cs typeface="Noto Sans SC"/>
              </a:defRPr>
            </a:pPr>
            <a:r>
              <a:rPr sz="2550" b="1">
                <a:solidFill>
                  <a:srgbClr val="2B2F36"/>
                </a:solidFill>
                <a:latin typeface="Noto Sans SC"/>
                <a:ea typeface="Noto Sans SC"/>
                <a:cs typeface="Noto Sans SC"/>
              </a:rPr>
              <a:t>任务9 多视角图像生成 CAD 模型</a:t>
            </a:r>
          </a:p>
        </p:txBody>
      </p:sp>
      <p:sp>
        <p:nvSpPr>
          <p:cNvPr id="3" name="矩形 2">
            <a:extLst>
              <a:ext uri="{FF2B5EF4-FFF2-40B4-BE49-F238E27FC236}">
                <a16:creationId xmlns:a16="http://schemas.microsoft.com/office/drawing/2014/main" id="{A66FE0BE-0C05-441C-A3C1-973FB3A4F463}"/>
              </a:ext>
            </a:extLst>
          </p:cNvPr>
          <p:cNvSpPr>
            <a:spLocks noGrp="1"/>
          </p:cNvSpPr>
          <p:nvPr/>
        </p:nvSpPr>
        <p:spPr>
          <a:xfrm>
            <a:off x="1016032" y="2025682"/>
            <a:ext cx="10160032" cy="12668"/>
          </a:xfrm>
          <a:prstGeom prst="rect">
            <a:avLst/>
          </a:prstGeom>
          <a:solidFill>
            <a:srgbClr val="DCE1E8"/>
          </a:solidFill>
          <a:ln w="0">
            <a:solidFill>
              <a:srgbClr val="DCE1E8"/>
            </a:solidFill>
            <a:prstDash val="solid"/>
          </a:ln>
        </p:spPr>
      </p:sp>
      <p:sp>
        <p:nvSpPr>
          <p:cNvPr id="4" name="矩形 3">
            <a:extLst>
              <a:ext uri="{FF2B5EF4-FFF2-40B4-BE49-F238E27FC236}">
                <a16:creationId xmlns:a16="http://schemas.microsoft.com/office/drawing/2014/main" id="{35733E5F-0809-44FD-A19E-B97EB06D903A}"/>
              </a:ext>
            </a:extLst>
          </p:cNvPr>
          <p:cNvSpPr>
            <a:spLocks noGrp="1"/>
          </p:cNvSpPr>
          <p:nvPr/>
        </p:nvSpPr>
        <p:spPr>
          <a:xfrm>
            <a:off x="1016032" y="6350032"/>
            <a:ext cx="6667500" cy="266700"/>
          </a:xfrm>
          <a:prstGeom prst="rect">
            <a:avLst/>
          </a:prstGeom>
          <a:noFill/>
          <a:ln w="0">
            <a:noFill/>
            <a:prstDash val="solid"/>
          </a:ln>
        </p:spPr>
        <p:txBody>
          <a:bodyPr/>
          <a:lstStyle>
            <a:defPPr algn="l">
              <a:defRPr sz="1100" b="0">
                <a:solidFill>
                  <a:srgbClr val="A0A8B4"/>
                </a:solidFill>
                <a:latin typeface="Noto Sans SC"/>
                <a:ea typeface="Noto Sans SC"/>
                <a:cs typeface="Noto Sans SC"/>
              </a:defRPr>
            </a:defPPr>
          </a:lstStyle>
          <a:p>
            <a:pPr algn="l">
              <a:defRPr sz="1100" b="0">
                <a:solidFill>
                  <a:srgbClr val="A0A8B4"/>
                </a:solidFill>
                <a:latin typeface="Noto Sans SC"/>
                <a:ea typeface="Noto Sans SC"/>
                <a:cs typeface="Noto Sans SC"/>
              </a:defRPr>
            </a:pPr>
            <a:r>
              <a:rPr sz="1100" b="0">
                <a:solidFill>
                  <a:srgbClr val="A0A8B4"/>
                </a:solidFill>
                <a:latin typeface="Noto Sans SC"/>
                <a:ea typeface="Noto Sans SC"/>
                <a:cs typeface="Noto Sans SC"/>
              </a:rPr>
              <a:t>SimpleCADforDSH ｜ 讨论四 · 规划扑克估算</a:t>
            </a:r>
          </a:p>
        </p:txBody>
      </p:sp>
      <p:sp>
        <p:nvSpPr>
          <p:cNvPr id="6" name="矩形: 圆角 5">
            <a:extLst>
              <a:ext uri="{FF2B5EF4-FFF2-40B4-BE49-F238E27FC236}">
                <a16:creationId xmlns:a16="http://schemas.microsoft.com/office/drawing/2014/main" id="{58B6127C-E30F-4B5D-8F4F-0049253B33BD}"/>
              </a:ext>
            </a:extLst>
          </p:cNvPr>
          <p:cNvSpPr>
            <a:spLocks noGrp="1"/>
          </p:cNvSpPr>
          <p:nvPr/>
        </p:nvSpPr>
        <p:spPr>
          <a:xfrm>
            <a:off x="1016032" y="2276475"/>
            <a:ext cx="10160032" cy="914400"/>
          </a:xfrm>
          <a:prstGeom prst="roundRect">
            <a:avLst>
              <a:gd name="adj" fmla="val 8333"/>
            </a:avLst>
          </a:prstGeom>
          <a:solidFill>
            <a:srgbClr val="F5F7FA"/>
          </a:solidFill>
          <a:ln w="0">
            <a:solidFill>
              <a:srgbClr val="DCE1E8"/>
            </a:solidFill>
            <a:prstDash val="solid"/>
          </a:ln>
        </p:spPr>
        <p:txBody>
          <a:bodyPr/>
          <a:lstStyle>
            <a:defPPr algn="l">
              <a:defRPr sz="1163" b="0">
                <a:solidFill>
                  <a:srgbClr val="2B2F36"/>
                </a:solidFill>
                <a:latin typeface="Noto Sans SC"/>
                <a:ea typeface="Noto Sans SC"/>
                <a:cs typeface="Noto Sans SC"/>
              </a:defRPr>
            </a:defPPr>
          </a:lstStyle>
          <a:p>
            <a:pPr algn="l">
              <a:defRPr sz="1163" b="0">
                <a:solidFill>
                  <a:srgbClr val="2B2F36"/>
                </a:solidFill>
                <a:latin typeface="Noto Sans SC"/>
                <a:ea typeface="Noto Sans SC"/>
                <a:cs typeface="Noto Sans SC"/>
              </a:defRPr>
            </a:pPr>
            <a:r>
              <a:rPr sz="1600" b="0" dirty="0" err="1">
                <a:solidFill>
                  <a:srgbClr val="2B2F36"/>
                </a:solidFill>
                <a:latin typeface="Noto Sans SC"/>
                <a:ea typeface="Noto Sans SC"/>
                <a:cs typeface="Noto Sans SC"/>
              </a:rPr>
              <a:t>任务说明</a:t>
            </a:r>
            <a:endParaRPr sz="1600" b="0" dirty="0">
              <a:solidFill>
                <a:srgbClr val="2B2F36"/>
              </a:solidFill>
              <a:latin typeface="Noto Sans SC"/>
              <a:ea typeface="Noto Sans SC"/>
              <a:cs typeface="Noto Sans SC"/>
            </a:endParaRPr>
          </a:p>
          <a:p>
            <a:pPr algn="l">
              <a:defRPr sz="1163" b="0">
                <a:solidFill>
                  <a:srgbClr val="2B2F36"/>
                </a:solidFill>
                <a:latin typeface="Noto Sans SC"/>
                <a:ea typeface="Noto Sans SC"/>
                <a:cs typeface="Noto Sans SC"/>
              </a:defRPr>
            </a:pPr>
            <a:r>
              <a:rPr sz="1600" b="0" dirty="0" err="1">
                <a:solidFill>
                  <a:srgbClr val="2B2F36"/>
                </a:solidFill>
                <a:latin typeface="Noto Sans SC"/>
                <a:ea typeface="Noto Sans SC"/>
                <a:cs typeface="Noto Sans SC"/>
              </a:rPr>
              <a:t>将同一零件的多张视图作为一组输入，综合视图信息生成</a:t>
            </a:r>
            <a:r>
              <a:rPr sz="1600" b="0" dirty="0">
                <a:solidFill>
                  <a:srgbClr val="2B2F36"/>
                </a:solidFill>
                <a:latin typeface="Noto Sans SC"/>
                <a:ea typeface="Noto Sans SC"/>
                <a:cs typeface="Noto Sans SC"/>
              </a:rPr>
              <a:t> CAD </a:t>
            </a:r>
            <a:r>
              <a:rPr sz="1600" b="0" dirty="0" err="1">
                <a:solidFill>
                  <a:srgbClr val="2B2F36"/>
                </a:solidFill>
                <a:latin typeface="Noto Sans SC"/>
                <a:ea typeface="Noto Sans SC"/>
                <a:cs typeface="Noto Sans SC"/>
              </a:rPr>
              <a:t>模型；识别视图间尺寸冲突，并支持更换图片后重新生成。验收范围对应</a:t>
            </a:r>
            <a:r>
              <a:rPr sz="1600" b="0" dirty="0">
                <a:solidFill>
                  <a:srgbClr val="2B2F36"/>
                </a:solidFill>
                <a:latin typeface="Noto Sans SC"/>
                <a:ea typeface="Noto Sans SC"/>
                <a:cs typeface="Noto Sans SC"/>
              </a:rPr>
              <a:t> US03。</a:t>
            </a:r>
          </a:p>
        </p:txBody>
      </p:sp>
      <p:graphicFrame>
        <p:nvGraphicFramePr>
          <p:cNvPr id="7" name="表格 6">
            <a:extLst>
              <a:ext uri="{FF2B5EF4-FFF2-40B4-BE49-F238E27FC236}">
                <a16:creationId xmlns:a16="http://schemas.microsoft.com/office/drawing/2014/main" id="{8D8A8088-CFEF-4C7E-BF0A-3D37FF965C78}"/>
              </a:ext>
            </a:extLst>
          </p:cNvPr>
          <p:cNvGraphicFramePr/>
          <p:nvPr>
            <p:extLst>
              <p:ext uri="{D42A27DB-BD31-4B8C-83A1-F6EECF244321}">
                <p14:modId xmlns:p14="http://schemas.microsoft.com/office/powerpoint/2010/main" val="685455252"/>
              </p:ext>
            </p:extLst>
          </p:nvPr>
        </p:nvGraphicFramePr>
        <p:xfrm>
          <a:off x="1016032" y="3309308"/>
          <a:ext cx="10160030" cy="3040724"/>
        </p:xfrm>
        <a:graphic>
          <a:graphicData uri="http://schemas.openxmlformats.org/drawingml/2006/table">
            <a:tbl>
              <a:tblPr firstRow="1" bandRow="1"/>
              <a:tblGrid>
                <a:gridCol w="2032006">
                  <a:extLst>
                    <a:ext uri="{9D8B030D-6E8A-4147-A177-3AD203B41FA5}">
                      <a16:colId xmlns:a16="http://schemas.microsoft.com/office/drawing/2014/main" val="20000"/>
                    </a:ext>
                  </a:extLst>
                </a:gridCol>
                <a:gridCol w="2032006">
                  <a:extLst>
                    <a:ext uri="{9D8B030D-6E8A-4147-A177-3AD203B41FA5}">
                      <a16:colId xmlns:a16="http://schemas.microsoft.com/office/drawing/2014/main" val="20001"/>
                    </a:ext>
                  </a:extLst>
                </a:gridCol>
                <a:gridCol w="2032006">
                  <a:extLst>
                    <a:ext uri="{9D8B030D-6E8A-4147-A177-3AD203B41FA5}">
                      <a16:colId xmlns:a16="http://schemas.microsoft.com/office/drawing/2014/main" val="20002"/>
                    </a:ext>
                  </a:extLst>
                </a:gridCol>
                <a:gridCol w="2032006">
                  <a:extLst>
                    <a:ext uri="{9D8B030D-6E8A-4147-A177-3AD203B41FA5}">
                      <a16:colId xmlns:a16="http://schemas.microsoft.com/office/drawing/2014/main" val="20003"/>
                    </a:ext>
                  </a:extLst>
                </a:gridCol>
                <a:gridCol w="2032006">
                  <a:extLst>
                    <a:ext uri="{9D8B030D-6E8A-4147-A177-3AD203B41FA5}">
                      <a16:colId xmlns:a16="http://schemas.microsoft.com/office/drawing/2014/main" val="20004"/>
                    </a:ext>
                  </a:extLst>
                </a:gridCol>
              </a:tblGrid>
              <a:tr h="358484">
                <a:tc>
                  <a:txBody>
                    <a:bodyPr/>
                    <a:lstStyle/>
                    <a:p>
                      <a:r>
                        <a:rPr sz="1600" b="1">
                          <a:solidFill>
                            <a:srgbClr val="FFFFFF"/>
                          </a:solidFill>
                          <a:latin typeface="Noto Sans SC"/>
                          <a:ea typeface="Noto Sans SC"/>
                          <a:cs typeface="Noto Sans SC"/>
                        </a:rPr>
                        <a:t>成员</a:t>
                      </a:r>
                    </a:p>
                  </a:txBody>
                  <a:tcPr>
                    <a:lnL w="9525">
                      <a:solidFill>
                        <a:srgbClr val="DCE1E8"/>
                      </a:solidFill>
                      <a:prstDash val="solid"/>
                    </a:lnL>
                    <a:lnR w="9525">
                      <a:solidFill>
                        <a:srgbClr val="DCE1E8"/>
                      </a:solidFill>
                      <a:prstDash val="solid"/>
                    </a:lnR>
                    <a:lnT w="9525">
                      <a:solidFill>
                        <a:srgbClr val="DCE1E8"/>
                      </a:solidFill>
                      <a:prstDash val="solid"/>
                    </a:lnT>
                    <a:lnB w="9525">
                      <a:solidFill>
                        <a:srgbClr val="DCE1E8"/>
                      </a:solidFill>
                      <a:prstDash val="solid"/>
                    </a:lnB>
                    <a:solidFill>
                      <a:srgbClr val="4472C4"/>
                    </a:solidFill>
                  </a:tcPr>
                </a:tc>
                <a:tc>
                  <a:txBody>
                    <a:bodyPr/>
                    <a:lstStyle/>
                    <a:p>
                      <a:r>
                        <a:rPr sz="1600" b="1">
                          <a:solidFill>
                            <a:srgbClr val="FFFFFF"/>
                          </a:solidFill>
                          <a:latin typeface="Noto Sans SC"/>
                          <a:ea typeface="Noto Sans SC"/>
                          <a:cs typeface="Noto Sans SC"/>
                        </a:rPr>
                        <a:t>第一轮</a:t>
                      </a:r>
                    </a:p>
                  </a:txBody>
                  <a:tcPr>
                    <a:lnL w="9525" cap="flat" cmpd="sng" algn="ctr">
                      <a:solidFill>
                        <a:srgbClr val="DCE1E8"/>
                      </a:solidFill>
                      <a:prstDash val="solid"/>
                      <a:round/>
                      <a:headEnd type="none" w="med" len="med"/>
                      <a:tailEnd type="none" w="med" len="med"/>
                    </a:lnL>
                    <a:lnR w="9525">
                      <a:solidFill>
                        <a:srgbClr val="DCE1E8"/>
                      </a:solidFill>
                      <a:prstDash val="solid"/>
                    </a:lnR>
                    <a:lnT w="9525">
                      <a:solidFill>
                        <a:srgbClr val="DCE1E8"/>
                      </a:solidFill>
                      <a:prstDash val="solid"/>
                    </a:lnT>
                    <a:lnB w="9525">
                      <a:solidFill>
                        <a:srgbClr val="DCE1E8"/>
                      </a:solidFill>
                      <a:prstDash val="solid"/>
                    </a:lnB>
                    <a:solidFill>
                      <a:srgbClr val="4472C4"/>
                    </a:solidFill>
                  </a:tcPr>
                </a:tc>
                <a:tc>
                  <a:txBody>
                    <a:bodyPr/>
                    <a:lstStyle/>
                    <a:p>
                      <a:r>
                        <a:rPr sz="1600" b="1" dirty="0" err="1">
                          <a:solidFill>
                            <a:srgbClr val="FFFFFF"/>
                          </a:solidFill>
                          <a:latin typeface="Noto Sans SC"/>
                          <a:ea typeface="Noto Sans SC"/>
                          <a:cs typeface="Noto Sans SC"/>
                        </a:rPr>
                        <a:t>第二轮</a:t>
                      </a:r>
                      <a:endParaRPr sz="1600" b="1" dirty="0">
                        <a:solidFill>
                          <a:srgbClr val="FFFFFF"/>
                        </a:solidFill>
                        <a:latin typeface="Noto Sans SC"/>
                        <a:ea typeface="Noto Sans SC"/>
                        <a:cs typeface="Noto Sans SC"/>
                      </a:endParaRPr>
                    </a:p>
                  </a:txBody>
                  <a:tcPr>
                    <a:lnL w="9525" cap="flat" cmpd="sng" algn="ctr">
                      <a:solidFill>
                        <a:srgbClr val="DCE1E8"/>
                      </a:solidFill>
                      <a:prstDash val="solid"/>
                      <a:round/>
                      <a:headEnd type="none" w="med" len="med"/>
                      <a:tailEnd type="none" w="med" len="med"/>
                    </a:lnL>
                    <a:lnR w="9525">
                      <a:solidFill>
                        <a:srgbClr val="DCE1E8"/>
                      </a:solidFill>
                      <a:prstDash val="solid"/>
                    </a:lnR>
                    <a:lnT w="9525">
                      <a:solidFill>
                        <a:srgbClr val="DCE1E8"/>
                      </a:solidFill>
                      <a:prstDash val="solid"/>
                    </a:lnT>
                    <a:lnB w="9525">
                      <a:solidFill>
                        <a:srgbClr val="DCE1E8"/>
                      </a:solidFill>
                      <a:prstDash val="solid"/>
                    </a:lnB>
                    <a:solidFill>
                      <a:srgbClr val="4472C4"/>
                    </a:solidFill>
                  </a:tcPr>
                </a:tc>
                <a:tc>
                  <a:txBody>
                    <a:bodyPr/>
                    <a:lstStyle/>
                    <a:p>
                      <a:r>
                        <a:rPr sz="1600" b="1">
                          <a:solidFill>
                            <a:srgbClr val="FFFFFF"/>
                          </a:solidFill>
                          <a:latin typeface="Noto Sans SC"/>
                          <a:ea typeface="Noto Sans SC"/>
                          <a:cs typeface="Noto Sans SC"/>
                        </a:rPr>
                        <a:t>第三轮</a:t>
                      </a:r>
                    </a:p>
                  </a:txBody>
                  <a:tcPr>
                    <a:lnL w="9525" cap="flat" cmpd="sng" algn="ctr">
                      <a:solidFill>
                        <a:srgbClr val="DCE1E8"/>
                      </a:solidFill>
                      <a:prstDash val="solid"/>
                      <a:round/>
                      <a:headEnd type="none" w="med" len="med"/>
                      <a:tailEnd type="none" w="med" len="med"/>
                    </a:lnL>
                    <a:lnR w="9525">
                      <a:solidFill>
                        <a:srgbClr val="DCE1E8"/>
                      </a:solidFill>
                      <a:prstDash val="solid"/>
                    </a:lnR>
                    <a:lnT w="9525">
                      <a:solidFill>
                        <a:srgbClr val="DCE1E8"/>
                      </a:solidFill>
                      <a:prstDash val="solid"/>
                    </a:lnT>
                    <a:lnB w="9525">
                      <a:solidFill>
                        <a:srgbClr val="DCE1E8"/>
                      </a:solidFill>
                      <a:prstDash val="solid"/>
                    </a:lnB>
                    <a:solidFill>
                      <a:srgbClr val="4472C4"/>
                    </a:solidFill>
                  </a:tcPr>
                </a:tc>
                <a:tc>
                  <a:txBody>
                    <a:bodyPr/>
                    <a:lstStyle/>
                    <a:p>
                      <a:r>
                        <a:rPr sz="1600" b="1">
                          <a:solidFill>
                            <a:srgbClr val="FFFFFF"/>
                          </a:solidFill>
                          <a:latin typeface="Noto Sans SC"/>
                          <a:ea typeface="Noto Sans SC"/>
                          <a:cs typeface="Noto Sans SC"/>
                        </a:rPr>
                        <a:t>第四轮</a:t>
                      </a:r>
                    </a:p>
                  </a:txBody>
                  <a:tcPr>
                    <a:lnL w="9525" cap="flat" cmpd="sng" algn="ctr">
                      <a:solidFill>
                        <a:srgbClr val="DCE1E8"/>
                      </a:solidFill>
                      <a:prstDash val="solid"/>
                      <a:round/>
                      <a:headEnd type="none" w="med" len="med"/>
                      <a:tailEnd type="none" w="med" len="med"/>
                    </a:lnL>
                    <a:lnR w="9525">
                      <a:solidFill>
                        <a:srgbClr val="DCE1E8"/>
                      </a:solidFill>
                      <a:prstDash val="solid"/>
                    </a:lnR>
                    <a:lnT w="9525">
                      <a:solidFill>
                        <a:srgbClr val="DCE1E8"/>
                      </a:solidFill>
                      <a:prstDash val="solid"/>
                    </a:lnT>
                    <a:lnB w="9525">
                      <a:solidFill>
                        <a:srgbClr val="DCE1E8"/>
                      </a:solidFill>
                      <a:prstDash val="solid"/>
                    </a:lnB>
                    <a:solidFill>
                      <a:srgbClr val="4472C4"/>
                    </a:solidFill>
                  </a:tcPr>
                </a:tc>
                <a:extLst>
                  <a:ext uri="{0D108BD9-81ED-4DB2-BD59-A6C34878D82A}">
                    <a16:rowId xmlns:a16="http://schemas.microsoft.com/office/drawing/2014/main" val="10000"/>
                  </a:ext>
                </a:extLst>
              </a:tr>
              <a:tr h="328792">
                <a:tc>
                  <a:txBody>
                    <a:bodyPr/>
                    <a:lstStyle/>
                    <a:p>
                      <a:r>
                        <a:rPr sz="1600" b="0">
                          <a:solidFill>
                            <a:srgbClr val="2B2F36"/>
                          </a:solidFill>
                          <a:latin typeface="Noto Sans SC"/>
                          <a:ea typeface="Noto Sans SC"/>
                          <a:cs typeface="Noto Sans SC"/>
                        </a:rPr>
                        <a:t>许祖嘉</a:t>
                      </a:r>
                    </a:p>
                  </a:txBody>
                  <a:tcPr>
                    <a:lnL w="9525">
                      <a:solidFill>
                        <a:srgbClr val="DCE1E8"/>
                      </a:solidFill>
                      <a:prstDash val="soli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600" b="0">
                          <a:solidFill>
                            <a:srgbClr val="2B2F36"/>
                          </a:solidFill>
                          <a:latin typeface="Noto Sans SC"/>
                          <a:ea typeface="Noto Sans SC"/>
                          <a:cs typeface="Noto Sans SC"/>
                        </a:rPr>
                        <a:t>5</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600" b="0" dirty="0">
                          <a:solidFill>
                            <a:srgbClr val="2B2F36"/>
                          </a:solidFill>
                          <a:latin typeface="Noto Sans SC"/>
                          <a:ea typeface="Noto Sans SC"/>
                          <a:cs typeface="Noto Sans SC"/>
                        </a:rPr>
                        <a:t>8</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600" b="0">
                          <a:solidFill>
                            <a:srgbClr val="2B2F36"/>
                          </a:solidFill>
                          <a:latin typeface="Noto Sans SC"/>
                          <a:ea typeface="Noto Sans SC"/>
                          <a:cs typeface="Noto Sans SC"/>
                        </a:rPr>
                        <a:t>8</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600" b="0">
                          <a:solidFill>
                            <a:srgbClr val="2B2F36"/>
                          </a:solidFill>
                          <a:latin typeface="Noto Sans SC"/>
                          <a:ea typeface="Noto Sans SC"/>
                          <a:cs typeface="Noto Sans SC"/>
                        </a:rPr>
                        <a:t>13</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extLst>
                  <a:ext uri="{0D108BD9-81ED-4DB2-BD59-A6C34878D82A}">
                    <a16:rowId xmlns:a16="http://schemas.microsoft.com/office/drawing/2014/main" val="10001"/>
                  </a:ext>
                </a:extLst>
              </a:tr>
              <a:tr h="328792">
                <a:tc>
                  <a:txBody>
                    <a:bodyPr/>
                    <a:lstStyle/>
                    <a:p>
                      <a:r>
                        <a:rPr sz="1600" b="0">
                          <a:solidFill>
                            <a:srgbClr val="2B2F36"/>
                          </a:solidFill>
                          <a:latin typeface="Noto Sans SC"/>
                          <a:ea typeface="Noto Sans SC"/>
                          <a:cs typeface="Noto Sans SC"/>
                        </a:rPr>
                        <a:t>李健博</a:t>
                      </a:r>
                    </a:p>
                  </a:txBody>
                  <a:tcPr>
                    <a:lnL w="9525">
                      <a:solidFill>
                        <a:srgbClr val="DCE1E8"/>
                      </a:solidFill>
                      <a:prstDash val="soli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600" b="0">
                          <a:solidFill>
                            <a:srgbClr val="2B2F36"/>
                          </a:solidFill>
                          <a:latin typeface="Noto Sans SC"/>
                          <a:ea typeface="Noto Sans SC"/>
                          <a:cs typeface="Noto Sans SC"/>
                        </a:rPr>
                        <a:t>5</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600" b="0">
                          <a:solidFill>
                            <a:srgbClr val="2B2F36"/>
                          </a:solidFill>
                          <a:latin typeface="Noto Sans SC"/>
                          <a:ea typeface="Noto Sans SC"/>
                          <a:cs typeface="Noto Sans SC"/>
                        </a:rPr>
                        <a:t>8</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600" b="0">
                          <a:solidFill>
                            <a:srgbClr val="2B2F36"/>
                          </a:solidFill>
                          <a:latin typeface="Noto Sans SC"/>
                          <a:ea typeface="Noto Sans SC"/>
                          <a:cs typeface="Noto Sans SC"/>
                        </a:rPr>
                        <a:t>8</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600" b="0">
                          <a:solidFill>
                            <a:srgbClr val="2B2F36"/>
                          </a:solidFill>
                          <a:latin typeface="Noto Sans SC"/>
                          <a:ea typeface="Noto Sans SC"/>
                          <a:cs typeface="Noto Sans SC"/>
                        </a:rPr>
                        <a:t>13</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extLst>
                  <a:ext uri="{0D108BD9-81ED-4DB2-BD59-A6C34878D82A}">
                    <a16:rowId xmlns:a16="http://schemas.microsoft.com/office/drawing/2014/main" val="10002"/>
                  </a:ext>
                </a:extLst>
              </a:tr>
              <a:tr h="328792">
                <a:tc>
                  <a:txBody>
                    <a:bodyPr/>
                    <a:lstStyle/>
                    <a:p>
                      <a:r>
                        <a:rPr sz="1600" b="0">
                          <a:solidFill>
                            <a:srgbClr val="2B2F36"/>
                          </a:solidFill>
                          <a:latin typeface="Noto Sans SC"/>
                          <a:ea typeface="Noto Sans SC"/>
                          <a:cs typeface="Noto Sans SC"/>
                        </a:rPr>
                        <a:t>常诚</a:t>
                      </a:r>
                    </a:p>
                  </a:txBody>
                  <a:tcPr>
                    <a:lnL w="9525">
                      <a:solidFill>
                        <a:srgbClr val="DCE1E8"/>
                      </a:solidFill>
                      <a:prstDash val="soli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600" b="0">
                          <a:solidFill>
                            <a:srgbClr val="2B2F36"/>
                          </a:solidFill>
                          <a:latin typeface="Noto Sans SC"/>
                          <a:ea typeface="Noto Sans SC"/>
                          <a:cs typeface="Noto Sans SC"/>
                        </a:rPr>
                        <a:t>8</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600" b="0">
                          <a:solidFill>
                            <a:srgbClr val="2B2F36"/>
                          </a:solidFill>
                          <a:latin typeface="Noto Sans SC"/>
                          <a:ea typeface="Noto Sans SC"/>
                          <a:cs typeface="Noto Sans SC"/>
                        </a:rPr>
                        <a:t>8</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600" b="0">
                          <a:solidFill>
                            <a:srgbClr val="2B2F36"/>
                          </a:solidFill>
                          <a:latin typeface="Noto Sans SC"/>
                          <a:ea typeface="Noto Sans SC"/>
                          <a:cs typeface="Noto Sans SC"/>
                        </a:rPr>
                        <a:t>8</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600" b="0">
                          <a:solidFill>
                            <a:srgbClr val="2B2F36"/>
                          </a:solidFill>
                          <a:latin typeface="Noto Sans SC"/>
                          <a:ea typeface="Noto Sans SC"/>
                          <a:cs typeface="Noto Sans SC"/>
                        </a:rPr>
                        <a:t>13</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extLst>
                  <a:ext uri="{0D108BD9-81ED-4DB2-BD59-A6C34878D82A}">
                    <a16:rowId xmlns:a16="http://schemas.microsoft.com/office/drawing/2014/main" val="10003"/>
                  </a:ext>
                </a:extLst>
              </a:tr>
              <a:tr h="328792">
                <a:tc>
                  <a:txBody>
                    <a:bodyPr/>
                    <a:lstStyle/>
                    <a:p>
                      <a:r>
                        <a:rPr sz="1600" b="0">
                          <a:solidFill>
                            <a:srgbClr val="2B2F36"/>
                          </a:solidFill>
                          <a:latin typeface="Noto Sans SC"/>
                          <a:ea typeface="Noto Sans SC"/>
                          <a:cs typeface="Noto Sans SC"/>
                        </a:rPr>
                        <a:t>刘子轩</a:t>
                      </a:r>
                    </a:p>
                  </a:txBody>
                  <a:tcPr>
                    <a:lnL w="9525">
                      <a:solidFill>
                        <a:srgbClr val="DCE1E8"/>
                      </a:solidFill>
                      <a:prstDash val="soli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600" b="0">
                          <a:solidFill>
                            <a:srgbClr val="2B2F36"/>
                          </a:solidFill>
                          <a:latin typeface="Noto Sans SC"/>
                          <a:ea typeface="Noto Sans SC"/>
                          <a:cs typeface="Noto Sans SC"/>
                        </a:rPr>
                        <a:t>5</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600" b="0">
                          <a:solidFill>
                            <a:srgbClr val="2B2F36"/>
                          </a:solidFill>
                          <a:latin typeface="Noto Sans SC"/>
                          <a:ea typeface="Noto Sans SC"/>
                          <a:cs typeface="Noto Sans SC"/>
                        </a:rPr>
                        <a:t>8</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600" b="0">
                          <a:solidFill>
                            <a:srgbClr val="2B2F36"/>
                          </a:solidFill>
                          <a:latin typeface="Noto Sans SC"/>
                          <a:ea typeface="Noto Sans SC"/>
                          <a:cs typeface="Noto Sans SC"/>
                        </a:rPr>
                        <a:t>8</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600" b="0">
                          <a:solidFill>
                            <a:srgbClr val="2B2F36"/>
                          </a:solidFill>
                          <a:latin typeface="Noto Sans SC"/>
                          <a:ea typeface="Noto Sans SC"/>
                          <a:cs typeface="Noto Sans SC"/>
                        </a:rPr>
                        <a:t>13</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extLst>
                  <a:ext uri="{0D108BD9-81ED-4DB2-BD59-A6C34878D82A}">
                    <a16:rowId xmlns:a16="http://schemas.microsoft.com/office/drawing/2014/main" val="10004"/>
                  </a:ext>
                </a:extLst>
              </a:tr>
              <a:tr h="328792">
                <a:tc>
                  <a:txBody>
                    <a:bodyPr/>
                    <a:lstStyle/>
                    <a:p>
                      <a:r>
                        <a:rPr sz="1600" b="0" dirty="0" err="1">
                          <a:solidFill>
                            <a:srgbClr val="2B2F36"/>
                          </a:solidFill>
                          <a:latin typeface="Noto Sans SC"/>
                          <a:ea typeface="Noto Sans SC"/>
                          <a:cs typeface="Noto Sans SC"/>
                        </a:rPr>
                        <a:t>侯永森</a:t>
                      </a:r>
                      <a:endParaRPr sz="1600" b="0" dirty="0">
                        <a:solidFill>
                          <a:srgbClr val="2B2F36"/>
                        </a:solidFill>
                        <a:latin typeface="Noto Sans SC"/>
                        <a:ea typeface="Noto Sans SC"/>
                        <a:cs typeface="Noto Sans SC"/>
                      </a:endParaRPr>
                    </a:p>
                  </a:txBody>
                  <a:tcPr>
                    <a:lnL w="9525">
                      <a:solidFill>
                        <a:srgbClr val="DCE1E8"/>
                      </a:solidFill>
                      <a:prstDash val="soli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600" b="0">
                          <a:solidFill>
                            <a:srgbClr val="2B2F36"/>
                          </a:solidFill>
                          <a:latin typeface="Noto Sans SC"/>
                          <a:ea typeface="Noto Sans SC"/>
                          <a:cs typeface="Noto Sans SC"/>
                        </a:rPr>
                        <a:t>8</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600" b="0">
                          <a:solidFill>
                            <a:srgbClr val="2B2F36"/>
                          </a:solidFill>
                          <a:latin typeface="Noto Sans SC"/>
                          <a:ea typeface="Noto Sans SC"/>
                          <a:cs typeface="Noto Sans SC"/>
                        </a:rPr>
                        <a:t>8</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600" b="0">
                          <a:solidFill>
                            <a:srgbClr val="2B2F36"/>
                          </a:solidFill>
                          <a:latin typeface="Noto Sans SC"/>
                          <a:ea typeface="Noto Sans SC"/>
                          <a:cs typeface="Noto Sans SC"/>
                        </a:rPr>
                        <a:t>13</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600" b="0">
                          <a:solidFill>
                            <a:srgbClr val="2B2F36"/>
                          </a:solidFill>
                          <a:latin typeface="Noto Sans SC"/>
                          <a:ea typeface="Noto Sans SC"/>
                          <a:cs typeface="Noto Sans SC"/>
                        </a:rPr>
                        <a:t>13</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extLst>
                  <a:ext uri="{0D108BD9-81ED-4DB2-BD59-A6C34878D82A}">
                    <a16:rowId xmlns:a16="http://schemas.microsoft.com/office/drawing/2014/main" val="10005"/>
                  </a:ext>
                </a:extLst>
              </a:tr>
              <a:tr h="328792">
                <a:tc>
                  <a:txBody>
                    <a:bodyPr/>
                    <a:lstStyle/>
                    <a:p>
                      <a:r>
                        <a:rPr sz="1600" b="0">
                          <a:solidFill>
                            <a:srgbClr val="2B2F36"/>
                          </a:solidFill>
                          <a:latin typeface="Noto Sans SC"/>
                          <a:ea typeface="Noto Sans SC"/>
                          <a:cs typeface="Noto Sans SC"/>
                        </a:rPr>
                        <a:t>庞佳泽</a:t>
                      </a:r>
                    </a:p>
                  </a:txBody>
                  <a:tcPr>
                    <a:lnL w="9525">
                      <a:solidFill>
                        <a:srgbClr val="DCE1E8"/>
                      </a:solidFill>
                      <a:prstDash val="soli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600" b="0">
                          <a:solidFill>
                            <a:srgbClr val="2B2F36"/>
                          </a:solidFill>
                          <a:latin typeface="Noto Sans SC"/>
                          <a:ea typeface="Noto Sans SC"/>
                          <a:cs typeface="Noto Sans SC"/>
                        </a:rPr>
                        <a:t>5</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600" b="0">
                          <a:solidFill>
                            <a:srgbClr val="2B2F36"/>
                          </a:solidFill>
                          <a:latin typeface="Noto Sans SC"/>
                          <a:ea typeface="Noto Sans SC"/>
                          <a:cs typeface="Noto Sans SC"/>
                        </a:rPr>
                        <a:t>8</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600" b="0">
                          <a:solidFill>
                            <a:srgbClr val="2B2F36"/>
                          </a:solidFill>
                          <a:latin typeface="Noto Sans SC"/>
                          <a:ea typeface="Noto Sans SC"/>
                          <a:cs typeface="Noto Sans SC"/>
                        </a:rPr>
                        <a:t>8</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600" b="0">
                          <a:solidFill>
                            <a:srgbClr val="2B2F36"/>
                          </a:solidFill>
                          <a:latin typeface="Noto Sans SC"/>
                          <a:ea typeface="Noto Sans SC"/>
                          <a:cs typeface="Noto Sans SC"/>
                        </a:rPr>
                        <a:t>13</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extLst>
                  <a:ext uri="{0D108BD9-81ED-4DB2-BD59-A6C34878D82A}">
                    <a16:rowId xmlns:a16="http://schemas.microsoft.com/office/drawing/2014/main" val="10006"/>
                  </a:ext>
                </a:extLst>
              </a:tr>
              <a:tr h="328792">
                <a:tc>
                  <a:txBody>
                    <a:bodyPr/>
                    <a:lstStyle/>
                    <a:p>
                      <a:r>
                        <a:rPr sz="1600" b="0">
                          <a:solidFill>
                            <a:srgbClr val="2B2F36"/>
                          </a:solidFill>
                          <a:latin typeface="Noto Sans SC"/>
                          <a:ea typeface="Noto Sans SC"/>
                          <a:cs typeface="Noto Sans SC"/>
                        </a:rPr>
                        <a:t>余智皓</a:t>
                      </a:r>
                    </a:p>
                  </a:txBody>
                  <a:tcPr>
                    <a:lnL w="9525">
                      <a:solidFill>
                        <a:srgbClr val="DCE1E8"/>
                      </a:solidFill>
                      <a:prstDash val="soli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600" b="0">
                          <a:solidFill>
                            <a:srgbClr val="2B2F36"/>
                          </a:solidFill>
                          <a:latin typeface="Noto Sans SC"/>
                          <a:ea typeface="Noto Sans SC"/>
                          <a:cs typeface="Noto Sans SC"/>
                        </a:rPr>
                        <a:t>3</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600" b="0">
                          <a:solidFill>
                            <a:srgbClr val="2B2F36"/>
                          </a:solidFill>
                          <a:latin typeface="Noto Sans SC"/>
                          <a:ea typeface="Noto Sans SC"/>
                          <a:cs typeface="Noto Sans SC"/>
                        </a:rPr>
                        <a:t>5</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600" b="0">
                          <a:solidFill>
                            <a:srgbClr val="2B2F36"/>
                          </a:solidFill>
                          <a:latin typeface="Noto Sans SC"/>
                          <a:ea typeface="Noto Sans SC"/>
                          <a:cs typeface="Noto Sans SC"/>
                        </a:rPr>
                        <a:t>5</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600" b="0">
                          <a:solidFill>
                            <a:srgbClr val="2B2F36"/>
                          </a:solidFill>
                          <a:latin typeface="Noto Sans SC"/>
                          <a:ea typeface="Noto Sans SC"/>
                          <a:cs typeface="Noto Sans SC"/>
                        </a:rPr>
                        <a:t>13</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extLst>
                  <a:ext uri="{0D108BD9-81ED-4DB2-BD59-A6C34878D82A}">
                    <a16:rowId xmlns:a16="http://schemas.microsoft.com/office/drawing/2014/main" val="10007"/>
                  </a:ext>
                </a:extLst>
              </a:tr>
              <a:tr h="328792">
                <a:tc>
                  <a:txBody>
                    <a:bodyPr/>
                    <a:lstStyle/>
                    <a:p>
                      <a:r>
                        <a:rPr sz="1600" b="0">
                          <a:solidFill>
                            <a:srgbClr val="2B2F36"/>
                          </a:solidFill>
                          <a:latin typeface="Noto Sans SC"/>
                          <a:ea typeface="Noto Sans SC"/>
                          <a:cs typeface="Noto Sans SC"/>
                        </a:rPr>
                        <a:t>严翊航</a:t>
                      </a:r>
                    </a:p>
                  </a:txBody>
                  <a:tcPr>
                    <a:lnL w="9525">
                      <a:solidFill>
                        <a:srgbClr val="DCE1E8"/>
                      </a:solidFill>
                      <a:prstDash val="soli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600" b="0">
                          <a:solidFill>
                            <a:srgbClr val="2B2F36"/>
                          </a:solidFill>
                          <a:latin typeface="Noto Sans SC"/>
                          <a:ea typeface="Noto Sans SC"/>
                          <a:cs typeface="Noto Sans SC"/>
                        </a:rPr>
                        <a:t>5</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600" b="0">
                          <a:solidFill>
                            <a:srgbClr val="2B2F36"/>
                          </a:solidFill>
                          <a:latin typeface="Noto Sans SC"/>
                          <a:ea typeface="Noto Sans SC"/>
                          <a:cs typeface="Noto Sans SC"/>
                        </a:rPr>
                        <a:t>8</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600" b="0">
                          <a:solidFill>
                            <a:srgbClr val="2B2F36"/>
                          </a:solidFill>
                          <a:latin typeface="Noto Sans SC"/>
                          <a:ea typeface="Noto Sans SC"/>
                          <a:cs typeface="Noto Sans SC"/>
                        </a:rPr>
                        <a:t>8</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600" b="0" dirty="0">
                          <a:solidFill>
                            <a:srgbClr val="2B2F36"/>
                          </a:solidFill>
                          <a:latin typeface="Noto Sans SC"/>
                          <a:ea typeface="Noto Sans SC"/>
                          <a:cs typeface="Noto Sans SC"/>
                        </a:rPr>
                        <a:t>13</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6814441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EC0698A3-8EA1-4C50-B8C1-B8542E098951}"/>
              </a:ext>
            </a:extLst>
          </p:cNvPr>
          <p:cNvSpPr>
            <a:spLocks noGrp="1"/>
          </p:cNvSpPr>
          <p:nvPr/>
        </p:nvSpPr>
        <p:spPr>
          <a:xfrm>
            <a:off x="1016032" y="711232"/>
            <a:ext cx="7620000" cy="266700"/>
          </a:xfrm>
          <a:prstGeom prst="rect">
            <a:avLst/>
          </a:prstGeom>
          <a:noFill/>
          <a:ln w="0">
            <a:noFill/>
            <a:prstDash val="solid"/>
          </a:ln>
        </p:spPr>
        <p:txBody>
          <a:bodyPr/>
          <a:lstStyle>
            <a:defPPr algn="l">
              <a:defRPr sz="1300" b="1">
                <a:solidFill>
                  <a:srgbClr val="ED7D31"/>
                </a:solidFill>
                <a:latin typeface="Noto Sans SC"/>
                <a:ea typeface="Noto Sans SC"/>
                <a:cs typeface="Noto Sans SC"/>
              </a:defRPr>
            </a:defPPr>
          </a:lstStyle>
          <a:p>
            <a:pPr algn="l">
              <a:defRPr sz="1300" b="1">
                <a:solidFill>
                  <a:srgbClr val="ED7D31"/>
                </a:solidFill>
                <a:latin typeface="Noto Sans SC"/>
                <a:ea typeface="Noto Sans SC"/>
                <a:cs typeface="Noto Sans SC"/>
              </a:defRPr>
            </a:pPr>
            <a:r>
              <a:rPr sz="1300" b="1">
                <a:solidFill>
                  <a:srgbClr val="ED7D31"/>
                </a:solidFill>
                <a:latin typeface="Noto Sans SC"/>
                <a:ea typeface="Noto Sans SC"/>
                <a:cs typeface="Noto Sans SC"/>
              </a:rPr>
              <a:t>TASK 9 · 轮次讨论</a:t>
            </a:r>
          </a:p>
        </p:txBody>
      </p:sp>
      <p:sp>
        <p:nvSpPr>
          <p:cNvPr id="2" name="矩形 1">
            <a:extLst>
              <a:ext uri="{FF2B5EF4-FFF2-40B4-BE49-F238E27FC236}">
                <a16:creationId xmlns:a16="http://schemas.microsoft.com/office/drawing/2014/main" id="{1CFFA55D-DAC9-47A1-AFD6-E51FE42B9179}"/>
              </a:ext>
            </a:extLst>
          </p:cNvPr>
          <p:cNvSpPr>
            <a:spLocks noGrp="1"/>
          </p:cNvSpPr>
          <p:nvPr/>
        </p:nvSpPr>
        <p:spPr>
          <a:xfrm>
            <a:off x="1016032" y="1092232"/>
            <a:ext cx="10160032" cy="590550"/>
          </a:xfrm>
          <a:prstGeom prst="rect">
            <a:avLst/>
          </a:prstGeom>
          <a:noFill/>
          <a:ln w="0">
            <a:noFill/>
            <a:prstDash val="solid"/>
          </a:ln>
        </p:spPr>
        <p:txBody>
          <a:bodyPr/>
          <a:lstStyle>
            <a:defPPr algn="l">
              <a:defRPr sz="2550" b="1">
                <a:solidFill>
                  <a:srgbClr val="2B2F36"/>
                </a:solidFill>
                <a:latin typeface="Noto Sans SC"/>
                <a:ea typeface="Noto Sans SC"/>
                <a:cs typeface="Noto Sans SC"/>
              </a:defRPr>
            </a:defPPr>
          </a:lstStyle>
          <a:p>
            <a:pPr algn="l">
              <a:defRPr sz="2550" b="1">
                <a:solidFill>
                  <a:srgbClr val="2B2F36"/>
                </a:solidFill>
                <a:latin typeface="Noto Sans SC"/>
                <a:ea typeface="Noto Sans SC"/>
                <a:cs typeface="Noto Sans SC"/>
              </a:defRPr>
            </a:pPr>
            <a:r>
              <a:rPr sz="2550" b="1">
                <a:solidFill>
                  <a:srgbClr val="2B2F36"/>
                </a:solidFill>
                <a:latin typeface="Noto Sans SC"/>
                <a:ea typeface="Noto Sans SC"/>
                <a:cs typeface="Noto Sans SC"/>
              </a:rPr>
              <a:t>任务9 轮次讨论与最终故事点</a:t>
            </a:r>
          </a:p>
        </p:txBody>
      </p:sp>
      <p:sp>
        <p:nvSpPr>
          <p:cNvPr id="3" name="矩形 2">
            <a:extLst>
              <a:ext uri="{FF2B5EF4-FFF2-40B4-BE49-F238E27FC236}">
                <a16:creationId xmlns:a16="http://schemas.microsoft.com/office/drawing/2014/main" id="{D9C0246C-3C81-4E0B-9FDC-3256E5608CD8}"/>
              </a:ext>
            </a:extLst>
          </p:cNvPr>
          <p:cNvSpPr>
            <a:spLocks noGrp="1"/>
          </p:cNvSpPr>
          <p:nvPr/>
        </p:nvSpPr>
        <p:spPr>
          <a:xfrm>
            <a:off x="1016032" y="2025682"/>
            <a:ext cx="10160032" cy="12668"/>
          </a:xfrm>
          <a:prstGeom prst="rect">
            <a:avLst/>
          </a:prstGeom>
          <a:solidFill>
            <a:srgbClr val="DCE1E8"/>
          </a:solidFill>
          <a:ln w="0">
            <a:solidFill>
              <a:srgbClr val="DCE1E8"/>
            </a:solidFill>
            <a:prstDash val="solid"/>
          </a:ln>
        </p:spPr>
      </p:sp>
      <p:sp>
        <p:nvSpPr>
          <p:cNvPr id="4" name="矩形 3">
            <a:extLst>
              <a:ext uri="{FF2B5EF4-FFF2-40B4-BE49-F238E27FC236}">
                <a16:creationId xmlns:a16="http://schemas.microsoft.com/office/drawing/2014/main" id="{606C4E4E-A8FB-47B1-B328-B5BDCEC733F1}"/>
              </a:ext>
            </a:extLst>
          </p:cNvPr>
          <p:cNvSpPr>
            <a:spLocks noGrp="1"/>
          </p:cNvSpPr>
          <p:nvPr/>
        </p:nvSpPr>
        <p:spPr>
          <a:xfrm>
            <a:off x="1016032" y="6350032"/>
            <a:ext cx="6667500" cy="266700"/>
          </a:xfrm>
          <a:prstGeom prst="rect">
            <a:avLst/>
          </a:prstGeom>
          <a:noFill/>
          <a:ln w="0">
            <a:noFill/>
            <a:prstDash val="solid"/>
          </a:ln>
        </p:spPr>
        <p:txBody>
          <a:bodyPr/>
          <a:lstStyle>
            <a:defPPr algn="l">
              <a:defRPr sz="1100" b="0">
                <a:solidFill>
                  <a:srgbClr val="A0A8B4"/>
                </a:solidFill>
                <a:latin typeface="Noto Sans SC"/>
                <a:ea typeface="Noto Sans SC"/>
                <a:cs typeface="Noto Sans SC"/>
              </a:defRPr>
            </a:defPPr>
          </a:lstStyle>
          <a:p>
            <a:pPr algn="l">
              <a:defRPr sz="1100" b="0">
                <a:solidFill>
                  <a:srgbClr val="A0A8B4"/>
                </a:solidFill>
                <a:latin typeface="Noto Sans SC"/>
                <a:ea typeface="Noto Sans SC"/>
                <a:cs typeface="Noto Sans SC"/>
              </a:defRPr>
            </a:pPr>
            <a:r>
              <a:rPr sz="1100" b="0">
                <a:solidFill>
                  <a:srgbClr val="A0A8B4"/>
                </a:solidFill>
                <a:latin typeface="Noto Sans SC"/>
                <a:ea typeface="Noto Sans SC"/>
                <a:cs typeface="Noto Sans SC"/>
              </a:rPr>
              <a:t>SimpleCADforDSH ｜ 讨论四 · 规划扑克估算</a:t>
            </a:r>
          </a:p>
        </p:txBody>
      </p:sp>
      <p:sp>
        <p:nvSpPr>
          <p:cNvPr id="6" name="矩形: 圆角 5">
            <a:extLst>
              <a:ext uri="{FF2B5EF4-FFF2-40B4-BE49-F238E27FC236}">
                <a16:creationId xmlns:a16="http://schemas.microsoft.com/office/drawing/2014/main" id="{EF143951-72BC-4D9B-BD76-3530C197C221}"/>
              </a:ext>
            </a:extLst>
          </p:cNvPr>
          <p:cNvSpPr>
            <a:spLocks noGrp="1"/>
          </p:cNvSpPr>
          <p:nvPr/>
        </p:nvSpPr>
        <p:spPr>
          <a:xfrm>
            <a:off x="1016032" y="2324100"/>
            <a:ext cx="4857750" cy="1285875"/>
          </a:xfrm>
          <a:prstGeom prst="roundRect">
            <a:avLst>
              <a:gd name="adj" fmla="val 5926"/>
            </a:avLst>
          </a:prstGeom>
          <a:solidFill>
            <a:srgbClr val="E8EEF8"/>
          </a:solidFill>
          <a:ln w="0">
            <a:solidFill>
              <a:srgbClr val="4472C4"/>
            </a:solidFill>
            <a:prstDash val="solid"/>
          </a:ln>
        </p:spPr>
        <p:txBody>
          <a:bodyPr/>
          <a:lstStyle>
            <a:defPPr algn="l">
              <a:defRPr sz="1215" b="0">
                <a:solidFill>
                  <a:srgbClr val="2B2F36"/>
                </a:solidFill>
                <a:latin typeface="Noto Sans SC"/>
                <a:ea typeface="Noto Sans SC"/>
                <a:cs typeface="Noto Sans SC"/>
              </a:defRPr>
            </a:defPPr>
          </a:lstStyle>
          <a:p>
            <a:pPr algn="l">
              <a:defRPr sz="1215" b="0">
                <a:solidFill>
                  <a:srgbClr val="2B2F36"/>
                </a:solidFill>
                <a:latin typeface="Noto Sans SC"/>
                <a:ea typeface="Noto Sans SC"/>
                <a:cs typeface="Noto Sans SC"/>
              </a:defRPr>
            </a:pPr>
            <a:r>
              <a:rPr sz="1600" b="0" dirty="0" err="1">
                <a:solidFill>
                  <a:srgbClr val="2B2F36"/>
                </a:solidFill>
                <a:latin typeface="Noto Sans SC"/>
                <a:ea typeface="Noto Sans SC"/>
                <a:cs typeface="Noto Sans SC"/>
              </a:rPr>
              <a:t>第一轮</a:t>
            </a:r>
            <a:endParaRPr sz="1600" b="0" dirty="0">
              <a:solidFill>
                <a:srgbClr val="2B2F36"/>
              </a:solidFill>
              <a:latin typeface="Noto Sans SC"/>
              <a:ea typeface="Noto Sans SC"/>
              <a:cs typeface="Noto Sans SC"/>
            </a:endParaRPr>
          </a:p>
          <a:p>
            <a:pPr algn="l">
              <a:defRPr sz="1215" b="0">
                <a:solidFill>
                  <a:srgbClr val="2B2F36"/>
                </a:solidFill>
                <a:latin typeface="Noto Sans SC"/>
                <a:ea typeface="Noto Sans SC"/>
                <a:cs typeface="Noto Sans SC"/>
              </a:defRPr>
            </a:pPr>
            <a:r>
              <a:rPr sz="1600" b="0" dirty="0" err="1">
                <a:solidFill>
                  <a:srgbClr val="2B2F36"/>
                </a:solidFill>
                <a:latin typeface="Noto Sans SC"/>
                <a:ea typeface="Noto Sans SC"/>
                <a:cs typeface="Noto Sans SC"/>
              </a:rPr>
              <a:t>最高</a:t>
            </a:r>
            <a:r>
              <a:rPr sz="1600" b="0" dirty="0">
                <a:solidFill>
                  <a:srgbClr val="2B2F36"/>
                </a:solidFill>
                <a:latin typeface="Noto Sans SC"/>
                <a:ea typeface="Noto Sans SC"/>
                <a:cs typeface="Noto Sans SC"/>
              </a:rPr>
              <a:t> 8 </a:t>
            </a:r>
            <a:r>
              <a:rPr sz="1600" b="0" dirty="0" err="1">
                <a:solidFill>
                  <a:srgbClr val="2B2F36"/>
                </a:solidFill>
                <a:latin typeface="Noto Sans SC"/>
                <a:ea typeface="Noto Sans SC"/>
                <a:cs typeface="Noto Sans SC"/>
              </a:rPr>
              <a:t>点，最低</a:t>
            </a:r>
            <a:r>
              <a:rPr sz="1600" b="0" dirty="0">
                <a:solidFill>
                  <a:srgbClr val="2B2F36"/>
                </a:solidFill>
                <a:latin typeface="Noto Sans SC"/>
                <a:ea typeface="Noto Sans SC"/>
                <a:cs typeface="Noto Sans SC"/>
              </a:rPr>
              <a:t> 3 </a:t>
            </a:r>
            <a:r>
              <a:rPr sz="1600" b="0" dirty="0" err="1">
                <a:solidFill>
                  <a:srgbClr val="2B2F36"/>
                </a:solidFill>
                <a:latin typeface="Noto Sans SC"/>
                <a:ea typeface="Noto Sans SC"/>
                <a:cs typeface="Noto Sans SC"/>
              </a:rPr>
              <a:t>点。高估值关注多图关联、视图核对和尺寸一致性；低估值认为可复用单视角流程</a:t>
            </a:r>
            <a:r>
              <a:rPr sz="1600" b="0" dirty="0">
                <a:solidFill>
                  <a:srgbClr val="2B2F36"/>
                </a:solidFill>
                <a:latin typeface="Noto Sans SC"/>
                <a:ea typeface="Noto Sans SC"/>
                <a:cs typeface="Noto Sans SC"/>
              </a:rPr>
              <a:t>。</a:t>
            </a:r>
          </a:p>
        </p:txBody>
      </p:sp>
      <p:sp>
        <p:nvSpPr>
          <p:cNvPr id="7" name="矩形: 圆角 6">
            <a:extLst>
              <a:ext uri="{FF2B5EF4-FFF2-40B4-BE49-F238E27FC236}">
                <a16:creationId xmlns:a16="http://schemas.microsoft.com/office/drawing/2014/main" id="{1F8777FA-7B99-4D83-BDB6-49EC1ABC9694}"/>
              </a:ext>
            </a:extLst>
          </p:cNvPr>
          <p:cNvSpPr>
            <a:spLocks noGrp="1"/>
          </p:cNvSpPr>
          <p:nvPr/>
        </p:nvSpPr>
        <p:spPr>
          <a:xfrm>
            <a:off x="6318218" y="2324100"/>
            <a:ext cx="4857750" cy="1285875"/>
          </a:xfrm>
          <a:prstGeom prst="roundRect">
            <a:avLst>
              <a:gd name="adj" fmla="val 5926"/>
            </a:avLst>
          </a:prstGeom>
          <a:solidFill>
            <a:srgbClr val="FCEDE0"/>
          </a:solidFill>
          <a:ln w="0">
            <a:solidFill>
              <a:srgbClr val="ED7D31"/>
            </a:solidFill>
            <a:prstDash val="solid"/>
          </a:ln>
        </p:spPr>
        <p:txBody>
          <a:bodyPr/>
          <a:lstStyle>
            <a:defPPr algn="l">
              <a:defRPr sz="1215" b="0">
                <a:solidFill>
                  <a:srgbClr val="2B2F36"/>
                </a:solidFill>
                <a:latin typeface="Noto Sans SC"/>
                <a:ea typeface="Noto Sans SC"/>
                <a:cs typeface="Noto Sans SC"/>
              </a:defRPr>
            </a:defPPr>
          </a:lstStyle>
          <a:p>
            <a:pPr algn="l">
              <a:defRPr sz="1215" b="0">
                <a:solidFill>
                  <a:srgbClr val="2B2F36"/>
                </a:solidFill>
                <a:latin typeface="Noto Sans SC"/>
                <a:ea typeface="Noto Sans SC"/>
                <a:cs typeface="Noto Sans SC"/>
              </a:defRPr>
            </a:pPr>
            <a:r>
              <a:rPr sz="1600" b="0" dirty="0" err="1">
                <a:solidFill>
                  <a:srgbClr val="2B2F36"/>
                </a:solidFill>
                <a:latin typeface="Noto Sans SC"/>
                <a:ea typeface="Noto Sans SC"/>
                <a:cs typeface="Noto Sans SC"/>
              </a:rPr>
              <a:t>第二轮</a:t>
            </a:r>
            <a:endParaRPr sz="1600" b="0" dirty="0">
              <a:solidFill>
                <a:srgbClr val="2B2F36"/>
              </a:solidFill>
              <a:latin typeface="Noto Sans SC"/>
              <a:ea typeface="Noto Sans SC"/>
              <a:cs typeface="Noto Sans SC"/>
            </a:endParaRPr>
          </a:p>
          <a:p>
            <a:pPr algn="l">
              <a:defRPr sz="1215" b="0">
                <a:solidFill>
                  <a:srgbClr val="2B2F36"/>
                </a:solidFill>
                <a:latin typeface="Noto Sans SC"/>
                <a:ea typeface="Noto Sans SC"/>
                <a:cs typeface="Noto Sans SC"/>
              </a:defRPr>
            </a:pPr>
            <a:r>
              <a:rPr sz="1600" b="0" dirty="0" err="1">
                <a:solidFill>
                  <a:srgbClr val="2B2F36"/>
                </a:solidFill>
                <a:latin typeface="Noto Sans SC"/>
                <a:ea typeface="Noto Sans SC"/>
                <a:cs typeface="Noto Sans SC"/>
              </a:rPr>
              <a:t>最高</a:t>
            </a:r>
            <a:r>
              <a:rPr sz="1600" b="0" dirty="0">
                <a:solidFill>
                  <a:srgbClr val="2B2F36"/>
                </a:solidFill>
                <a:latin typeface="Noto Sans SC"/>
                <a:ea typeface="Noto Sans SC"/>
                <a:cs typeface="Noto Sans SC"/>
              </a:rPr>
              <a:t> 8 </a:t>
            </a:r>
            <a:r>
              <a:rPr sz="1600" b="0" dirty="0" err="1">
                <a:solidFill>
                  <a:srgbClr val="2B2F36"/>
                </a:solidFill>
                <a:latin typeface="Noto Sans SC"/>
                <a:ea typeface="Noto Sans SC"/>
                <a:cs typeface="Noto Sans SC"/>
              </a:rPr>
              <a:t>点，最低</a:t>
            </a:r>
            <a:r>
              <a:rPr sz="1600" b="0" dirty="0">
                <a:solidFill>
                  <a:srgbClr val="2B2F36"/>
                </a:solidFill>
                <a:latin typeface="Noto Sans SC"/>
                <a:ea typeface="Noto Sans SC"/>
                <a:cs typeface="Noto Sans SC"/>
              </a:rPr>
              <a:t> 5 </a:t>
            </a:r>
            <a:r>
              <a:rPr sz="1600" b="0" dirty="0" err="1">
                <a:solidFill>
                  <a:srgbClr val="2B2F36"/>
                </a:solidFill>
                <a:latin typeface="Noto Sans SC"/>
                <a:ea typeface="Noto Sans SC"/>
                <a:cs typeface="Noto Sans SC"/>
              </a:rPr>
              <a:t>点。补充多视图校验、图片组更新和旧输入清理</a:t>
            </a:r>
            <a:r>
              <a:rPr sz="1600" b="0" dirty="0">
                <a:solidFill>
                  <a:srgbClr val="2B2F36"/>
                </a:solidFill>
                <a:latin typeface="Noto Sans SC"/>
                <a:ea typeface="Noto Sans SC"/>
                <a:cs typeface="Noto Sans SC"/>
              </a:rPr>
              <a:t>。</a:t>
            </a:r>
          </a:p>
        </p:txBody>
      </p:sp>
      <p:sp>
        <p:nvSpPr>
          <p:cNvPr id="8" name="矩形: 圆角 7">
            <a:extLst>
              <a:ext uri="{FF2B5EF4-FFF2-40B4-BE49-F238E27FC236}">
                <a16:creationId xmlns:a16="http://schemas.microsoft.com/office/drawing/2014/main" id="{07F19D0E-ABE5-4F8F-8781-DD2D51ED36BF}"/>
              </a:ext>
            </a:extLst>
          </p:cNvPr>
          <p:cNvSpPr>
            <a:spLocks noGrp="1"/>
          </p:cNvSpPr>
          <p:nvPr/>
        </p:nvSpPr>
        <p:spPr>
          <a:xfrm>
            <a:off x="1016032" y="3905250"/>
            <a:ext cx="4857750" cy="1285875"/>
          </a:xfrm>
          <a:prstGeom prst="roundRect">
            <a:avLst>
              <a:gd name="adj" fmla="val 5926"/>
            </a:avLst>
          </a:prstGeom>
          <a:solidFill>
            <a:srgbClr val="F5F7FA"/>
          </a:solidFill>
          <a:ln w="0">
            <a:solidFill>
              <a:srgbClr val="DCE1E8"/>
            </a:solidFill>
            <a:prstDash val="solid"/>
          </a:ln>
        </p:spPr>
        <p:txBody>
          <a:bodyPr/>
          <a:lstStyle>
            <a:defPPr algn="l">
              <a:defRPr sz="1215" b="0">
                <a:solidFill>
                  <a:srgbClr val="2B2F36"/>
                </a:solidFill>
                <a:latin typeface="Noto Sans SC"/>
                <a:ea typeface="Noto Sans SC"/>
                <a:cs typeface="Noto Sans SC"/>
              </a:defRPr>
            </a:defPPr>
          </a:lstStyle>
          <a:p>
            <a:pPr algn="l">
              <a:defRPr sz="1215" b="0">
                <a:solidFill>
                  <a:srgbClr val="2B2F36"/>
                </a:solidFill>
                <a:latin typeface="Noto Sans SC"/>
                <a:ea typeface="Noto Sans SC"/>
                <a:cs typeface="Noto Sans SC"/>
              </a:defRPr>
            </a:pPr>
            <a:r>
              <a:rPr sz="1600" b="0" dirty="0" err="1">
                <a:solidFill>
                  <a:srgbClr val="2B2F36"/>
                </a:solidFill>
                <a:latin typeface="Noto Sans SC"/>
                <a:ea typeface="Noto Sans SC"/>
                <a:cs typeface="Noto Sans SC"/>
              </a:rPr>
              <a:t>第三轮</a:t>
            </a:r>
            <a:endParaRPr sz="1600" b="0" dirty="0">
              <a:solidFill>
                <a:srgbClr val="2B2F36"/>
              </a:solidFill>
              <a:latin typeface="Noto Sans SC"/>
              <a:ea typeface="Noto Sans SC"/>
              <a:cs typeface="Noto Sans SC"/>
            </a:endParaRPr>
          </a:p>
          <a:p>
            <a:pPr algn="l">
              <a:defRPr sz="1215" b="0">
                <a:solidFill>
                  <a:srgbClr val="2B2F36"/>
                </a:solidFill>
                <a:latin typeface="Noto Sans SC"/>
                <a:ea typeface="Noto Sans SC"/>
                <a:cs typeface="Noto Sans SC"/>
              </a:defRPr>
            </a:pPr>
            <a:r>
              <a:rPr sz="1600" b="0" dirty="0" err="1">
                <a:solidFill>
                  <a:srgbClr val="2B2F36"/>
                </a:solidFill>
                <a:latin typeface="Noto Sans SC"/>
                <a:ea typeface="Noto Sans SC"/>
                <a:cs typeface="Noto Sans SC"/>
              </a:rPr>
              <a:t>最高</a:t>
            </a:r>
            <a:r>
              <a:rPr sz="1600" b="0" dirty="0">
                <a:solidFill>
                  <a:srgbClr val="2B2F36"/>
                </a:solidFill>
                <a:latin typeface="Noto Sans SC"/>
                <a:ea typeface="Noto Sans SC"/>
                <a:cs typeface="Noto Sans SC"/>
              </a:rPr>
              <a:t> 13 </a:t>
            </a:r>
            <a:r>
              <a:rPr sz="1600" b="0" dirty="0" err="1">
                <a:solidFill>
                  <a:srgbClr val="2B2F36"/>
                </a:solidFill>
                <a:latin typeface="Noto Sans SC"/>
                <a:ea typeface="Noto Sans SC"/>
                <a:cs typeface="Noto Sans SC"/>
              </a:rPr>
              <a:t>点，最低</a:t>
            </a:r>
            <a:r>
              <a:rPr sz="1600" b="0" dirty="0">
                <a:solidFill>
                  <a:srgbClr val="2B2F36"/>
                </a:solidFill>
                <a:latin typeface="Noto Sans SC"/>
                <a:ea typeface="Noto Sans SC"/>
                <a:cs typeface="Noto Sans SC"/>
              </a:rPr>
              <a:t> 5 </a:t>
            </a:r>
            <a:r>
              <a:rPr sz="1600" b="0" dirty="0" err="1">
                <a:solidFill>
                  <a:srgbClr val="2B2F36"/>
                </a:solidFill>
                <a:latin typeface="Noto Sans SC"/>
                <a:ea typeface="Noto Sans SC"/>
                <a:cs typeface="Noto Sans SC"/>
              </a:rPr>
              <a:t>点。考虑视图矛盾、生成结果反复核对和图片替换验证</a:t>
            </a:r>
            <a:r>
              <a:rPr sz="1600" b="0" dirty="0">
                <a:solidFill>
                  <a:srgbClr val="2B2F36"/>
                </a:solidFill>
                <a:latin typeface="Noto Sans SC"/>
                <a:ea typeface="Noto Sans SC"/>
                <a:cs typeface="Noto Sans SC"/>
              </a:rPr>
              <a:t>。</a:t>
            </a:r>
          </a:p>
        </p:txBody>
      </p:sp>
      <p:sp>
        <p:nvSpPr>
          <p:cNvPr id="9" name="矩形: 圆角 8">
            <a:extLst>
              <a:ext uri="{FF2B5EF4-FFF2-40B4-BE49-F238E27FC236}">
                <a16:creationId xmlns:a16="http://schemas.microsoft.com/office/drawing/2014/main" id="{DDE8E21D-ED51-4771-84AE-BA42F12BDE08}"/>
              </a:ext>
            </a:extLst>
          </p:cNvPr>
          <p:cNvSpPr>
            <a:spLocks noGrp="1"/>
          </p:cNvSpPr>
          <p:nvPr/>
        </p:nvSpPr>
        <p:spPr>
          <a:xfrm>
            <a:off x="6318218" y="3905250"/>
            <a:ext cx="4857750" cy="1285875"/>
          </a:xfrm>
          <a:prstGeom prst="roundRect">
            <a:avLst>
              <a:gd name="adj" fmla="val 5926"/>
            </a:avLst>
          </a:prstGeom>
          <a:solidFill>
            <a:srgbClr val="4472C4"/>
          </a:solidFill>
          <a:ln w="0">
            <a:solidFill>
              <a:srgbClr val="4472C4"/>
            </a:solidFill>
            <a:prstDash val="solid"/>
          </a:ln>
        </p:spPr>
        <p:txBody>
          <a:bodyPr/>
          <a:lstStyle>
            <a:defPPr algn="l">
              <a:defRPr sz="1575" b="1">
                <a:solidFill>
                  <a:srgbClr val="FFFFFF"/>
                </a:solidFill>
                <a:latin typeface="Noto Sans SC"/>
                <a:ea typeface="Noto Sans SC"/>
                <a:cs typeface="Noto Sans SC"/>
              </a:defRPr>
            </a:defPPr>
          </a:lstStyle>
          <a:p>
            <a:pPr algn="l">
              <a:defRPr sz="1575" b="1">
                <a:solidFill>
                  <a:srgbClr val="FFFFFF"/>
                </a:solidFill>
                <a:latin typeface="Noto Sans SC"/>
                <a:ea typeface="Noto Sans SC"/>
                <a:cs typeface="Noto Sans SC"/>
              </a:defRPr>
            </a:pPr>
            <a:r>
              <a:rPr sz="1575" b="1" dirty="0" err="1">
                <a:solidFill>
                  <a:srgbClr val="FFFFFF"/>
                </a:solidFill>
                <a:latin typeface="Noto Sans SC"/>
                <a:ea typeface="Noto Sans SC"/>
                <a:cs typeface="Noto Sans SC"/>
              </a:rPr>
              <a:t>第四轮结论</a:t>
            </a:r>
            <a:endParaRPr sz="1575" b="1" dirty="0">
              <a:solidFill>
                <a:srgbClr val="FFFFFF"/>
              </a:solidFill>
              <a:latin typeface="Noto Sans SC"/>
              <a:ea typeface="Noto Sans SC"/>
              <a:cs typeface="Noto Sans SC"/>
            </a:endParaRPr>
          </a:p>
          <a:p>
            <a:pPr algn="l">
              <a:defRPr sz="1575" b="1">
                <a:solidFill>
                  <a:srgbClr val="FFFFFF"/>
                </a:solidFill>
                <a:latin typeface="Noto Sans SC"/>
                <a:ea typeface="Noto Sans SC"/>
                <a:cs typeface="Noto Sans SC"/>
              </a:defRPr>
            </a:pPr>
            <a:r>
              <a:rPr sz="1575" b="1" dirty="0" err="1">
                <a:solidFill>
                  <a:srgbClr val="FFFFFF"/>
                </a:solidFill>
                <a:latin typeface="Noto Sans SC"/>
                <a:ea typeface="Noto Sans SC"/>
                <a:cs typeface="Noto Sans SC"/>
              </a:rPr>
              <a:t>八名成员均出</a:t>
            </a:r>
            <a:r>
              <a:rPr sz="1575" b="1" dirty="0">
                <a:solidFill>
                  <a:srgbClr val="FFFFFF"/>
                </a:solidFill>
                <a:latin typeface="Noto Sans SC"/>
                <a:ea typeface="Noto Sans SC"/>
                <a:cs typeface="Noto Sans SC"/>
              </a:rPr>
              <a:t> 13 </a:t>
            </a:r>
            <a:r>
              <a:rPr sz="1575" b="1" dirty="0" err="1">
                <a:solidFill>
                  <a:srgbClr val="FFFFFF"/>
                </a:solidFill>
                <a:latin typeface="Noto Sans SC"/>
                <a:ea typeface="Noto Sans SC"/>
                <a:cs typeface="Noto Sans SC"/>
              </a:rPr>
              <a:t>点，估算收敛</a:t>
            </a:r>
            <a:r>
              <a:rPr sz="1575" b="1" dirty="0">
                <a:solidFill>
                  <a:srgbClr val="FFFFFF"/>
                </a:solidFill>
                <a:latin typeface="Noto Sans SC"/>
                <a:ea typeface="Noto Sans SC"/>
                <a:cs typeface="Noto Sans SC"/>
              </a:rPr>
              <a:t>。</a:t>
            </a:r>
          </a:p>
          <a:p>
            <a:pPr algn="l">
              <a:defRPr sz="1575" b="1">
                <a:solidFill>
                  <a:srgbClr val="FFFFFF"/>
                </a:solidFill>
                <a:latin typeface="Noto Sans SC"/>
                <a:ea typeface="Noto Sans SC"/>
                <a:cs typeface="Noto Sans SC"/>
              </a:defRPr>
            </a:pPr>
            <a:r>
              <a:rPr sz="1575" b="1" dirty="0">
                <a:solidFill>
                  <a:srgbClr val="FFFFFF"/>
                </a:solidFill>
                <a:latin typeface="Noto Sans SC"/>
                <a:ea typeface="Noto Sans SC"/>
                <a:cs typeface="Noto Sans SC"/>
              </a:rPr>
              <a:t>最终工作量：13 点</a:t>
            </a:r>
          </a:p>
        </p:txBody>
      </p:sp>
    </p:spTree>
    <p:extLst>
      <p:ext uri="{BB962C8B-B14F-4D97-AF65-F5344CB8AC3E}">
        <p14:creationId xmlns:p14="http://schemas.microsoft.com/office/powerpoint/2010/main" val="5432628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AEA6DDBE-B083-4011-820F-36D6EAA574B0}"/>
              </a:ext>
            </a:extLst>
          </p:cNvPr>
          <p:cNvSpPr>
            <a:spLocks noGrp="1"/>
          </p:cNvSpPr>
          <p:nvPr/>
        </p:nvSpPr>
        <p:spPr>
          <a:xfrm>
            <a:off x="1016032" y="711232"/>
            <a:ext cx="7620000" cy="266700"/>
          </a:xfrm>
          <a:prstGeom prst="rect">
            <a:avLst/>
          </a:prstGeom>
          <a:noFill/>
          <a:ln w="0">
            <a:noFill/>
            <a:prstDash val="solid"/>
          </a:ln>
        </p:spPr>
        <p:txBody>
          <a:bodyPr/>
          <a:lstStyle>
            <a:defPPr algn="l">
              <a:defRPr sz="1300" b="1">
                <a:solidFill>
                  <a:srgbClr val="ED7D31"/>
                </a:solidFill>
                <a:latin typeface="Noto Sans SC"/>
                <a:ea typeface="Noto Sans SC"/>
                <a:cs typeface="Noto Sans SC"/>
              </a:defRPr>
            </a:defPPr>
          </a:lstStyle>
          <a:p>
            <a:pPr algn="l">
              <a:defRPr sz="1300" b="1">
                <a:solidFill>
                  <a:srgbClr val="ED7D31"/>
                </a:solidFill>
                <a:latin typeface="Noto Sans SC"/>
                <a:ea typeface="Noto Sans SC"/>
                <a:cs typeface="Noto Sans SC"/>
              </a:defRPr>
            </a:pPr>
            <a:r>
              <a:rPr sz="1300" b="1">
                <a:solidFill>
                  <a:srgbClr val="ED7D31"/>
                </a:solidFill>
                <a:latin typeface="Noto Sans SC"/>
                <a:ea typeface="Noto Sans SC"/>
                <a:cs typeface="Noto Sans SC"/>
              </a:rPr>
              <a:t>TASK 10 · 文本检索</a:t>
            </a:r>
          </a:p>
        </p:txBody>
      </p:sp>
      <p:sp>
        <p:nvSpPr>
          <p:cNvPr id="2" name="矩形 1">
            <a:extLst>
              <a:ext uri="{FF2B5EF4-FFF2-40B4-BE49-F238E27FC236}">
                <a16:creationId xmlns:a16="http://schemas.microsoft.com/office/drawing/2014/main" id="{AFC90EC4-34DA-411C-B5FA-2C62E502E1A1}"/>
              </a:ext>
            </a:extLst>
          </p:cNvPr>
          <p:cNvSpPr>
            <a:spLocks noGrp="1"/>
          </p:cNvSpPr>
          <p:nvPr/>
        </p:nvSpPr>
        <p:spPr>
          <a:xfrm>
            <a:off x="1016032" y="1092232"/>
            <a:ext cx="10160032" cy="590550"/>
          </a:xfrm>
          <a:prstGeom prst="rect">
            <a:avLst/>
          </a:prstGeom>
          <a:noFill/>
          <a:ln w="0">
            <a:noFill/>
            <a:prstDash val="solid"/>
          </a:ln>
        </p:spPr>
        <p:txBody>
          <a:bodyPr/>
          <a:lstStyle>
            <a:defPPr algn="l">
              <a:defRPr sz="2550" b="1">
                <a:solidFill>
                  <a:srgbClr val="2B2F36"/>
                </a:solidFill>
                <a:latin typeface="Noto Sans SC"/>
                <a:ea typeface="Noto Sans SC"/>
                <a:cs typeface="Noto Sans SC"/>
              </a:defRPr>
            </a:defPPr>
          </a:lstStyle>
          <a:p>
            <a:pPr algn="l">
              <a:defRPr sz="2550" b="1">
                <a:solidFill>
                  <a:srgbClr val="2B2F36"/>
                </a:solidFill>
                <a:latin typeface="Noto Sans SC"/>
                <a:ea typeface="Noto Sans SC"/>
                <a:cs typeface="Noto Sans SC"/>
              </a:defRPr>
            </a:pPr>
            <a:r>
              <a:rPr sz="2550" b="1">
                <a:solidFill>
                  <a:srgbClr val="2B2F36"/>
                </a:solidFill>
                <a:latin typeface="Noto Sans SC"/>
                <a:ea typeface="Noto Sans SC"/>
                <a:cs typeface="Noto Sans SC"/>
              </a:rPr>
              <a:t>任务10 文本检索相似 CAD 模型</a:t>
            </a:r>
          </a:p>
        </p:txBody>
      </p:sp>
      <p:sp>
        <p:nvSpPr>
          <p:cNvPr id="3" name="矩形 2">
            <a:extLst>
              <a:ext uri="{FF2B5EF4-FFF2-40B4-BE49-F238E27FC236}">
                <a16:creationId xmlns:a16="http://schemas.microsoft.com/office/drawing/2014/main" id="{40EAB3AA-C198-484D-9EED-04D5E1E701CD}"/>
              </a:ext>
            </a:extLst>
          </p:cNvPr>
          <p:cNvSpPr>
            <a:spLocks noGrp="1"/>
          </p:cNvSpPr>
          <p:nvPr/>
        </p:nvSpPr>
        <p:spPr>
          <a:xfrm>
            <a:off x="1016032" y="2025682"/>
            <a:ext cx="10160032" cy="12668"/>
          </a:xfrm>
          <a:prstGeom prst="rect">
            <a:avLst/>
          </a:prstGeom>
          <a:solidFill>
            <a:srgbClr val="DCE1E8"/>
          </a:solidFill>
          <a:ln w="0">
            <a:solidFill>
              <a:srgbClr val="DCE1E8"/>
            </a:solidFill>
            <a:prstDash val="solid"/>
          </a:ln>
        </p:spPr>
      </p:sp>
      <p:sp>
        <p:nvSpPr>
          <p:cNvPr id="4" name="矩形 3">
            <a:extLst>
              <a:ext uri="{FF2B5EF4-FFF2-40B4-BE49-F238E27FC236}">
                <a16:creationId xmlns:a16="http://schemas.microsoft.com/office/drawing/2014/main" id="{AA4B3488-F6A9-4A3F-93F6-B5638D01B247}"/>
              </a:ext>
            </a:extLst>
          </p:cNvPr>
          <p:cNvSpPr>
            <a:spLocks noGrp="1"/>
          </p:cNvSpPr>
          <p:nvPr/>
        </p:nvSpPr>
        <p:spPr>
          <a:xfrm>
            <a:off x="1016032" y="6350032"/>
            <a:ext cx="6667500" cy="266700"/>
          </a:xfrm>
          <a:prstGeom prst="rect">
            <a:avLst/>
          </a:prstGeom>
          <a:noFill/>
          <a:ln w="0">
            <a:noFill/>
            <a:prstDash val="solid"/>
          </a:ln>
        </p:spPr>
        <p:txBody>
          <a:bodyPr/>
          <a:lstStyle>
            <a:defPPr algn="l">
              <a:defRPr sz="1100" b="0">
                <a:solidFill>
                  <a:srgbClr val="A0A8B4"/>
                </a:solidFill>
                <a:latin typeface="Noto Sans SC"/>
                <a:ea typeface="Noto Sans SC"/>
                <a:cs typeface="Noto Sans SC"/>
              </a:defRPr>
            </a:defPPr>
          </a:lstStyle>
          <a:p>
            <a:pPr algn="l">
              <a:defRPr sz="1100" b="0">
                <a:solidFill>
                  <a:srgbClr val="A0A8B4"/>
                </a:solidFill>
                <a:latin typeface="Noto Sans SC"/>
                <a:ea typeface="Noto Sans SC"/>
                <a:cs typeface="Noto Sans SC"/>
              </a:defRPr>
            </a:pPr>
            <a:r>
              <a:rPr sz="1100" b="0">
                <a:solidFill>
                  <a:srgbClr val="A0A8B4"/>
                </a:solidFill>
                <a:latin typeface="Noto Sans SC"/>
                <a:ea typeface="Noto Sans SC"/>
                <a:cs typeface="Noto Sans SC"/>
              </a:rPr>
              <a:t>SimpleCADforDSH ｜ 讨论四 · 规划扑克估算</a:t>
            </a:r>
          </a:p>
        </p:txBody>
      </p:sp>
      <p:sp>
        <p:nvSpPr>
          <p:cNvPr id="6" name="矩形: 圆角 5">
            <a:extLst>
              <a:ext uri="{FF2B5EF4-FFF2-40B4-BE49-F238E27FC236}">
                <a16:creationId xmlns:a16="http://schemas.microsoft.com/office/drawing/2014/main" id="{B3C91BF4-B893-49D8-BB5F-B01519AF9A83}"/>
              </a:ext>
            </a:extLst>
          </p:cNvPr>
          <p:cNvSpPr>
            <a:spLocks noGrp="1"/>
          </p:cNvSpPr>
          <p:nvPr/>
        </p:nvSpPr>
        <p:spPr>
          <a:xfrm>
            <a:off x="1016032" y="2276475"/>
            <a:ext cx="10160032" cy="914400"/>
          </a:xfrm>
          <a:prstGeom prst="roundRect">
            <a:avLst>
              <a:gd name="adj" fmla="val 8333"/>
            </a:avLst>
          </a:prstGeom>
          <a:solidFill>
            <a:srgbClr val="F5F7FA"/>
          </a:solidFill>
          <a:ln w="0">
            <a:solidFill>
              <a:srgbClr val="DCE1E8"/>
            </a:solidFill>
            <a:prstDash val="solid"/>
          </a:ln>
        </p:spPr>
        <p:txBody>
          <a:bodyPr/>
          <a:lstStyle>
            <a:defPPr algn="l">
              <a:defRPr sz="1163" b="0">
                <a:solidFill>
                  <a:srgbClr val="2B2F36"/>
                </a:solidFill>
                <a:latin typeface="Noto Sans SC"/>
                <a:ea typeface="Noto Sans SC"/>
                <a:cs typeface="Noto Sans SC"/>
              </a:defRPr>
            </a:defPPr>
          </a:lstStyle>
          <a:p>
            <a:pPr algn="l">
              <a:defRPr sz="1163" b="0">
                <a:solidFill>
                  <a:srgbClr val="2B2F36"/>
                </a:solidFill>
                <a:latin typeface="Noto Sans SC"/>
                <a:ea typeface="Noto Sans SC"/>
                <a:cs typeface="Noto Sans SC"/>
              </a:defRPr>
            </a:pPr>
            <a:r>
              <a:rPr sz="1600" b="0" dirty="0" err="1">
                <a:solidFill>
                  <a:srgbClr val="2B2F36"/>
                </a:solidFill>
                <a:latin typeface="Noto Sans SC"/>
                <a:ea typeface="Noto Sans SC"/>
                <a:cs typeface="Noto Sans SC"/>
              </a:rPr>
              <a:t>任务说明</a:t>
            </a:r>
            <a:endParaRPr sz="1600" b="0" dirty="0">
              <a:solidFill>
                <a:srgbClr val="2B2F36"/>
              </a:solidFill>
              <a:latin typeface="Noto Sans SC"/>
              <a:ea typeface="Noto Sans SC"/>
              <a:cs typeface="Noto Sans SC"/>
            </a:endParaRPr>
          </a:p>
          <a:p>
            <a:pPr algn="l">
              <a:defRPr sz="1163" b="0">
                <a:solidFill>
                  <a:srgbClr val="2B2F36"/>
                </a:solidFill>
                <a:latin typeface="Noto Sans SC"/>
                <a:ea typeface="Noto Sans SC"/>
                <a:cs typeface="Noto Sans SC"/>
              </a:defRPr>
            </a:pPr>
            <a:r>
              <a:rPr sz="1600" b="0" dirty="0" err="1">
                <a:solidFill>
                  <a:srgbClr val="2B2F36"/>
                </a:solidFill>
                <a:latin typeface="Noto Sans SC"/>
                <a:ea typeface="Noto Sans SC"/>
                <a:cs typeface="Noto Sans SC"/>
              </a:rPr>
              <a:t>根据自然语言描述检索资产库中的相似</a:t>
            </a:r>
            <a:r>
              <a:rPr sz="1600" b="0" dirty="0">
                <a:solidFill>
                  <a:srgbClr val="2B2F36"/>
                </a:solidFill>
                <a:latin typeface="Noto Sans SC"/>
                <a:ea typeface="Noto Sans SC"/>
                <a:cs typeface="Noto Sans SC"/>
              </a:rPr>
              <a:t> CAD </a:t>
            </a:r>
            <a:r>
              <a:rPr sz="1600" b="0" dirty="0" err="1">
                <a:solidFill>
                  <a:srgbClr val="2B2F36"/>
                </a:solidFill>
                <a:latin typeface="Noto Sans SC"/>
                <a:ea typeface="Noto Sans SC"/>
                <a:cs typeface="Noto Sans SC"/>
              </a:rPr>
              <a:t>模型，按相似度排序，并处理空输入和无匹配结果。验收范围对应</a:t>
            </a:r>
            <a:r>
              <a:rPr sz="1600" b="0" dirty="0">
                <a:solidFill>
                  <a:srgbClr val="2B2F36"/>
                </a:solidFill>
                <a:latin typeface="Noto Sans SC"/>
                <a:ea typeface="Noto Sans SC"/>
                <a:cs typeface="Noto Sans SC"/>
              </a:rPr>
              <a:t> US05。</a:t>
            </a:r>
          </a:p>
        </p:txBody>
      </p:sp>
      <p:graphicFrame>
        <p:nvGraphicFramePr>
          <p:cNvPr id="7" name="表格 6">
            <a:extLst>
              <a:ext uri="{FF2B5EF4-FFF2-40B4-BE49-F238E27FC236}">
                <a16:creationId xmlns:a16="http://schemas.microsoft.com/office/drawing/2014/main" id="{FD1C0565-B587-4881-8C39-D3FBAD631B4C}"/>
              </a:ext>
            </a:extLst>
          </p:cNvPr>
          <p:cNvGraphicFramePr/>
          <p:nvPr>
            <p:extLst>
              <p:ext uri="{D42A27DB-BD31-4B8C-83A1-F6EECF244321}">
                <p14:modId xmlns:p14="http://schemas.microsoft.com/office/powerpoint/2010/main" val="3200606884"/>
              </p:ext>
            </p:extLst>
          </p:nvPr>
        </p:nvGraphicFramePr>
        <p:xfrm>
          <a:off x="1016032" y="3349854"/>
          <a:ext cx="10160032" cy="3017520"/>
        </p:xfrm>
        <a:graphic>
          <a:graphicData uri="http://schemas.openxmlformats.org/drawingml/2006/table">
            <a:tbl>
              <a:tblPr firstRow="1" bandRow="1"/>
              <a:tblGrid>
                <a:gridCol w="2540008">
                  <a:extLst>
                    <a:ext uri="{9D8B030D-6E8A-4147-A177-3AD203B41FA5}">
                      <a16:colId xmlns:a16="http://schemas.microsoft.com/office/drawing/2014/main" val="20000"/>
                    </a:ext>
                  </a:extLst>
                </a:gridCol>
                <a:gridCol w="2540008">
                  <a:extLst>
                    <a:ext uri="{9D8B030D-6E8A-4147-A177-3AD203B41FA5}">
                      <a16:colId xmlns:a16="http://schemas.microsoft.com/office/drawing/2014/main" val="20001"/>
                    </a:ext>
                  </a:extLst>
                </a:gridCol>
                <a:gridCol w="2540008">
                  <a:extLst>
                    <a:ext uri="{9D8B030D-6E8A-4147-A177-3AD203B41FA5}">
                      <a16:colId xmlns:a16="http://schemas.microsoft.com/office/drawing/2014/main" val="20002"/>
                    </a:ext>
                  </a:extLst>
                </a:gridCol>
                <a:gridCol w="2540008">
                  <a:extLst>
                    <a:ext uri="{9D8B030D-6E8A-4147-A177-3AD203B41FA5}">
                      <a16:colId xmlns:a16="http://schemas.microsoft.com/office/drawing/2014/main" val="20003"/>
                    </a:ext>
                  </a:extLst>
                </a:gridCol>
              </a:tblGrid>
              <a:tr h="328792">
                <a:tc>
                  <a:txBody>
                    <a:bodyPr/>
                    <a:lstStyle/>
                    <a:p>
                      <a:r>
                        <a:rPr sz="1600" b="1">
                          <a:solidFill>
                            <a:srgbClr val="FFFFFF"/>
                          </a:solidFill>
                          <a:latin typeface="Noto Sans SC"/>
                          <a:ea typeface="Noto Sans SC"/>
                          <a:cs typeface="Noto Sans SC"/>
                        </a:rPr>
                        <a:t>成员</a:t>
                      </a:r>
                    </a:p>
                  </a:txBody>
                  <a:tcPr>
                    <a:lnL w="9525">
                      <a:solidFill>
                        <a:srgbClr val="DCE1E8"/>
                      </a:solidFill>
                      <a:prstDash val="solid"/>
                    </a:lnL>
                    <a:lnR w="9525">
                      <a:solidFill>
                        <a:srgbClr val="DCE1E8"/>
                      </a:solidFill>
                      <a:prstDash val="solid"/>
                    </a:lnR>
                    <a:lnT w="9525">
                      <a:solidFill>
                        <a:srgbClr val="DCE1E8"/>
                      </a:solidFill>
                      <a:prstDash val="solid"/>
                    </a:lnT>
                    <a:lnB w="9525">
                      <a:solidFill>
                        <a:srgbClr val="DCE1E8"/>
                      </a:solidFill>
                      <a:prstDash val="solid"/>
                    </a:lnB>
                    <a:solidFill>
                      <a:srgbClr val="4472C4"/>
                    </a:solidFill>
                  </a:tcPr>
                </a:tc>
                <a:tc>
                  <a:txBody>
                    <a:bodyPr/>
                    <a:lstStyle/>
                    <a:p>
                      <a:r>
                        <a:rPr sz="1600" b="1">
                          <a:solidFill>
                            <a:srgbClr val="FFFFFF"/>
                          </a:solidFill>
                          <a:latin typeface="Noto Sans SC"/>
                          <a:ea typeface="Noto Sans SC"/>
                          <a:cs typeface="Noto Sans SC"/>
                        </a:rPr>
                        <a:t>第一轮</a:t>
                      </a:r>
                    </a:p>
                  </a:txBody>
                  <a:tcPr>
                    <a:lnL w="9525" cap="flat" cmpd="sng" algn="ctr">
                      <a:solidFill>
                        <a:srgbClr val="DCE1E8"/>
                      </a:solidFill>
                      <a:prstDash val="solid"/>
                      <a:round/>
                      <a:headEnd type="none" w="med" len="med"/>
                      <a:tailEnd type="none" w="med" len="med"/>
                    </a:lnL>
                    <a:lnR w="9525">
                      <a:solidFill>
                        <a:srgbClr val="DCE1E8"/>
                      </a:solidFill>
                      <a:prstDash val="solid"/>
                    </a:lnR>
                    <a:lnT w="9525">
                      <a:solidFill>
                        <a:srgbClr val="DCE1E8"/>
                      </a:solidFill>
                      <a:prstDash val="solid"/>
                    </a:lnT>
                    <a:lnB w="9525">
                      <a:solidFill>
                        <a:srgbClr val="DCE1E8"/>
                      </a:solidFill>
                      <a:prstDash val="solid"/>
                    </a:lnB>
                    <a:solidFill>
                      <a:srgbClr val="4472C4"/>
                    </a:solidFill>
                  </a:tcPr>
                </a:tc>
                <a:tc>
                  <a:txBody>
                    <a:bodyPr/>
                    <a:lstStyle/>
                    <a:p>
                      <a:r>
                        <a:rPr sz="1600" b="1">
                          <a:solidFill>
                            <a:srgbClr val="FFFFFF"/>
                          </a:solidFill>
                          <a:latin typeface="Noto Sans SC"/>
                          <a:ea typeface="Noto Sans SC"/>
                          <a:cs typeface="Noto Sans SC"/>
                        </a:rPr>
                        <a:t>第二轮</a:t>
                      </a:r>
                    </a:p>
                  </a:txBody>
                  <a:tcPr>
                    <a:lnL w="9525" cap="flat" cmpd="sng" algn="ctr">
                      <a:solidFill>
                        <a:srgbClr val="DCE1E8"/>
                      </a:solidFill>
                      <a:prstDash val="solid"/>
                      <a:round/>
                      <a:headEnd type="none" w="med" len="med"/>
                      <a:tailEnd type="none" w="med" len="med"/>
                    </a:lnL>
                    <a:lnR w="9525">
                      <a:solidFill>
                        <a:srgbClr val="DCE1E8"/>
                      </a:solidFill>
                      <a:prstDash val="solid"/>
                    </a:lnR>
                    <a:lnT w="9525">
                      <a:solidFill>
                        <a:srgbClr val="DCE1E8"/>
                      </a:solidFill>
                      <a:prstDash val="solid"/>
                    </a:lnT>
                    <a:lnB w="9525">
                      <a:solidFill>
                        <a:srgbClr val="DCE1E8"/>
                      </a:solidFill>
                      <a:prstDash val="solid"/>
                    </a:lnB>
                    <a:solidFill>
                      <a:srgbClr val="4472C4"/>
                    </a:solidFill>
                  </a:tcPr>
                </a:tc>
                <a:tc>
                  <a:txBody>
                    <a:bodyPr/>
                    <a:lstStyle/>
                    <a:p>
                      <a:r>
                        <a:rPr sz="1600" b="1">
                          <a:solidFill>
                            <a:srgbClr val="FFFFFF"/>
                          </a:solidFill>
                          <a:latin typeface="Noto Sans SC"/>
                          <a:ea typeface="Noto Sans SC"/>
                          <a:cs typeface="Noto Sans SC"/>
                        </a:rPr>
                        <a:t>第三轮</a:t>
                      </a:r>
                    </a:p>
                  </a:txBody>
                  <a:tcPr>
                    <a:lnL w="9525" cap="flat" cmpd="sng" algn="ctr">
                      <a:solidFill>
                        <a:srgbClr val="DCE1E8"/>
                      </a:solidFill>
                      <a:prstDash val="solid"/>
                      <a:round/>
                      <a:headEnd type="none" w="med" len="med"/>
                      <a:tailEnd type="none" w="med" len="med"/>
                    </a:lnL>
                    <a:lnR w="9525">
                      <a:solidFill>
                        <a:srgbClr val="DCE1E8"/>
                      </a:solidFill>
                      <a:prstDash val="solid"/>
                    </a:lnR>
                    <a:lnT w="9525">
                      <a:solidFill>
                        <a:srgbClr val="DCE1E8"/>
                      </a:solidFill>
                      <a:prstDash val="solid"/>
                    </a:lnT>
                    <a:lnB w="9525">
                      <a:solidFill>
                        <a:srgbClr val="DCE1E8"/>
                      </a:solidFill>
                      <a:prstDash val="solid"/>
                    </a:lnB>
                    <a:solidFill>
                      <a:srgbClr val="4472C4"/>
                    </a:solidFill>
                  </a:tcPr>
                </a:tc>
                <a:extLst>
                  <a:ext uri="{0D108BD9-81ED-4DB2-BD59-A6C34878D82A}">
                    <a16:rowId xmlns:a16="http://schemas.microsoft.com/office/drawing/2014/main" val="10000"/>
                  </a:ext>
                </a:extLst>
              </a:tr>
              <a:tr h="328792">
                <a:tc>
                  <a:txBody>
                    <a:bodyPr/>
                    <a:lstStyle/>
                    <a:p>
                      <a:r>
                        <a:rPr sz="1600" b="0">
                          <a:solidFill>
                            <a:srgbClr val="2B2F36"/>
                          </a:solidFill>
                          <a:latin typeface="Noto Sans SC"/>
                          <a:ea typeface="Noto Sans SC"/>
                          <a:cs typeface="Noto Sans SC"/>
                        </a:rPr>
                        <a:t>许祖嘉</a:t>
                      </a:r>
                    </a:p>
                  </a:txBody>
                  <a:tcPr>
                    <a:lnL w="9525">
                      <a:solidFill>
                        <a:srgbClr val="DCE1E8"/>
                      </a:solidFill>
                      <a:prstDash val="soli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600" b="0">
                          <a:solidFill>
                            <a:srgbClr val="2B2F36"/>
                          </a:solidFill>
                          <a:latin typeface="Noto Sans SC"/>
                          <a:ea typeface="Noto Sans SC"/>
                          <a:cs typeface="Noto Sans SC"/>
                        </a:rPr>
                        <a:t>2</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600" b="0">
                          <a:solidFill>
                            <a:srgbClr val="2B2F36"/>
                          </a:solidFill>
                          <a:latin typeface="Noto Sans SC"/>
                          <a:ea typeface="Noto Sans SC"/>
                          <a:cs typeface="Noto Sans SC"/>
                        </a:rPr>
                        <a:t>3</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600" b="0">
                          <a:solidFill>
                            <a:srgbClr val="2B2F36"/>
                          </a:solidFill>
                          <a:latin typeface="Noto Sans SC"/>
                          <a:ea typeface="Noto Sans SC"/>
                          <a:cs typeface="Noto Sans SC"/>
                        </a:rPr>
                        <a:t>8</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extLst>
                  <a:ext uri="{0D108BD9-81ED-4DB2-BD59-A6C34878D82A}">
                    <a16:rowId xmlns:a16="http://schemas.microsoft.com/office/drawing/2014/main" val="10001"/>
                  </a:ext>
                </a:extLst>
              </a:tr>
              <a:tr h="328792">
                <a:tc>
                  <a:txBody>
                    <a:bodyPr/>
                    <a:lstStyle/>
                    <a:p>
                      <a:r>
                        <a:rPr sz="1600" b="0">
                          <a:solidFill>
                            <a:srgbClr val="2B2F36"/>
                          </a:solidFill>
                          <a:latin typeface="Noto Sans SC"/>
                          <a:ea typeface="Noto Sans SC"/>
                          <a:cs typeface="Noto Sans SC"/>
                        </a:rPr>
                        <a:t>李健博</a:t>
                      </a:r>
                    </a:p>
                  </a:txBody>
                  <a:tcPr>
                    <a:lnL w="9525">
                      <a:solidFill>
                        <a:srgbClr val="DCE1E8"/>
                      </a:solidFill>
                      <a:prstDash val="soli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600" b="0">
                          <a:solidFill>
                            <a:srgbClr val="2B2F36"/>
                          </a:solidFill>
                          <a:latin typeface="Noto Sans SC"/>
                          <a:ea typeface="Noto Sans SC"/>
                          <a:cs typeface="Noto Sans SC"/>
                        </a:rPr>
                        <a:t>2</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600" b="0">
                          <a:solidFill>
                            <a:srgbClr val="2B2F36"/>
                          </a:solidFill>
                          <a:latin typeface="Noto Sans SC"/>
                          <a:ea typeface="Noto Sans SC"/>
                          <a:cs typeface="Noto Sans SC"/>
                        </a:rPr>
                        <a:t>3</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600" b="0">
                          <a:solidFill>
                            <a:srgbClr val="2B2F36"/>
                          </a:solidFill>
                          <a:latin typeface="Noto Sans SC"/>
                          <a:ea typeface="Noto Sans SC"/>
                          <a:cs typeface="Noto Sans SC"/>
                        </a:rPr>
                        <a:t>8</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extLst>
                  <a:ext uri="{0D108BD9-81ED-4DB2-BD59-A6C34878D82A}">
                    <a16:rowId xmlns:a16="http://schemas.microsoft.com/office/drawing/2014/main" val="10002"/>
                  </a:ext>
                </a:extLst>
              </a:tr>
              <a:tr h="328792">
                <a:tc>
                  <a:txBody>
                    <a:bodyPr/>
                    <a:lstStyle/>
                    <a:p>
                      <a:r>
                        <a:rPr sz="1600" b="0">
                          <a:solidFill>
                            <a:srgbClr val="2B2F36"/>
                          </a:solidFill>
                          <a:latin typeface="Noto Sans SC"/>
                          <a:ea typeface="Noto Sans SC"/>
                          <a:cs typeface="Noto Sans SC"/>
                        </a:rPr>
                        <a:t>常诚</a:t>
                      </a:r>
                    </a:p>
                  </a:txBody>
                  <a:tcPr>
                    <a:lnL w="9525">
                      <a:solidFill>
                        <a:srgbClr val="DCE1E8"/>
                      </a:solidFill>
                      <a:prstDash val="soli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600" b="0">
                          <a:solidFill>
                            <a:srgbClr val="2B2F36"/>
                          </a:solidFill>
                          <a:latin typeface="Noto Sans SC"/>
                          <a:ea typeface="Noto Sans SC"/>
                          <a:cs typeface="Noto Sans SC"/>
                        </a:rPr>
                        <a:t>3</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600" b="0">
                          <a:solidFill>
                            <a:srgbClr val="2B2F36"/>
                          </a:solidFill>
                          <a:latin typeface="Noto Sans SC"/>
                          <a:ea typeface="Noto Sans SC"/>
                          <a:cs typeface="Noto Sans SC"/>
                        </a:rPr>
                        <a:t>5</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600" b="0">
                          <a:solidFill>
                            <a:srgbClr val="2B2F36"/>
                          </a:solidFill>
                          <a:latin typeface="Noto Sans SC"/>
                          <a:ea typeface="Noto Sans SC"/>
                          <a:cs typeface="Noto Sans SC"/>
                        </a:rPr>
                        <a:t>8</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extLst>
                  <a:ext uri="{0D108BD9-81ED-4DB2-BD59-A6C34878D82A}">
                    <a16:rowId xmlns:a16="http://schemas.microsoft.com/office/drawing/2014/main" val="10003"/>
                  </a:ext>
                </a:extLst>
              </a:tr>
              <a:tr h="328792">
                <a:tc>
                  <a:txBody>
                    <a:bodyPr/>
                    <a:lstStyle/>
                    <a:p>
                      <a:r>
                        <a:rPr sz="1600" b="0">
                          <a:solidFill>
                            <a:srgbClr val="2B2F36"/>
                          </a:solidFill>
                          <a:latin typeface="Noto Sans SC"/>
                          <a:ea typeface="Noto Sans SC"/>
                          <a:cs typeface="Noto Sans SC"/>
                        </a:rPr>
                        <a:t>刘子轩</a:t>
                      </a:r>
                    </a:p>
                  </a:txBody>
                  <a:tcPr>
                    <a:lnL w="9525">
                      <a:solidFill>
                        <a:srgbClr val="DCE1E8"/>
                      </a:solidFill>
                      <a:prstDash val="soli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600" b="0" dirty="0">
                          <a:solidFill>
                            <a:srgbClr val="2B2F36"/>
                          </a:solidFill>
                          <a:latin typeface="Noto Sans SC"/>
                          <a:ea typeface="Noto Sans SC"/>
                          <a:cs typeface="Noto Sans SC"/>
                        </a:rPr>
                        <a:t>5</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600" b="0">
                          <a:solidFill>
                            <a:srgbClr val="2B2F36"/>
                          </a:solidFill>
                          <a:latin typeface="Noto Sans SC"/>
                          <a:ea typeface="Noto Sans SC"/>
                          <a:cs typeface="Noto Sans SC"/>
                        </a:rPr>
                        <a:t>5</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600" b="0">
                          <a:solidFill>
                            <a:srgbClr val="2B2F36"/>
                          </a:solidFill>
                          <a:latin typeface="Noto Sans SC"/>
                          <a:ea typeface="Noto Sans SC"/>
                          <a:cs typeface="Noto Sans SC"/>
                        </a:rPr>
                        <a:t>8</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extLst>
                  <a:ext uri="{0D108BD9-81ED-4DB2-BD59-A6C34878D82A}">
                    <a16:rowId xmlns:a16="http://schemas.microsoft.com/office/drawing/2014/main" val="10004"/>
                  </a:ext>
                </a:extLst>
              </a:tr>
              <a:tr h="328792">
                <a:tc>
                  <a:txBody>
                    <a:bodyPr/>
                    <a:lstStyle/>
                    <a:p>
                      <a:r>
                        <a:rPr sz="1600" b="0">
                          <a:solidFill>
                            <a:srgbClr val="2B2F36"/>
                          </a:solidFill>
                          <a:latin typeface="Noto Sans SC"/>
                          <a:ea typeface="Noto Sans SC"/>
                          <a:cs typeface="Noto Sans SC"/>
                        </a:rPr>
                        <a:t>侯永森</a:t>
                      </a:r>
                    </a:p>
                  </a:txBody>
                  <a:tcPr>
                    <a:lnL w="9525">
                      <a:solidFill>
                        <a:srgbClr val="DCE1E8"/>
                      </a:solidFill>
                      <a:prstDash val="soli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600" b="0" dirty="0">
                          <a:solidFill>
                            <a:srgbClr val="2B2F36"/>
                          </a:solidFill>
                          <a:latin typeface="Noto Sans SC"/>
                          <a:ea typeface="Noto Sans SC"/>
                          <a:cs typeface="Noto Sans SC"/>
                        </a:rPr>
                        <a:t>3</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600" b="0">
                          <a:solidFill>
                            <a:srgbClr val="2B2F36"/>
                          </a:solidFill>
                          <a:latin typeface="Noto Sans SC"/>
                          <a:ea typeface="Noto Sans SC"/>
                          <a:cs typeface="Noto Sans SC"/>
                        </a:rPr>
                        <a:t>5</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600" b="0">
                          <a:solidFill>
                            <a:srgbClr val="2B2F36"/>
                          </a:solidFill>
                          <a:latin typeface="Noto Sans SC"/>
                          <a:ea typeface="Noto Sans SC"/>
                          <a:cs typeface="Noto Sans SC"/>
                        </a:rPr>
                        <a:t>8</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extLst>
                  <a:ext uri="{0D108BD9-81ED-4DB2-BD59-A6C34878D82A}">
                    <a16:rowId xmlns:a16="http://schemas.microsoft.com/office/drawing/2014/main" val="10005"/>
                  </a:ext>
                </a:extLst>
              </a:tr>
              <a:tr h="328792">
                <a:tc>
                  <a:txBody>
                    <a:bodyPr/>
                    <a:lstStyle/>
                    <a:p>
                      <a:r>
                        <a:rPr sz="1600" b="0">
                          <a:solidFill>
                            <a:srgbClr val="2B2F36"/>
                          </a:solidFill>
                          <a:latin typeface="Noto Sans SC"/>
                          <a:ea typeface="Noto Sans SC"/>
                          <a:cs typeface="Noto Sans SC"/>
                        </a:rPr>
                        <a:t>庞佳泽</a:t>
                      </a:r>
                    </a:p>
                  </a:txBody>
                  <a:tcPr>
                    <a:lnL w="9525">
                      <a:solidFill>
                        <a:srgbClr val="DCE1E8"/>
                      </a:solidFill>
                      <a:prstDash val="soli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600" b="0">
                          <a:solidFill>
                            <a:srgbClr val="2B2F36"/>
                          </a:solidFill>
                          <a:latin typeface="Noto Sans SC"/>
                          <a:ea typeface="Noto Sans SC"/>
                          <a:cs typeface="Noto Sans SC"/>
                        </a:rPr>
                        <a:t>2</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600" b="0">
                          <a:solidFill>
                            <a:srgbClr val="2B2F36"/>
                          </a:solidFill>
                          <a:latin typeface="Noto Sans SC"/>
                          <a:ea typeface="Noto Sans SC"/>
                          <a:cs typeface="Noto Sans SC"/>
                        </a:rPr>
                        <a:t>3</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600" b="0">
                          <a:solidFill>
                            <a:srgbClr val="2B2F36"/>
                          </a:solidFill>
                          <a:latin typeface="Noto Sans SC"/>
                          <a:ea typeface="Noto Sans SC"/>
                          <a:cs typeface="Noto Sans SC"/>
                        </a:rPr>
                        <a:t>8</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extLst>
                  <a:ext uri="{0D108BD9-81ED-4DB2-BD59-A6C34878D82A}">
                    <a16:rowId xmlns:a16="http://schemas.microsoft.com/office/drawing/2014/main" val="10006"/>
                  </a:ext>
                </a:extLst>
              </a:tr>
              <a:tr h="328792">
                <a:tc>
                  <a:txBody>
                    <a:bodyPr/>
                    <a:lstStyle/>
                    <a:p>
                      <a:r>
                        <a:rPr sz="1600" b="0">
                          <a:solidFill>
                            <a:srgbClr val="2B2F36"/>
                          </a:solidFill>
                          <a:latin typeface="Noto Sans SC"/>
                          <a:ea typeface="Noto Sans SC"/>
                          <a:cs typeface="Noto Sans SC"/>
                        </a:rPr>
                        <a:t>余智皓</a:t>
                      </a:r>
                    </a:p>
                  </a:txBody>
                  <a:tcPr>
                    <a:lnL w="9525">
                      <a:solidFill>
                        <a:srgbClr val="DCE1E8"/>
                      </a:solidFill>
                      <a:prstDash val="soli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600" b="0">
                          <a:solidFill>
                            <a:srgbClr val="2B2F36"/>
                          </a:solidFill>
                          <a:latin typeface="Noto Sans SC"/>
                          <a:ea typeface="Noto Sans SC"/>
                          <a:cs typeface="Noto Sans SC"/>
                        </a:rPr>
                        <a:t>3</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600" b="0">
                          <a:solidFill>
                            <a:srgbClr val="2B2F36"/>
                          </a:solidFill>
                          <a:latin typeface="Noto Sans SC"/>
                          <a:ea typeface="Noto Sans SC"/>
                          <a:cs typeface="Noto Sans SC"/>
                        </a:rPr>
                        <a:t>3</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600" b="0">
                          <a:solidFill>
                            <a:srgbClr val="2B2F36"/>
                          </a:solidFill>
                          <a:latin typeface="Noto Sans SC"/>
                          <a:ea typeface="Noto Sans SC"/>
                          <a:cs typeface="Noto Sans SC"/>
                        </a:rPr>
                        <a:t>8</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extLst>
                  <a:ext uri="{0D108BD9-81ED-4DB2-BD59-A6C34878D82A}">
                    <a16:rowId xmlns:a16="http://schemas.microsoft.com/office/drawing/2014/main" val="10007"/>
                  </a:ext>
                </a:extLst>
              </a:tr>
              <a:tr h="328792">
                <a:tc>
                  <a:txBody>
                    <a:bodyPr/>
                    <a:lstStyle/>
                    <a:p>
                      <a:r>
                        <a:rPr sz="1600" b="0">
                          <a:solidFill>
                            <a:srgbClr val="2B2F36"/>
                          </a:solidFill>
                          <a:latin typeface="Noto Sans SC"/>
                          <a:ea typeface="Noto Sans SC"/>
                          <a:cs typeface="Noto Sans SC"/>
                        </a:rPr>
                        <a:t>严翊航</a:t>
                      </a:r>
                    </a:p>
                  </a:txBody>
                  <a:tcPr>
                    <a:lnL w="9525">
                      <a:solidFill>
                        <a:srgbClr val="DCE1E8"/>
                      </a:solidFill>
                      <a:prstDash val="soli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600" b="0" dirty="0">
                          <a:solidFill>
                            <a:srgbClr val="2B2F36"/>
                          </a:solidFill>
                          <a:latin typeface="Noto Sans SC"/>
                          <a:ea typeface="Noto Sans SC"/>
                          <a:cs typeface="Noto Sans SC"/>
                        </a:rPr>
                        <a:t>2</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600" b="0">
                          <a:solidFill>
                            <a:srgbClr val="2B2F36"/>
                          </a:solidFill>
                          <a:latin typeface="Noto Sans SC"/>
                          <a:ea typeface="Noto Sans SC"/>
                          <a:cs typeface="Noto Sans SC"/>
                        </a:rPr>
                        <a:t>3</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600" b="0" dirty="0">
                          <a:solidFill>
                            <a:srgbClr val="2B2F36"/>
                          </a:solidFill>
                          <a:latin typeface="Noto Sans SC"/>
                          <a:ea typeface="Noto Sans SC"/>
                          <a:cs typeface="Noto Sans SC"/>
                        </a:rPr>
                        <a:t>8</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774478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5F21D3B1-FF53-49F6-9003-F497AF8934B3}"/>
              </a:ext>
            </a:extLst>
          </p:cNvPr>
          <p:cNvSpPr>
            <a:spLocks noGrp="1"/>
          </p:cNvSpPr>
          <p:nvPr/>
        </p:nvSpPr>
        <p:spPr>
          <a:xfrm>
            <a:off x="1016032" y="711232"/>
            <a:ext cx="7620000" cy="266700"/>
          </a:xfrm>
          <a:prstGeom prst="rect">
            <a:avLst/>
          </a:prstGeom>
          <a:noFill/>
          <a:ln w="0">
            <a:noFill/>
            <a:prstDash val="solid"/>
          </a:ln>
        </p:spPr>
        <p:txBody>
          <a:bodyPr/>
          <a:lstStyle>
            <a:defPPr algn="l">
              <a:defRPr sz="1300" b="1">
                <a:solidFill>
                  <a:srgbClr val="ED7D31"/>
                </a:solidFill>
                <a:latin typeface="Noto Sans SC"/>
                <a:ea typeface="Noto Sans SC"/>
                <a:cs typeface="Noto Sans SC"/>
              </a:defRPr>
            </a:defPPr>
          </a:lstStyle>
          <a:p>
            <a:pPr algn="l">
              <a:defRPr sz="1300" b="1">
                <a:solidFill>
                  <a:srgbClr val="ED7D31"/>
                </a:solidFill>
                <a:latin typeface="Noto Sans SC"/>
                <a:ea typeface="Noto Sans SC"/>
                <a:cs typeface="Noto Sans SC"/>
              </a:defRPr>
            </a:pPr>
            <a:r>
              <a:rPr sz="1300" b="1">
                <a:solidFill>
                  <a:srgbClr val="ED7D31"/>
                </a:solidFill>
                <a:latin typeface="Noto Sans SC"/>
                <a:ea typeface="Noto Sans SC"/>
                <a:cs typeface="Noto Sans SC"/>
              </a:rPr>
              <a:t>TASK 10 · 轮次讨论</a:t>
            </a:r>
          </a:p>
        </p:txBody>
      </p:sp>
      <p:sp>
        <p:nvSpPr>
          <p:cNvPr id="2" name="矩形 1">
            <a:extLst>
              <a:ext uri="{FF2B5EF4-FFF2-40B4-BE49-F238E27FC236}">
                <a16:creationId xmlns:a16="http://schemas.microsoft.com/office/drawing/2014/main" id="{C7A6576D-6743-4D62-AB27-C6B2A570E2D1}"/>
              </a:ext>
            </a:extLst>
          </p:cNvPr>
          <p:cNvSpPr>
            <a:spLocks noGrp="1"/>
          </p:cNvSpPr>
          <p:nvPr/>
        </p:nvSpPr>
        <p:spPr>
          <a:xfrm>
            <a:off x="1016032" y="1092232"/>
            <a:ext cx="10160032" cy="590550"/>
          </a:xfrm>
          <a:prstGeom prst="rect">
            <a:avLst/>
          </a:prstGeom>
          <a:noFill/>
          <a:ln w="0">
            <a:noFill/>
            <a:prstDash val="solid"/>
          </a:ln>
        </p:spPr>
        <p:txBody>
          <a:bodyPr/>
          <a:lstStyle>
            <a:defPPr algn="l">
              <a:defRPr sz="2550" b="1">
                <a:solidFill>
                  <a:srgbClr val="2B2F36"/>
                </a:solidFill>
                <a:latin typeface="Noto Sans SC"/>
                <a:ea typeface="Noto Sans SC"/>
                <a:cs typeface="Noto Sans SC"/>
              </a:defRPr>
            </a:defPPr>
          </a:lstStyle>
          <a:p>
            <a:pPr algn="l">
              <a:defRPr sz="2550" b="1">
                <a:solidFill>
                  <a:srgbClr val="2B2F36"/>
                </a:solidFill>
                <a:latin typeface="Noto Sans SC"/>
                <a:ea typeface="Noto Sans SC"/>
                <a:cs typeface="Noto Sans SC"/>
              </a:defRPr>
            </a:pPr>
            <a:r>
              <a:rPr sz="2550" b="1">
                <a:solidFill>
                  <a:srgbClr val="2B2F36"/>
                </a:solidFill>
                <a:latin typeface="Noto Sans SC"/>
                <a:ea typeface="Noto Sans SC"/>
                <a:cs typeface="Noto Sans SC"/>
              </a:rPr>
              <a:t>任务10 轮次讨论与最终故事点</a:t>
            </a:r>
          </a:p>
        </p:txBody>
      </p:sp>
      <p:sp>
        <p:nvSpPr>
          <p:cNvPr id="3" name="矩形 2">
            <a:extLst>
              <a:ext uri="{FF2B5EF4-FFF2-40B4-BE49-F238E27FC236}">
                <a16:creationId xmlns:a16="http://schemas.microsoft.com/office/drawing/2014/main" id="{1AB45725-9F63-433A-B81D-4A837706BE74}"/>
              </a:ext>
            </a:extLst>
          </p:cNvPr>
          <p:cNvSpPr>
            <a:spLocks noGrp="1"/>
          </p:cNvSpPr>
          <p:nvPr/>
        </p:nvSpPr>
        <p:spPr>
          <a:xfrm>
            <a:off x="1016032" y="2025682"/>
            <a:ext cx="10160032" cy="12668"/>
          </a:xfrm>
          <a:prstGeom prst="rect">
            <a:avLst/>
          </a:prstGeom>
          <a:solidFill>
            <a:srgbClr val="DCE1E8"/>
          </a:solidFill>
          <a:ln w="0">
            <a:solidFill>
              <a:srgbClr val="DCE1E8"/>
            </a:solidFill>
            <a:prstDash val="solid"/>
          </a:ln>
        </p:spPr>
      </p:sp>
      <p:sp>
        <p:nvSpPr>
          <p:cNvPr id="4" name="矩形 3">
            <a:extLst>
              <a:ext uri="{FF2B5EF4-FFF2-40B4-BE49-F238E27FC236}">
                <a16:creationId xmlns:a16="http://schemas.microsoft.com/office/drawing/2014/main" id="{BE66AAE0-E1D2-4422-948A-4F62C7082252}"/>
              </a:ext>
            </a:extLst>
          </p:cNvPr>
          <p:cNvSpPr>
            <a:spLocks noGrp="1"/>
          </p:cNvSpPr>
          <p:nvPr/>
        </p:nvSpPr>
        <p:spPr>
          <a:xfrm>
            <a:off x="1016032" y="6350032"/>
            <a:ext cx="6667500" cy="266700"/>
          </a:xfrm>
          <a:prstGeom prst="rect">
            <a:avLst/>
          </a:prstGeom>
          <a:noFill/>
          <a:ln w="0">
            <a:noFill/>
            <a:prstDash val="solid"/>
          </a:ln>
        </p:spPr>
        <p:txBody>
          <a:bodyPr/>
          <a:lstStyle>
            <a:defPPr algn="l">
              <a:defRPr sz="1100" b="0">
                <a:solidFill>
                  <a:srgbClr val="A0A8B4"/>
                </a:solidFill>
                <a:latin typeface="Noto Sans SC"/>
                <a:ea typeface="Noto Sans SC"/>
                <a:cs typeface="Noto Sans SC"/>
              </a:defRPr>
            </a:defPPr>
          </a:lstStyle>
          <a:p>
            <a:pPr algn="l">
              <a:defRPr sz="1100" b="0">
                <a:solidFill>
                  <a:srgbClr val="A0A8B4"/>
                </a:solidFill>
                <a:latin typeface="Noto Sans SC"/>
                <a:ea typeface="Noto Sans SC"/>
                <a:cs typeface="Noto Sans SC"/>
              </a:defRPr>
            </a:pPr>
            <a:r>
              <a:rPr sz="1100" b="0">
                <a:solidFill>
                  <a:srgbClr val="A0A8B4"/>
                </a:solidFill>
                <a:latin typeface="Noto Sans SC"/>
                <a:ea typeface="Noto Sans SC"/>
                <a:cs typeface="Noto Sans SC"/>
              </a:rPr>
              <a:t>SimpleCADforDSH ｜ 讨论四 · 规划扑克估算</a:t>
            </a:r>
          </a:p>
        </p:txBody>
      </p:sp>
      <p:sp>
        <p:nvSpPr>
          <p:cNvPr id="6" name="矩形: 圆角 5">
            <a:extLst>
              <a:ext uri="{FF2B5EF4-FFF2-40B4-BE49-F238E27FC236}">
                <a16:creationId xmlns:a16="http://schemas.microsoft.com/office/drawing/2014/main" id="{9B6881E0-E8FF-4C18-ABFF-8E83C12D3656}"/>
              </a:ext>
            </a:extLst>
          </p:cNvPr>
          <p:cNvSpPr>
            <a:spLocks noGrp="1"/>
          </p:cNvSpPr>
          <p:nvPr/>
        </p:nvSpPr>
        <p:spPr>
          <a:xfrm>
            <a:off x="1016032" y="2324100"/>
            <a:ext cx="4857750" cy="1409700"/>
          </a:xfrm>
          <a:prstGeom prst="roundRect">
            <a:avLst>
              <a:gd name="adj" fmla="val 5405"/>
            </a:avLst>
          </a:prstGeom>
          <a:solidFill>
            <a:srgbClr val="E8EEF8"/>
          </a:solidFill>
          <a:ln w="0">
            <a:solidFill>
              <a:srgbClr val="4472C4"/>
            </a:solidFill>
            <a:prstDash val="solid"/>
          </a:ln>
        </p:spPr>
        <p:txBody>
          <a:bodyPr/>
          <a:lstStyle>
            <a:defPPr algn="l">
              <a:defRPr sz="1238" b="0">
                <a:solidFill>
                  <a:srgbClr val="2B2F36"/>
                </a:solidFill>
                <a:latin typeface="Noto Sans SC"/>
                <a:ea typeface="Noto Sans SC"/>
                <a:cs typeface="Noto Sans SC"/>
              </a:defRPr>
            </a:defPPr>
          </a:lstStyle>
          <a:p>
            <a:pPr algn="l">
              <a:defRPr sz="1238" b="0">
                <a:solidFill>
                  <a:srgbClr val="2B2F36"/>
                </a:solidFill>
                <a:latin typeface="Noto Sans SC"/>
                <a:ea typeface="Noto Sans SC"/>
                <a:cs typeface="Noto Sans SC"/>
              </a:defRPr>
            </a:pPr>
            <a:r>
              <a:rPr sz="1600" b="0" dirty="0" err="1">
                <a:solidFill>
                  <a:srgbClr val="2B2F36"/>
                </a:solidFill>
                <a:latin typeface="Noto Sans SC"/>
                <a:ea typeface="Noto Sans SC"/>
                <a:cs typeface="Noto Sans SC"/>
              </a:rPr>
              <a:t>第一轮</a:t>
            </a:r>
            <a:endParaRPr sz="1600" b="0" dirty="0">
              <a:solidFill>
                <a:srgbClr val="2B2F36"/>
              </a:solidFill>
              <a:latin typeface="Noto Sans SC"/>
              <a:ea typeface="Noto Sans SC"/>
              <a:cs typeface="Noto Sans SC"/>
            </a:endParaRPr>
          </a:p>
          <a:p>
            <a:pPr algn="l">
              <a:defRPr sz="1238" b="0">
                <a:solidFill>
                  <a:srgbClr val="2B2F36"/>
                </a:solidFill>
                <a:latin typeface="Noto Sans SC"/>
                <a:ea typeface="Noto Sans SC"/>
                <a:cs typeface="Noto Sans SC"/>
              </a:defRPr>
            </a:pPr>
            <a:r>
              <a:rPr sz="1600" b="0" dirty="0" err="1">
                <a:solidFill>
                  <a:srgbClr val="2B2F36"/>
                </a:solidFill>
                <a:latin typeface="Noto Sans SC"/>
                <a:ea typeface="Noto Sans SC"/>
                <a:cs typeface="Noto Sans SC"/>
              </a:rPr>
              <a:t>最高</a:t>
            </a:r>
            <a:r>
              <a:rPr sz="1600" b="0" dirty="0">
                <a:solidFill>
                  <a:srgbClr val="2B2F36"/>
                </a:solidFill>
                <a:latin typeface="Noto Sans SC"/>
                <a:ea typeface="Noto Sans SC"/>
                <a:cs typeface="Noto Sans SC"/>
              </a:rPr>
              <a:t> 5 </a:t>
            </a:r>
            <a:r>
              <a:rPr sz="1600" b="0" dirty="0" err="1">
                <a:solidFill>
                  <a:srgbClr val="2B2F36"/>
                </a:solidFill>
                <a:latin typeface="Noto Sans SC"/>
                <a:ea typeface="Noto Sans SC"/>
                <a:cs typeface="Noto Sans SC"/>
              </a:rPr>
              <a:t>点，最低</a:t>
            </a:r>
            <a:r>
              <a:rPr sz="1600" b="0" dirty="0">
                <a:solidFill>
                  <a:srgbClr val="2B2F36"/>
                </a:solidFill>
                <a:latin typeface="Noto Sans SC"/>
                <a:ea typeface="Noto Sans SC"/>
                <a:cs typeface="Noto Sans SC"/>
              </a:rPr>
              <a:t> 2 </a:t>
            </a:r>
            <a:r>
              <a:rPr sz="1600" b="0" dirty="0" err="1">
                <a:solidFill>
                  <a:srgbClr val="2B2F36"/>
                </a:solidFill>
                <a:latin typeface="Noto Sans SC"/>
                <a:ea typeface="Noto Sans SC"/>
                <a:cs typeface="Noto Sans SC"/>
              </a:rPr>
              <a:t>点。讨论关键词、尺寸条件、排序和名称差异下的召回，并处理空结果</a:t>
            </a:r>
            <a:r>
              <a:rPr sz="1600" b="0" dirty="0">
                <a:solidFill>
                  <a:srgbClr val="2B2F36"/>
                </a:solidFill>
                <a:latin typeface="Noto Sans SC"/>
                <a:ea typeface="Noto Sans SC"/>
                <a:cs typeface="Noto Sans SC"/>
              </a:rPr>
              <a:t>。</a:t>
            </a:r>
          </a:p>
        </p:txBody>
      </p:sp>
      <p:sp>
        <p:nvSpPr>
          <p:cNvPr id="7" name="矩形: 圆角 6">
            <a:extLst>
              <a:ext uri="{FF2B5EF4-FFF2-40B4-BE49-F238E27FC236}">
                <a16:creationId xmlns:a16="http://schemas.microsoft.com/office/drawing/2014/main" id="{7DF5EA0C-B025-441B-8CE2-6A7BDA6F93CA}"/>
              </a:ext>
            </a:extLst>
          </p:cNvPr>
          <p:cNvSpPr>
            <a:spLocks noGrp="1"/>
          </p:cNvSpPr>
          <p:nvPr/>
        </p:nvSpPr>
        <p:spPr>
          <a:xfrm>
            <a:off x="6318218" y="2324100"/>
            <a:ext cx="4857750" cy="1409700"/>
          </a:xfrm>
          <a:prstGeom prst="roundRect">
            <a:avLst>
              <a:gd name="adj" fmla="val 5405"/>
            </a:avLst>
          </a:prstGeom>
          <a:solidFill>
            <a:srgbClr val="FCEDE0"/>
          </a:solidFill>
          <a:ln w="0">
            <a:solidFill>
              <a:srgbClr val="ED7D31"/>
            </a:solidFill>
            <a:prstDash val="solid"/>
          </a:ln>
        </p:spPr>
        <p:txBody>
          <a:bodyPr/>
          <a:lstStyle>
            <a:defPPr algn="l">
              <a:defRPr sz="1238" b="0">
                <a:solidFill>
                  <a:srgbClr val="2B2F36"/>
                </a:solidFill>
                <a:latin typeface="Noto Sans SC"/>
                <a:ea typeface="Noto Sans SC"/>
                <a:cs typeface="Noto Sans SC"/>
              </a:defRPr>
            </a:defPPr>
          </a:lstStyle>
          <a:p>
            <a:pPr algn="l">
              <a:defRPr sz="1238" b="0">
                <a:solidFill>
                  <a:srgbClr val="2B2F36"/>
                </a:solidFill>
                <a:latin typeface="Noto Sans SC"/>
                <a:ea typeface="Noto Sans SC"/>
                <a:cs typeface="Noto Sans SC"/>
              </a:defRPr>
            </a:pPr>
            <a:r>
              <a:rPr sz="1600" b="0" dirty="0" err="1">
                <a:solidFill>
                  <a:srgbClr val="2B2F36"/>
                </a:solidFill>
                <a:latin typeface="Noto Sans SC"/>
                <a:ea typeface="Noto Sans SC"/>
                <a:cs typeface="Noto Sans SC"/>
              </a:rPr>
              <a:t>第二轮</a:t>
            </a:r>
            <a:endParaRPr sz="1600" b="0" dirty="0">
              <a:solidFill>
                <a:srgbClr val="2B2F36"/>
              </a:solidFill>
              <a:latin typeface="Noto Sans SC"/>
              <a:ea typeface="Noto Sans SC"/>
              <a:cs typeface="Noto Sans SC"/>
            </a:endParaRPr>
          </a:p>
          <a:p>
            <a:pPr algn="l">
              <a:defRPr sz="1238" b="0">
                <a:solidFill>
                  <a:srgbClr val="2B2F36"/>
                </a:solidFill>
                <a:latin typeface="Noto Sans SC"/>
                <a:ea typeface="Noto Sans SC"/>
                <a:cs typeface="Noto Sans SC"/>
              </a:defRPr>
            </a:pPr>
            <a:r>
              <a:rPr sz="1600" b="0" dirty="0" err="1">
                <a:solidFill>
                  <a:srgbClr val="2B2F36"/>
                </a:solidFill>
                <a:latin typeface="Noto Sans SC"/>
                <a:ea typeface="Noto Sans SC"/>
                <a:cs typeface="Noto Sans SC"/>
              </a:rPr>
              <a:t>最高</a:t>
            </a:r>
            <a:r>
              <a:rPr sz="1600" b="0" dirty="0">
                <a:solidFill>
                  <a:srgbClr val="2B2F36"/>
                </a:solidFill>
                <a:latin typeface="Noto Sans SC"/>
                <a:ea typeface="Noto Sans SC"/>
                <a:cs typeface="Noto Sans SC"/>
              </a:rPr>
              <a:t> 5 </a:t>
            </a:r>
            <a:r>
              <a:rPr sz="1600" b="0" dirty="0" err="1">
                <a:solidFill>
                  <a:srgbClr val="2B2F36"/>
                </a:solidFill>
                <a:latin typeface="Noto Sans SC"/>
                <a:ea typeface="Noto Sans SC"/>
                <a:cs typeface="Noto Sans SC"/>
              </a:rPr>
              <a:t>点，最低</a:t>
            </a:r>
            <a:r>
              <a:rPr sz="1600" b="0" dirty="0">
                <a:solidFill>
                  <a:srgbClr val="2B2F36"/>
                </a:solidFill>
                <a:latin typeface="Noto Sans SC"/>
                <a:ea typeface="Noto Sans SC"/>
                <a:cs typeface="Noto Sans SC"/>
              </a:rPr>
              <a:t> 3 </a:t>
            </a:r>
            <a:r>
              <a:rPr sz="1600" b="0" dirty="0" err="1">
                <a:solidFill>
                  <a:srgbClr val="2B2F36"/>
                </a:solidFill>
                <a:latin typeface="Noto Sans SC"/>
                <a:ea typeface="Noto Sans SC"/>
                <a:cs typeface="Noto Sans SC"/>
              </a:rPr>
              <a:t>点。补充名称和标签差异下的召回验证，以及尺寸与孔数对排序的影响</a:t>
            </a:r>
            <a:r>
              <a:rPr sz="1600" b="0" dirty="0">
                <a:solidFill>
                  <a:srgbClr val="2B2F36"/>
                </a:solidFill>
                <a:latin typeface="Noto Sans SC"/>
                <a:ea typeface="Noto Sans SC"/>
                <a:cs typeface="Noto Sans SC"/>
              </a:rPr>
              <a:t>。</a:t>
            </a:r>
          </a:p>
        </p:txBody>
      </p:sp>
      <p:sp>
        <p:nvSpPr>
          <p:cNvPr id="8" name="矩形 7">
            <a:extLst>
              <a:ext uri="{FF2B5EF4-FFF2-40B4-BE49-F238E27FC236}">
                <a16:creationId xmlns:a16="http://schemas.microsoft.com/office/drawing/2014/main" id="{232A86B3-8D3C-4316-AFCC-2B3B5AEE763C}"/>
              </a:ext>
            </a:extLst>
          </p:cNvPr>
          <p:cNvSpPr>
            <a:spLocks noGrp="1"/>
          </p:cNvSpPr>
          <p:nvPr/>
        </p:nvSpPr>
        <p:spPr>
          <a:xfrm>
            <a:off x="1016032" y="4267200"/>
            <a:ext cx="2857500" cy="285750"/>
          </a:xfrm>
          <a:prstGeom prst="rect">
            <a:avLst/>
          </a:prstGeom>
          <a:noFill/>
          <a:ln w="0">
            <a:noFill/>
            <a:prstDash val="solid"/>
          </a:ln>
        </p:spPr>
        <p:txBody>
          <a:bodyPr/>
          <a:lstStyle>
            <a:defPPr algn="l">
              <a:defRPr sz="1425" b="1">
                <a:solidFill>
                  <a:srgbClr val="4472C4"/>
                </a:solidFill>
                <a:latin typeface="Noto Sans SC"/>
                <a:ea typeface="Noto Sans SC"/>
                <a:cs typeface="Noto Sans SC"/>
              </a:defRPr>
            </a:defPPr>
          </a:lstStyle>
          <a:p>
            <a:pPr algn="l">
              <a:defRPr sz="1425" b="1">
                <a:solidFill>
                  <a:srgbClr val="4472C4"/>
                </a:solidFill>
                <a:latin typeface="Noto Sans SC"/>
                <a:ea typeface="Noto Sans SC"/>
                <a:cs typeface="Noto Sans SC"/>
              </a:defRPr>
            </a:pPr>
            <a:r>
              <a:rPr sz="1425" b="1">
                <a:solidFill>
                  <a:srgbClr val="4472C4"/>
                </a:solidFill>
                <a:latin typeface="Noto Sans SC"/>
                <a:ea typeface="Noto Sans SC"/>
                <a:cs typeface="Noto Sans SC"/>
              </a:rPr>
              <a:t>第三轮结论</a:t>
            </a:r>
          </a:p>
        </p:txBody>
      </p:sp>
      <p:sp>
        <p:nvSpPr>
          <p:cNvPr id="9" name="矩形 8">
            <a:extLst>
              <a:ext uri="{FF2B5EF4-FFF2-40B4-BE49-F238E27FC236}">
                <a16:creationId xmlns:a16="http://schemas.microsoft.com/office/drawing/2014/main" id="{B92355BA-A4DD-4483-AF28-F0B426829ECE}"/>
              </a:ext>
            </a:extLst>
          </p:cNvPr>
          <p:cNvSpPr>
            <a:spLocks noGrp="1"/>
          </p:cNvSpPr>
          <p:nvPr/>
        </p:nvSpPr>
        <p:spPr>
          <a:xfrm>
            <a:off x="1016032" y="4667250"/>
            <a:ext cx="6667500" cy="381000"/>
          </a:xfrm>
          <a:prstGeom prst="rect">
            <a:avLst/>
          </a:prstGeom>
          <a:noFill/>
          <a:ln w="0">
            <a:noFill/>
            <a:prstDash val="solid"/>
          </a:ln>
        </p:spPr>
        <p:txBody>
          <a:bodyPr/>
          <a:lstStyle>
            <a:defPPr algn="l">
              <a:defRPr sz="2025" b="1">
                <a:solidFill>
                  <a:srgbClr val="2B2F36"/>
                </a:solidFill>
                <a:latin typeface="Noto Sans SC"/>
                <a:ea typeface="Noto Sans SC"/>
                <a:cs typeface="Noto Sans SC"/>
              </a:defRPr>
            </a:defPPr>
          </a:lstStyle>
          <a:p>
            <a:pPr algn="l">
              <a:defRPr sz="2025" b="1">
                <a:solidFill>
                  <a:srgbClr val="2B2F36"/>
                </a:solidFill>
                <a:latin typeface="Noto Sans SC"/>
                <a:ea typeface="Noto Sans SC"/>
                <a:cs typeface="Noto Sans SC"/>
              </a:defRPr>
            </a:pPr>
            <a:r>
              <a:rPr sz="2025" b="1">
                <a:solidFill>
                  <a:srgbClr val="2B2F36"/>
                </a:solidFill>
                <a:latin typeface="Noto Sans SC"/>
                <a:ea typeface="Noto Sans SC"/>
                <a:cs typeface="Noto Sans SC"/>
              </a:rPr>
              <a:t>八名成员均出 8 点，估算收敛。</a:t>
            </a:r>
          </a:p>
        </p:txBody>
      </p:sp>
      <p:sp>
        <p:nvSpPr>
          <p:cNvPr id="10" name="矩形: 圆角 9">
            <a:extLst>
              <a:ext uri="{FF2B5EF4-FFF2-40B4-BE49-F238E27FC236}">
                <a16:creationId xmlns:a16="http://schemas.microsoft.com/office/drawing/2014/main" id="{3A3EBC20-4F92-45DD-BBBB-0F9459A85DEA}"/>
              </a:ext>
            </a:extLst>
          </p:cNvPr>
          <p:cNvSpPr>
            <a:spLocks noGrp="1"/>
          </p:cNvSpPr>
          <p:nvPr/>
        </p:nvSpPr>
        <p:spPr>
          <a:xfrm>
            <a:off x="8763000" y="4229100"/>
            <a:ext cx="2409825" cy="1009650"/>
          </a:xfrm>
          <a:prstGeom prst="roundRect">
            <a:avLst>
              <a:gd name="adj" fmla="val 7547"/>
            </a:avLst>
          </a:prstGeom>
          <a:solidFill>
            <a:srgbClr val="ED7D31"/>
          </a:solidFill>
          <a:ln w="0">
            <a:solidFill>
              <a:srgbClr val="ED7D31"/>
            </a:solidFill>
            <a:prstDash val="solid"/>
          </a:ln>
        </p:spPr>
        <p:txBody>
          <a:bodyPr/>
          <a:lstStyle>
            <a:defPPr algn="l">
              <a:defRPr sz="1800" b="1">
                <a:solidFill>
                  <a:srgbClr val="FFFFFF"/>
                </a:solidFill>
                <a:latin typeface="Noto Sans SC"/>
                <a:ea typeface="Noto Sans SC"/>
                <a:cs typeface="Noto Sans SC"/>
              </a:defRPr>
            </a:defPPr>
          </a:lstStyle>
          <a:p>
            <a:pPr algn="l">
              <a:defRPr sz="1800" b="1">
                <a:solidFill>
                  <a:srgbClr val="FFFFFF"/>
                </a:solidFill>
                <a:latin typeface="Noto Sans SC"/>
                <a:ea typeface="Noto Sans SC"/>
                <a:cs typeface="Noto Sans SC"/>
              </a:defRPr>
            </a:pPr>
            <a:r>
              <a:rPr sz="1800" b="1">
                <a:solidFill>
                  <a:srgbClr val="FFFFFF"/>
                </a:solidFill>
                <a:latin typeface="Noto Sans SC"/>
                <a:ea typeface="Noto Sans SC"/>
                <a:cs typeface="Noto Sans SC"/>
              </a:rPr>
              <a:t>最终工作量</a:t>
            </a:r>
          </a:p>
          <a:p>
            <a:pPr algn="l">
              <a:defRPr sz="1800" b="1">
                <a:solidFill>
                  <a:srgbClr val="FFFFFF"/>
                </a:solidFill>
                <a:latin typeface="Noto Sans SC"/>
                <a:ea typeface="Noto Sans SC"/>
                <a:cs typeface="Noto Sans SC"/>
              </a:defRPr>
            </a:pPr>
            <a:r>
              <a:rPr sz="1800" b="1">
                <a:solidFill>
                  <a:srgbClr val="FFFFFF"/>
                </a:solidFill>
                <a:latin typeface="Noto Sans SC"/>
                <a:ea typeface="Noto Sans SC"/>
                <a:cs typeface="Noto Sans SC"/>
              </a:rPr>
              <a:t>8 点</a:t>
            </a:r>
          </a:p>
        </p:txBody>
      </p:sp>
    </p:spTree>
    <p:extLst>
      <p:ext uri="{BB962C8B-B14F-4D97-AF65-F5344CB8AC3E}">
        <p14:creationId xmlns:p14="http://schemas.microsoft.com/office/powerpoint/2010/main" val="18608293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A499F590-BE71-45C5-B276-30CEF6AC42CD}"/>
              </a:ext>
            </a:extLst>
          </p:cNvPr>
          <p:cNvSpPr>
            <a:spLocks noGrp="1"/>
          </p:cNvSpPr>
          <p:nvPr/>
        </p:nvSpPr>
        <p:spPr>
          <a:xfrm>
            <a:off x="1016032" y="711232"/>
            <a:ext cx="7620000" cy="266700"/>
          </a:xfrm>
          <a:prstGeom prst="rect">
            <a:avLst/>
          </a:prstGeom>
          <a:noFill/>
          <a:ln w="0">
            <a:noFill/>
            <a:prstDash val="solid"/>
          </a:ln>
        </p:spPr>
        <p:txBody>
          <a:bodyPr/>
          <a:lstStyle>
            <a:defPPr algn="l">
              <a:defRPr sz="1300" b="1">
                <a:solidFill>
                  <a:srgbClr val="ED7D31"/>
                </a:solidFill>
                <a:latin typeface="Noto Sans SC"/>
                <a:ea typeface="Noto Sans SC"/>
                <a:cs typeface="Noto Sans SC"/>
              </a:defRPr>
            </a:defPPr>
          </a:lstStyle>
          <a:p>
            <a:pPr algn="l">
              <a:defRPr sz="1300" b="1">
                <a:solidFill>
                  <a:srgbClr val="ED7D31"/>
                </a:solidFill>
                <a:latin typeface="Noto Sans SC"/>
                <a:ea typeface="Noto Sans SC"/>
                <a:cs typeface="Noto Sans SC"/>
              </a:defRPr>
            </a:pPr>
            <a:r>
              <a:rPr sz="1300" b="1">
                <a:solidFill>
                  <a:srgbClr val="ED7D31"/>
                </a:solidFill>
                <a:latin typeface="Noto Sans SC"/>
                <a:ea typeface="Noto Sans SC"/>
                <a:cs typeface="Noto Sans SC"/>
              </a:rPr>
              <a:t>BACKLOG · 结果回填</a:t>
            </a:r>
          </a:p>
        </p:txBody>
      </p:sp>
      <p:sp>
        <p:nvSpPr>
          <p:cNvPr id="2" name="矩形 1">
            <a:extLst>
              <a:ext uri="{FF2B5EF4-FFF2-40B4-BE49-F238E27FC236}">
                <a16:creationId xmlns:a16="http://schemas.microsoft.com/office/drawing/2014/main" id="{5F897E72-28C0-439E-A98B-84599BCA70D0}"/>
              </a:ext>
            </a:extLst>
          </p:cNvPr>
          <p:cNvSpPr>
            <a:spLocks noGrp="1"/>
          </p:cNvSpPr>
          <p:nvPr/>
        </p:nvSpPr>
        <p:spPr>
          <a:xfrm>
            <a:off x="1016032" y="1092232"/>
            <a:ext cx="10160032" cy="590550"/>
          </a:xfrm>
          <a:prstGeom prst="rect">
            <a:avLst/>
          </a:prstGeom>
          <a:noFill/>
          <a:ln w="0">
            <a:noFill/>
            <a:prstDash val="solid"/>
          </a:ln>
        </p:spPr>
        <p:txBody>
          <a:bodyPr/>
          <a:lstStyle>
            <a:defPPr algn="l">
              <a:defRPr sz="2550" b="1">
                <a:solidFill>
                  <a:srgbClr val="2B2F36"/>
                </a:solidFill>
                <a:latin typeface="Noto Sans SC"/>
                <a:ea typeface="Noto Sans SC"/>
                <a:cs typeface="Noto Sans SC"/>
              </a:defRPr>
            </a:defPPr>
          </a:lstStyle>
          <a:p>
            <a:pPr algn="l">
              <a:defRPr sz="2550" b="1">
                <a:solidFill>
                  <a:srgbClr val="2B2F36"/>
                </a:solidFill>
                <a:latin typeface="Noto Sans SC"/>
                <a:ea typeface="Noto Sans SC"/>
                <a:cs typeface="Noto Sans SC"/>
              </a:defRPr>
            </a:pPr>
            <a:r>
              <a:rPr sz="2550" b="1">
                <a:solidFill>
                  <a:srgbClr val="2B2F36"/>
                </a:solidFill>
                <a:latin typeface="Noto Sans SC"/>
                <a:ea typeface="Noto Sans SC"/>
                <a:cs typeface="Noto Sans SC"/>
              </a:rPr>
              <a:t>估算结果汇总与产品待办列表启示</a:t>
            </a:r>
          </a:p>
        </p:txBody>
      </p:sp>
      <p:sp>
        <p:nvSpPr>
          <p:cNvPr id="3" name="矩形 2">
            <a:extLst>
              <a:ext uri="{FF2B5EF4-FFF2-40B4-BE49-F238E27FC236}">
                <a16:creationId xmlns:a16="http://schemas.microsoft.com/office/drawing/2014/main" id="{950A7E75-DFA8-4CE4-9269-3D8463E6E477}"/>
              </a:ext>
            </a:extLst>
          </p:cNvPr>
          <p:cNvSpPr>
            <a:spLocks noGrp="1"/>
          </p:cNvSpPr>
          <p:nvPr/>
        </p:nvSpPr>
        <p:spPr>
          <a:xfrm>
            <a:off x="1016032" y="2025682"/>
            <a:ext cx="10160032" cy="12668"/>
          </a:xfrm>
          <a:prstGeom prst="rect">
            <a:avLst/>
          </a:prstGeom>
          <a:solidFill>
            <a:srgbClr val="DCE1E8"/>
          </a:solidFill>
          <a:ln w="0">
            <a:solidFill>
              <a:srgbClr val="DCE1E8"/>
            </a:solidFill>
            <a:prstDash val="solid"/>
          </a:ln>
        </p:spPr>
      </p:sp>
      <p:sp>
        <p:nvSpPr>
          <p:cNvPr id="4" name="矩形 3">
            <a:extLst>
              <a:ext uri="{FF2B5EF4-FFF2-40B4-BE49-F238E27FC236}">
                <a16:creationId xmlns:a16="http://schemas.microsoft.com/office/drawing/2014/main" id="{EE5F0980-355F-46D1-A841-3E16A8B3CC74}"/>
              </a:ext>
            </a:extLst>
          </p:cNvPr>
          <p:cNvSpPr>
            <a:spLocks noGrp="1"/>
          </p:cNvSpPr>
          <p:nvPr/>
        </p:nvSpPr>
        <p:spPr>
          <a:xfrm>
            <a:off x="1016032" y="6350032"/>
            <a:ext cx="6667500" cy="266700"/>
          </a:xfrm>
          <a:prstGeom prst="rect">
            <a:avLst/>
          </a:prstGeom>
          <a:noFill/>
          <a:ln w="0">
            <a:noFill/>
            <a:prstDash val="solid"/>
          </a:ln>
        </p:spPr>
        <p:txBody>
          <a:bodyPr/>
          <a:lstStyle>
            <a:defPPr algn="l">
              <a:defRPr sz="1100" b="0">
                <a:solidFill>
                  <a:srgbClr val="A0A8B4"/>
                </a:solidFill>
                <a:latin typeface="Noto Sans SC"/>
                <a:ea typeface="Noto Sans SC"/>
                <a:cs typeface="Noto Sans SC"/>
              </a:defRPr>
            </a:defPPr>
          </a:lstStyle>
          <a:p>
            <a:pPr algn="l">
              <a:defRPr sz="1100" b="0">
                <a:solidFill>
                  <a:srgbClr val="A0A8B4"/>
                </a:solidFill>
                <a:latin typeface="Noto Sans SC"/>
                <a:ea typeface="Noto Sans SC"/>
                <a:cs typeface="Noto Sans SC"/>
              </a:defRPr>
            </a:pPr>
            <a:r>
              <a:rPr sz="1100" b="0">
                <a:solidFill>
                  <a:srgbClr val="A0A8B4"/>
                </a:solidFill>
                <a:latin typeface="Noto Sans SC"/>
                <a:ea typeface="Noto Sans SC"/>
                <a:cs typeface="Noto Sans SC"/>
              </a:rPr>
              <a:t>SimpleCADforDSH ｜ 讨论四 · 规划扑克估算</a:t>
            </a:r>
          </a:p>
        </p:txBody>
      </p:sp>
      <p:graphicFrame>
        <p:nvGraphicFramePr>
          <p:cNvPr id="6" name="表格 5">
            <a:extLst>
              <a:ext uri="{FF2B5EF4-FFF2-40B4-BE49-F238E27FC236}">
                <a16:creationId xmlns:a16="http://schemas.microsoft.com/office/drawing/2014/main" id="{717657D7-E8D3-471B-9579-B0DB22FD6C1A}"/>
              </a:ext>
            </a:extLst>
          </p:cNvPr>
          <p:cNvGraphicFramePr/>
          <p:nvPr>
            <p:extLst>
              <p:ext uri="{D42A27DB-BD31-4B8C-83A1-F6EECF244321}">
                <p14:modId xmlns:p14="http://schemas.microsoft.com/office/powerpoint/2010/main" val="1441281741"/>
              </p:ext>
            </p:extLst>
          </p:nvPr>
        </p:nvGraphicFramePr>
        <p:xfrm>
          <a:off x="1016032" y="2305050"/>
          <a:ext cx="10160032" cy="2575560"/>
        </p:xfrm>
        <a:graphic>
          <a:graphicData uri="http://schemas.openxmlformats.org/drawingml/2006/table">
            <a:tbl>
              <a:tblPr firstRow="1" bandRow="1"/>
              <a:tblGrid>
                <a:gridCol w="2540008">
                  <a:extLst>
                    <a:ext uri="{9D8B030D-6E8A-4147-A177-3AD203B41FA5}">
                      <a16:colId xmlns:a16="http://schemas.microsoft.com/office/drawing/2014/main" val="20000"/>
                    </a:ext>
                  </a:extLst>
                </a:gridCol>
                <a:gridCol w="2540008">
                  <a:extLst>
                    <a:ext uri="{9D8B030D-6E8A-4147-A177-3AD203B41FA5}">
                      <a16:colId xmlns:a16="http://schemas.microsoft.com/office/drawing/2014/main" val="20001"/>
                    </a:ext>
                  </a:extLst>
                </a:gridCol>
                <a:gridCol w="2540008">
                  <a:extLst>
                    <a:ext uri="{9D8B030D-6E8A-4147-A177-3AD203B41FA5}">
                      <a16:colId xmlns:a16="http://schemas.microsoft.com/office/drawing/2014/main" val="20002"/>
                    </a:ext>
                  </a:extLst>
                </a:gridCol>
                <a:gridCol w="2540008">
                  <a:extLst>
                    <a:ext uri="{9D8B030D-6E8A-4147-A177-3AD203B41FA5}">
                      <a16:colId xmlns:a16="http://schemas.microsoft.com/office/drawing/2014/main" val="20003"/>
                    </a:ext>
                  </a:extLst>
                </a:gridCol>
              </a:tblGrid>
              <a:tr h="502920">
                <a:tc>
                  <a:txBody>
                    <a:bodyPr/>
                    <a:lstStyle/>
                    <a:p>
                      <a:r>
                        <a:rPr sz="1600" b="1">
                          <a:solidFill>
                            <a:srgbClr val="FFFFFF"/>
                          </a:solidFill>
                          <a:latin typeface="Noto Sans SC"/>
                          <a:ea typeface="Noto Sans SC"/>
                          <a:cs typeface="Noto Sans SC"/>
                        </a:rPr>
                        <a:t>任务</a:t>
                      </a:r>
                    </a:p>
                  </a:txBody>
                  <a:tcPr>
                    <a:lnL w="9525">
                      <a:solidFill>
                        <a:srgbClr val="DCE1E8"/>
                      </a:solidFill>
                      <a:prstDash val="solid"/>
                    </a:lnL>
                    <a:lnR w="9525">
                      <a:solidFill>
                        <a:srgbClr val="DCE1E8"/>
                      </a:solidFill>
                      <a:prstDash val="solid"/>
                    </a:lnR>
                    <a:lnT w="9525">
                      <a:solidFill>
                        <a:srgbClr val="DCE1E8"/>
                      </a:solidFill>
                      <a:prstDash val="solid"/>
                    </a:lnT>
                    <a:lnB w="9525">
                      <a:solidFill>
                        <a:srgbClr val="DCE1E8"/>
                      </a:solidFill>
                      <a:prstDash val="solid"/>
                    </a:lnB>
                    <a:solidFill>
                      <a:srgbClr val="4472C4"/>
                    </a:solidFill>
                  </a:tcPr>
                </a:tc>
                <a:tc>
                  <a:txBody>
                    <a:bodyPr/>
                    <a:lstStyle/>
                    <a:p>
                      <a:r>
                        <a:rPr sz="1600" b="1">
                          <a:solidFill>
                            <a:srgbClr val="FFFFFF"/>
                          </a:solidFill>
                          <a:latin typeface="Noto Sans SC"/>
                          <a:ea typeface="Noto Sans SC"/>
                          <a:cs typeface="Noto Sans SC"/>
                        </a:rPr>
                        <a:t>名称</a:t>
                      </a:r>
                    </a:p>
                  </a:txBody>
                  <a:tcPr>
                    <a:lnL w="9525" cap="flat" cmpd="sng" algn="ctr">
                      <a:solidFill>
                        <a:srgbClr val="DCE1E8"/>
                      </a:solidFill>
                      <a:prstDash val="solid"/>
                      <a:round/>
                      <a:headEnd type="none" w="med" len="med"/>
                      <a:tailEnd type="none" w="med" len="med"/>
                    </a:lnL>
                    <a:lnR w="9525">
                      <a:solidFill>
                        <a:srgbClr val="DCE1E8"/>
                      </a:solidFill>
                      <a:prstDash val="solid"/>
                    </a:lnR>
                    <a:lnT w="9525">
                      <a:solidFill>
                        <a:srgbClr val="DCE1E8"/>
                      </a:solidFill>
                      <a:prstDash val="solid"/>
                    </a:lnT>
                    <a:lnB w="9525">
                      <a:solidFill>
                        <a:srgbClr val="DCE1E8"/>
                      </a:solidFill>
                      <a:prstDash val="solid"/>
                    </a:lnB>
                    <a:solidFill>
                      <a:srgbClr val="4472C4"/>
                    </a:solidFill>
                  </a:tcPr>
                </a:tc>
                <a:tc>
                  <a:txBody>
                    <a:bodyPr/>
                    <a:lstStyle/>
                    <a:p>
                      <a:r>
                        <a:rPr sz="1600" b="1">
                          <a:solidFill>
                            <a:srgbClr val="FFFFFF"/>
                          </a:solidFill>
                          <a:latin typeface="Noto Sans SC"/>
                          <a:ea typeface="Noto Sans SC"/>
                          <a:cs typeface="Noto Sans SC"/>
                        </a:rPr>
                        <a:t>故事点</a:t>
                      </a:r>
                    </a:p>
                  </a:txBody>
                  <a:tcPr>
                    <a:lnL w="9525" cap="flat" cmpd="sng" algn="ctr">
                      <a:solidFill>
                        <a:srgbClr val="DCE1E8"/>
                      </a:solidFill>
                      <a:prstDash val="solid"/>
                      <a:round/>
                      <a:headEnd type="none" w="med" len="med"/>
                      <a:tailEnd type="none" w="med" len="med"/>
                    </a:lnL>
                    <a:lnR w="9525">
                      <a:solidFill>
                        <a:srgbClr val="DCE1E8"/>
                      </a:solidFill>
                      <a:prstDash val="solid"/>
                    </a:lnR>
                    <a:lnT w="9525">
                      <a:solidFill>
                        <a:srgbClr val="DCE1E8"/>
                      </a:solidFill>
                      <a:prstDash val="solid"/>
                    </a:lnT>
                    <a:lnB w="9525">
                      <a:solidFill>
                        <a:srgbClr val="DCE1E8"/>
                      </a:solidFill>
                      <a:prstDash val="solid"/>
                    </a:lnB>
                    <a:solidFill>
                      <a:srgbClr val="4472C4"/>
                    </a:solidFill>
                  </a:tcPr>
                </a:tc>
                <a:tc>
                  <a:txBody>
                    <a:bodyPr/>
                    <a:lstStyle/>
                    <a:p>
                      <a:r>
                        <a:rPr sz="1600" b="1">
                          <a:solidFill>
                            <a:srgbClr val="FFFFFF"/>
                          </a:solidFill>
                          <a:latin typeface="Noto Sans SC"/>
                          <a:ea typeface="Noto Sans SC"/>
                          <a:cs typeface="Noto Sans SC"/>
                        </a:rPr>
                        <a:t>估值重点</a:t>
                      </a:r>
                    </a:p>
                  </a:txBody>
                  <a:tcPr>
                    <a:lnL w="9525" cap="flat" cmpd="sng" algn="ctr">
                      <a:solidFill>
                        <a:srgbClr val="DCE1E8"/>
                      </a:solidFill>
                      <a:prstDash val="solid"/>
                      <a:round/>
                      <a:headEnd type="none" w="med" len="med"/>
                      <a:tailEnd type="none" w="med" len="med"/>
                    </a:lnL>
                    <a:lnR w="9525">
                      <a:solidFill>
                        <a:srgbClr val="DCE1E8"/>
                      </a:solidFill>
                      <a:prstDash val="solid"/>
                    </a:lnR>
                    <a:lnT w="9525">
                      <a:solidFill>
                        <a:srgbClr val="DCE1E8"/>
                      </a:solidFill>
                      <a:prstDash val="solid"/>
                    </a:lnT>
                    <a:lnB w="9525">
                      <a:solidFill>
                        <a:srgbClr val="DCE1E8"/>
                      </a:solidFill>
                      <a:prstDash val="solid"/>
                    </a:lnB>
                    <a:solidFill>
                      <a:srgbClr val="4472C4"/>
                    </a:solidFill>
                  </a:tcPr>
                </a:tc>
                <a:extLst>
                  <a:ext uri="{0D108BD9-81ED-4DB2-BD59-A6C34878D82A}">
                    <a16:rowId xmlns:a16="http://schemas.microsoft.com/office/drawing/2014/main" val="10000"/>
                  </a:ext>
                </a:extLst>
              </a:tr>
              <a:tr h="502920">
                <a:tc>
                  <a:txBody>
                    <a:bodyPr/>
                    <a:lstStyle/>
                    <a:p>
                      <a:r>
                        <a:rPr sz="1400" b="0">
                          <a:solidFill>
                            <a:srgbClr val="2B2F36"/>
                          </a:solidFill>
                          <a:latin typeface="Noto Sans SC"/>
                          <a:ea typeface="Noto Sans SC"/>
                          <a:cs typeface="Noto Sans SC"/>
                        </a:rPr>
                        <a:t>任务 8</a:t>
                      </a:r>
                    </a:p>
                  </a:txBody>
                  <a:tcPr>
                    <a:lnL w="9525">
                      <a:solidFill>
                        <a:srgbClr val="DCE1E8"/>
                      </a:solidFill>
                      <a:prstDash val="soli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400" b="0" dirty="0" err="1">
                          <a:solidFill>
                            <a:srgbClr val="2B2F36"/>
                          </a:solidFill>
                          <a:latin typeface="Noto Sans SC"/>
                          <a:ea typeface="Noto Sans SC"/>
                          <a:cs typeface="Noto Sans SC"/>
                        </a:rPr>
                        <a:t>文本描述生成</a:t>
                      </a:r>
                      <a:r>
                        <a:rPr sz="1400" b="0" dirty="0">
                          <a:solidFill>
                            <a:srgbClr val="2B2F36"/>
                          </a:solidFill>
                          <a:latin typeface="Noto Sans SC"/>
                          <a:ea typeface="Noto Sans SC"/>
                          <a:cs typeface="Noto Sans SC"/>
                        </a:rPr>
                        <a:t> CAD </a:t>
                      </a:r>
                      <a:r>
                        <a:rPr sz="1400" b="0" dirty="0" err="1">
                          <a:solidFill>
                            <a:srgbClr val="2B2F36"/>
                          </a:solidFill>
                          <a:latin typeface="Noto Sans SC"/>
                          <a:ea typeface="Noto Sans SC"/>
                          <a:cs typeface="Noto Sans SC"/>
                        </a:rPr>
                        <a:t>模型</a:t>
                      </a:r>
                      <a:endParaRPr sz="1400" b="0" dirty="0">
                        <a:solidFill>
                          <a:srgbClr val="2B2F36"/>
                        </a:solidFill>
                        <a:latin typeface="Noto Sans SC"/>
                        <a:ea typeface="Noto Sans SC"/>
                        <a:cs typeface="Noto Sans SC"/>
                      </a:endParaRP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400" b="0">
                          <a:solidFill>
                            <a:srgbClr val="2B2F36"/>
                          </a:solidFill>
                          <a:latin typeface="Noto Sans SC"/>
                          <a:ea typeface="Noto Sans SC"/>
                          <a:cs typeface="Noto Sans SC"/>
                        </a:rPr>
                        <a:t>13 点</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400" b="0">
                          <a:solidFill>
                            <a:srgbClr val="2B2F36"/>
                          </a:solidFill>
                          <a:latin typeface="Noto Sans SC"/>
                          <a:ea typeface="Noto Sans SC"/>
                          <a:cs typeface="Noto Sans SC"/>
                        </a:rPr>
                        <a:t>自然语言解析、尺寸冲突处理、生成联调与异常验证</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extLst>
                  <a:ext uri="{0D108BD9-81ED-4DB2-BD59-A6C34878D82A}">
                    <a16:rowId xmlns:a16="http://schemas.microsoft.com/office/drawing/2014/main" val="10001"/>
                  </a:ext>
                </a:extLst>
              </a:tr>
              <a:tr h="502920">
                <a:tc>
                  <a:txBody>
                    <a:bodyPr/>
                    <a:lstStyle/>
                    <a:p>
                      <a:r>
                        <a:rPr sz="1400" b="0">
                          <a:solidFill>
                            <a:srgbClr val="2B2F36"/>
                          </a:solidFill>
                          <a:latin typeface="Noto Sans SC"/>
                          <a:ea typeface="Noto Sans SC"/>
                          <a:cs typeface="Noto Sans SC"/>
                        </a:rPr>
                        <a:t>任务 9</a:t>
                      </a:r>
                    </a:p>
                  </a:txBody>
                  <a:tcPr>
                    <a:lnL w="9525">
                      <a:solidFill>
                        <a:srgbClr val="DCE1E8"/>
                      </a:solidFill>
                      <a:prstDash val="soli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400" b="0">
                          <a:solidFill>
                            <a:srgbClr val="2B2F36"/>
                          </a:solidFill>
                          <a:latin typeface="Noto Sans SC"/>
                          <a:ea typeface="Noto Sans SC"/>
                          <a:cs typeface="Noto Sans SC"/>
                        </a:rPr>
                        <a:t>多视角图像生成 CAD 模型</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400" b="0">
                          <a:solidFill>
                            <a:srgbClr val="2B2F36"/>
                          </a:solidFill>
                          <a:latin typeface="Noto Sans SC"/>
                          <a:ea typeface="Noto Sans SC"/>
                          <a:cs typeface="Noto Sans SC"/>
                        </a:rPr>
                        <a:t>13 点</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400" b="0">
                          <a:solidFill>
                            <a:srgbClr val="2B2F36"/>
                          </a:solidFill>
                          <a:latin typeface="Noto Sans SC"/>
                          <a:ea typeface="Noto Sans SC"/>
                          <a:cs typeface="Noto Sans SC"/>
                        </a:rPr>
                        <a:t>多视图关联、视图一致性检查、图片替换验证</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extLst>
                  <a:ext uri="{0D108BD9-81ED-4DB2-BD59-A6C34878D82A}">
                    <a16:rowId xmlns:a16="http://schemas.microsoft.com/office/drawing/2014/main" val="10002"/>
                  </a:ext>
                </a:extLst>
              </a:tr>
              <a:tr h="502920">
                <a:tc>
                  <a:txBody>
                    <a:bodyPr/>
                    <a:lstStyle/>
                    <a:p>
                      <a:r>
                        <a:rPr sz="1400" b="0">
                          <a:solidFill>
                            <a:srgbClr val="2B2F36"/>
                          </a:solidFill>
                          <a:latin typeface="Noto Sans SC"/>
                          <a:ea typeface="Noto Sans SC"/>
                          <a:cs typeface="Noto Sans SC"/>
                        </a:rPr>
                        <a:t>任务 10</a:t>
                      </a:r>
                    </a:p>
                  </a:txBody>
                  <a:tcPr>
                    <a:lnL w="9525">
                      <a:solidFill>
                        <a:srgbClr val="DCE1E8"/>
                      </a:solidFill>
                      <a:prstDash val="soli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400" b="0" dirty="0" err="1">
                          <a:solidFill>
                            <a:srgbClr val="2B2F36"/>
                          </a:solidFill>
                          <a:latin typeface="Noto Sans SC"/>
                          <a:ea typeface="Noto Sans SC"/>
                          <a:cs typeface="Noto Sans SC"/>
                        </a:rPr>
                        <a:t>文本检索相似</a:t>
                      </a:r>
                      <a:r>
                        <a:rPr sz="1400" b="0" dirty="0">
                          <a:solidFill>
                            <a:srgbClr val="2B2F36"/>
                          </a:solidFill>
                          <a:latin typeface="Noto Sans SC"/>
                          <a:ea typeface="Noto Sans SC"/>
                          <a:cs typeface="Noto Sans SC"/>
                        </a:rPr>
                        <a:t> CAD </a:t>
                      </a:r>
                      <a:r>
                        <a:rPr sz="1400" b="0" dirty="0" err="1">
                          <a:solidFill>
                            <a:srgbClr val="2B2F36"/>
                          </a:solidFill>
                          <a:latin typeface="Noto Sans SC"/>
                          <a:ea typeface="Noto Sans SC"/>
                          <a:cs typeface="Noto Sans SC"/>
                        </a:rPr>
                        <a:t>模型</a:t>
                      </a:r>
                      <a:endParaRPr sz="1400" b="0" dirty="0">
                        <a:solidFill>
                          <a:srgbClr val="2B2F36"/>
                        </a:solidFill>
                        <a:latin typeface="Noto Sans SC"/>
                        <a:ea typeface="Noto Sans SC"/>
                        <a:cs typeface="Noto Sans SC"/>
                      </a:endParaRP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400" b="0">
                          <a:solidFill>
                            <a:srgbClr val="2B2F36"/>
                          </a:solidFill>
                          <a:latin typeface="Noto Sans SC"/>
                          <a:ea typeface="Noto Sans SC"/>
                          <a:cs typeface="Noto Sans SC"/>
                        </a:rPr>
                        <a:t>8 点</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tc>
                  <a:txBody>
                    <a:bodyPr/>
                    <a:lstStyle/>
                    <a:p>
                      <a:r>
                        <a:rPr sz="1400" b="0">
                          <a:solidFill>
                            <a:srgbClr val="2B2F36"/>
                          </a:solidFill>
                          <a:latin typeface="Noto Sans SC"/>
                          <a:ea typeface="Noto Sans SC"/>
                          <a:cs typeface="Noto Sans SC"/>
                        </a:rPr>
                        <a:t>关键词匹配、相似度排序、名称差异召回</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FFFFF"/>
                    </a:solidFill>
                  </a:tcPr>
                </a:tc>
                <a:extLst>
                  <a:ext uri="{0D108BD9-81ED-4DB2-BD59-A6C34878D82A}">
                    <a16:rowId xmlns:a16="http://schemas.microsoft.com/office/drawing/2014/main" val="10003"/>
                  </a:ext>
                </a:extLst>
              </a:tr>
              <a:tr h="502920">
                <a:tc>
                  <a:txBody>
                    <a:bodyPr/>
                    <a:lstStyle/>
                    <a:p>
                      <a:r>
                        <a:rPr sz="1400" b="0" dirty="0" err="1">
                          <a:solidFill>
                            <a:srgbClr val="2B2F36"/>
                          </a:solidFill>
                          <a:latin typeface="Noto Sans SC"/>
                          <a:ea typeface="Noto Sans SC"/>
                          <a:cs typeface="Noto Sans SC"/>
                        </a:rPr>
                        <a:t>任务</a:t>
                      </a:r>
                      <a:r>
                        <a:rPr sz="1400" b="0" dirty="0">
                          <a:solidFill>
                            <a:srgbClr val="2B2F36"/>
                          </a:solidFill>
                          <a:latin typeface="Noto Sans SC"/>
                          <a:ea typeface="Noto Sans SC"/>
                          <a:cs typeface="Noto Sans SC"/>
                        </a:rPr>
                        <a:t> 4</a:t>
                      </a:r>
                    </a:p>
                  </a:txBody>
                  <a:tcPr>
                    <a:lnL w="9525">
                      <a:solidFill>
                        <a:srgbClr val="DCE1E8"/>
                      </a:solidFill>
                      <a:prstDash val="soli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400" b="0" dirty="0" err="1">
                          <a:solidFill>
                            <a:srgbClr val="2B2F36"/>
                          </a:solidFill>
                          <a:latin typeface="Noto Sans SC"/>
                          <a:ea typeface="Noto Sans SC"/>
                          <a:cs typeface="Noto Sans SC"/>
                        </a:rPr>
                        <a:t>部署单视角图像生成</a:t>
                      </a:r>
                      <a:r>
                        <a:rPr sz="1400" b="0" dirty="0">
                          <a:solidFill>
                            <a:srgbClr val="2B2F36"/>
                          </a:solidFill>
                          <a:latin typeface="Noto Sans SC"/>
                          <a:ea typeface="Noto Sans SC"/>
                          <a:cs typeface="Noto Sans SC"/>
                        </a:rPr>
                        <a:t> CAD </a:t>
                      </a:r>
                      <a:r>
                        <a:rPr sz="1400" b="0" dirty="0" err="1">
                          <a:solidFill>
                            <a:srgbClr val="2B2F36"/>
                          </a:solidFill>
                          <a:latin typeface="Noto Sans SC"/>
                          <a:ea typeface="Noto Sans SC"/>
                          <a:cs typeface="Noto Sans SC"/>
                        </a:rPr>
                        <a:t>模型</a:t>
                      </a:r>
                      <a:endParaRPr sz="1400" b="0" dirty="0">
                        <a:solidFill>
                          <a:srgbClr val="2B2F36"/>
                        </a:solidFill>
                        <a:latin typeface="Noto Sans SC"/>
                        <a:ea typeface="Noto Sans SC"/>
                        <a:cs typeface="Noto Sans SC"/>
                      </a:endParaRP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400" b="0" dirty="0">
                          <a:solidFill>
                            <a:srgbClr val="2B2F36"/>
                          </a:solidFill>
                          <a:latin typeface="Noto Sans SC"/>
                          <a:ea typeface="Noto Sans SC"/>
                          <a:cs typeface="Noto Sans SC"/>
                        </a:rPr>
                        <a:t>8 点</a:t>
                      </a: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tc>
                  <a:txBody>
                    <a:bodyPr/>
                    <a:lstStyle/>
                    <a:p>
                      <a:r>
                        <a:rPr sz="1400" b="0" dirty="0" err="1">
                          <a:solidFill>
                            <a:srgbClr val="2B2F36"/>
                          </a:solidFill>
                          <a:latin typeface="Noto Sans SC"/>
                          <a:ea typeface="Noto Sans SC"/>
                          <a:cs typeface="Noto Sans SC"/>
                        </a:rPr>
                        <a:t>开源模型部署、插件接入、生成结果核验</a:t>
                      </a:r>
                      <a:endParaRPr sz="1400" b="0" dirty="0">
                        <a:solidFill>
                          <a:srgbClr val="2B2F36"/>
                        </a:solidFill>
                        <a:latin typeface="Noto Sans SC"/>
                        <a:ea typeface="Noto Sans SC"/>
                        <a:cs typeface="Noto Sans SC"/>
                      </a:endParaRPr>
                    </a:p>
                  </a:txBody>
                  <a:tcPr>
                    <a:lnL w="9525" cap="flat" cmpd="sng" algn="ctr">
                      <a:solidFill>
                        <a:srgbClr val="DCE1E8"/>
                      </a:solidFill>
                      <a:prstDash val="solid"/>
                      <a:round/>
                      <a:headEnd type="none" w="med" len="med"/>
                      <a:tailEnd type="none" w="med" len="med"/>
                    </a:lnL>
                    <a:lnR w="9525">
                      <a:solidFill>
                        <a:srgbClr val="DCE1E8"/>
                      </a:solidFill>
                      <a:prstDash val="solid"/>
                    </a:lnR>
                    <a:lnT w="9525" cap="flat" cmpd="sng" algn="ctr">
                      <a:solidFill>
                        <a:srgbClr val="DCE1E8"/>
                      </a:solidFill>
                      <a:prstDash val="solid"/>
                      <a:round/>
                      <a:headEnd type="none" w="med" len="med"/>
                      <a:tailEnd type="none" w="med" len="med"/>
                    </a:lnT>
                    <a:lnB w="9525">
                      <a:solidFill>
                        <a:srgbClr val="DCE1E8"/>
                      </a:solidFill>
                      <a:prstDash val="solid"/>
                    </a:lnB>
                    <a:solidFill>
                      <a:srgbClr val="F7F9FC"/>
                    </a:solidFill>
                  </a:tcPr>
                </a:tc>
                <a:extLst>
                  <a:ext uri="{0D108BD9-81ED-4DB2-BD59-A6C34878D82A}">
                    <a16:rowId xmlns:a16="http://schemas.microsoft.com/office/drawing/2014/main" val="10004"/>
                  </a:ext>
                </a:extLst>
              </a:tr>
            </a:tbl>
          </a:graphicData>
        </a:graphic>
      </p:graphicFrame>
      <p:sp>
        <p:nvSpPr>
          <p:cNvPr id="7" name="矩形: 圆角 6">
            <a:extLst>
              <a:ext uri="{FF2B5EF4-FFF2-40B4-BE49-F238E27FC236}">
                <a16:creationId xmlns:a16="http://schemas.microsoft.com/office/drawing/2014/main" id="{1BC655AC-08A6-4741-9C33-5367C42D42F0}"/>
              </a:ext>
            </a:extLst>
          </p:cNvPr>
          <p:cNvSpPr>
            <a:spLocks noGrp="1"/>
          </p:cNvSpPr>
          <p:nvPr/>
        </p:nvSpPr>
        <p:spPr>
          <a:xfrm>
            <a:off x="1016032" y="5146643"/>
            <a:ext cx="10160032" cy="1000125"/>
          </a:xfrm>
          <a:prstGeom prst="roundRect">
            <a:avLst>
              <a:gd name="adj" fmla="val 7619"/>
            </a:avLst>
          </a:prstGeom>
          <a:solidFill>
            <a:srgbClr val="FCEDE0"/>
          </a:solidFill>
          <a:ln w="0">
            <a:solidFill>
              <a:srgbClr val="ED7D31"/>
            </a:solidFill>
            <a:prstDash val="solid"/>
          </a:ln>
        </p:spPr>
        <p:txBody>
          <a:bodyPr/>
          <a:lstStyle>
            <a:defPPr algn="l">
              <a:defRPr sz="1275" b="0">
                <a:solidFill>
                  <a:srgbClr val="2B2F36"/>
                </a:solidFill>
                <a:latin typeface="Noto Sans SC"/>
                <a:ea typeface="Noto Sans SC"/>
                <a:cs typeface="Noto Sans SC"/>
              </a:defRPr>
            </a:defPPr>
          </a:lstStyle>
          <a:p>
            <a:pPr algn="l">
              <a:defRPr sz="1275" b="0">
                <a:solidFill>
                  <a:srgbClr val="2B2F36"/>
                </a:solidFill>
                <a:latin typeface="Noto Sans SC"/>
                <a:ea typeface="Noto Sans SC"/>
                <a:cs typeface="Noto Sans SC"/>
              </a:defRPr>
            </a:pPr>
            <a:r>
              <a:rPr sz="1600" b="0" dirty="0" err="1">
                <a:solidFill>
                  <a:srgbClr val="2B2F36"/>
                </a:solidFill>
                <a:latin typeface="Noto Sans SC"/>
                <a:ea typeface="Noto Sans SC"/>
                <a:cs typeface="Noto Sans SC"/>
              </a:rPr>
              <a:t>启示</a:t>
            </a:r>
            <a:endParaRPr sz="1600" b="0" dirty="0">
              <a:solidFill>
                <a:srgbClr val="2B2F36"/>
              </a:solidFill>
              <a:latin typeface="Noto Sans SC"/>
              <a:ea typeface="Noto Sans SC"/>
              <a:cs typeface="Noto Sans SC"/>
            </a:endParaRPr>
          </a:p>
          <a:p>
            <a:pPr algn="l">
              <a:defRPr sz="1275" b="0">
                <a:solidFill>
                  <a:srgbClr val="2B2F36"/>
                </a:solidFill>
                <a:latin typeface="Noto Sans SC"/>
                <a:ea typeface="Noto Sans SC"/>
                <a:cs typeface="Noto Sans SC"/>
              </a:defRPr>
            </a:pPr>
            <a:r>
              <a:rPr sz="1600" b="0" dirty="0" err="1">
                <a:solidFill>
                  <a:srgbClr val="2B2F36"/>
                </a:solidFill>
                <a:latin typeface="Noto Sans SC"/>
                <a:ea typeface="Noto Sans SC"/>
                <a:cs typeface="Noto Sans SC"/>
              </a:rPr>
              <a:t>规划扑克估算结果应回填产品待办列表，作为迭代计划、容量匹配和优先级排序的依据。高故事点任务应优先准备联调与验收样例</a:t>
            </a:r>
            <a:r>
              <a:rPr sz="1600" b="0" dirty="0">
                <a:solidFill>
                  <a:srgbClr val="2B2F36"/>
                </a:solidFill>
                <a:latin typeface="Noto Sans SC"/>
                <a:ea typeface="Noto Sans SC"/>
                <a:cs typeface="Noto Sans SC"/>
              </a:rPr>
              <a:t>。</a:t>
            </a:r>
          </a:p>
        </p:txBody>
      </p:sp>
    </p:spTree>
    <p:extLst>
      <p:ext uri="{BB962C8B-B14F-4D97-AF65-F5344CB8AC3E}">
        <p14:creationId xmlns:p14="http://schemas.microsoft.com/office/powerpoint/2010/main" val="8957316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7F91F2BE-5A43-4596-A3C8-47B89E4D4F9A}"/>
              </a:ext>
            </a:extLst>
          </p:cNvPr>
          <p:cNvSpPr>
            <a:spLocks noGrp="1"/>
          </p:cNvSpPr>
          <p:nvPr/>
        </p:nvSpPr>
        <p:spPr>
          <a:xfrm>
            <a:off x="0" y="0"/>
            <a:ext cx="152400" cy="6858000"/>
          </a:xfrm>
          <a:prstGeom prst="rect">
            <a:avLst/>
          </a:prstGeom>
          <a:solidFill>
            <a:srgbClr val="4472C4"/>
          </a:solidFill>
          <a:ln w="0">
            <a:solidFill>
              <a:srgbClr val="4472C4"/>
            </a:solidFill>
            <a:prstDash val="solid"/>
          </a:ln>
        </p:spPr>
      </p:sp>
      <p:sp>
        <p:nvSpPr>
          <p:cNvPr id="2" name="矩形 1">
            <a:extLst>
              <a:ext uri="{FF2B5EF4-FFF2-40B4-BE49-F238E27FC236}">
                <a16:creationId xmlns:a16="http://schemas.microsoft.com/office/drawing/2014/main" id="{8856847B-A8FF-4F40-9A22-D9BA1B55D453}"/>
              </a:ext>
            </a:extLst>
          </p:cNvPr>
          <p:cNvSpPr>
            <a:spLocks noGrp="1"/>
          </p:cNvSpPr>
          <p:nvPr/>
        </p:nvSpPr>
        <p:spPr>
          <a:xfrm>
            <a:off x="1016032" y="1524000"/>
            <a:ext cx="7620000" cy="381000"/>
          </a:xfrm>
          <a:prstGeom prst="rect">
            <a:avLst/>
          </a:prstGeom>
          <a:noFill/>
          <a:ln w="0">
            <a:noFill/>
            <a:prstDash val="solid"/>
          </a:ln>
        </p:spPr>
        <p:txBody>
          <a:bodyPr/>
          <a:lstStyle>
            <a:defPPr algn="l">
              <a:defRPr sz="1400" b="1">
                <a:solidFill>
                  <a:srgbClr val="ED7D31"/>
                </a:solidFill>
                <a:latin typeface="Noto Sans SC"/>
                <a:ea typeface="Noto Sans SC"/>
                <a:cs typeface="Noto Sans SC"/>
              </a:defRPr>
            </a:defPPr>
          </a:lstStyle>
          <a:p>
            <a:pPr algn="l">
              <a:defRPr sz="1400" b="1">
                <a:solidFill>
                  <a:srgbClr val="ED7D31"/>
                </a:solidFill>
                <a:latin typeface="Noto Sans SC"/>
                <a:ea typeface="Noto Sans SC"/>
                <a:cs typeface="Noto Sans SC"/>
              </a:defRPr>
            </a:pPr>
            <a:r>
              <a:rPr sz="1400" b="1">
                <a:solidFill>
                  <a:srgbClr val="ED7D31"/>
                </a:solidFill>
                <a:latin typeface="Noto Sans SC"/>
                <a:ea typeface="Noto Sans SC"/>
                <a:cs typeface="Noto Sans SC"/>
              </a:rPr>
              <a:t>CONCLUSION · 总结</a:t>
            </a:r>
          </a:p>
        </p:txBody>
      </p:sp>
      <p:sp>
        <p:nvSpPr>
          <p:cNvPr id="3" name="矩形 2">
            <a:extLst>
              <a:ext uri="{FF2B5EF4-FFF2-40B4-BE49-F238E27FC236}">
                <a16:creationId xmlns:a16="http://schemas.microsoft.com/office/drawing/2014/main" id="{3C677BB6-7430-4B5E-8FFF-B2DBA50566BE}"/>
              </a:ext>
            </a:extLst>
          </p:cNvPr>
          <p:cNvSpPr>
            <a:spLocks noGrp="1"/>
          </p:cNvSpPr>
          <p:nvPr/>
        </p:nvSpPr>
        <p:spPr>
          <a:xfrm>
            <a:off x="1016032" y="2089118"/>
            <a:ext cx="762000" cy="38100"/>
          </a:xfrm>
          <a:prstGeom prst="rect">
            <a:avLst/>
          </a:prstGeom>
          <a:solidFill>
            <a:srgbClr val="ED7D31"/>
          </a:solidFill>
          <a:ln w="0">
            <a:solidFill>
              <a:srgbClr val="ED7D31"/>
            </a:solidFill>
            <a:prstDash val="solid"/>
          </a:ln>
        </p:spPr>
      </p:sp>
      <p:sp>
        <p:nvSpPr>
          <p:cNvPr id="4" name="矩形 3">
            <a:extLst>
              <a:ext uri="{FF2B5EF4-FFF2-40B4-BE49-F238E27FC236}">
                <a16:creationId xmlns:a16="http://schemas.microsoft.com/office/drawing/2014/main" id="{8ABC9B1B-0381-4E2E-95AB-080109B8E1FC}"/>
              </a:ext>
            </a:extLst>
          </p:cNvPr>
          <p:cNvSpPr>
            <a:spLocks noGrp="1"/>
          </p:cNvSpPr>
          <p:nvPr/>
        </p:nvSpPr>
        <p:spPr>
          <a:xfrm>
            <a:off x="1016032" y="2412968"/>
            <a:ext cx="10160032" cy="666750"/>
          </a:xfrm>
          <a:prstGeom prst="rect">
            <a:avLst/>
          </a:prstGeom>
          <a:noFill/>
          <a:ln w="0">
            <a:noFill/>
            <a:prstDash val="solid"/>
          </a:ln>
        </p:spPr>
        <p:txBody>
          <a:bodyPr/>
          <a:lstStyle>
            <a:defPPr algn="l">
              <a:defRPr sz="3900" b="1">
                <a:solidFill>
                  <a:srgbClr val="2B2F36"/>
                </a:solidFill>
                <a:latin typeface="Noto Sans SC"/>
                <a:ea typeface="Noto Sans SC"/>
                <a:cs typeface="Noto Sans SC"/>
              </a:defRPr>
            </a:defPPr>
          </a:lstStyle>
          <a:p>
            <a:pPr algn="l">
              <a:defRPr sz="3900" b="1">
                <a:solidFill>
                  <a:srgbClr val="2B2F36"/>
                </a:solidFill>
                <a:latin typeface="Noto Sans SC"/>
                <a:ea typeface="Noto Sans SC"/>
                <a:cs typeface="Noto Sans SC"/>
              </a:defRPr>
            </a:pPr>
            <a:r>
              <a:rPr sz="3900" b="1">
                <a:solidFill>
                  <a:srgbClr val="2B2F36"/>
                </a:solidFill>
                <a:latin typeface="Noto Sans SC"/>
                <a:ea typeface="Noto Sans SC"/>
                <a:cs typeface="Noto Sans SC"/>
              </a:rPr>
              <a:t>总结</a:t>
            </a:r>
          </a:p>
        </p:txBody>
      </p:sp>
      <p:sp>
        <p:nvSpPr>
          <p:cNvPr id="5" name="矩形 4">
            <a:extLst>
              <a:ext uri="{FF2B5EF4-FFF2-40B4-BE49-F238E27FC236}">
                <a16:creationId xmlns:a16="http://schemas.microsoft.com/office/drawing/2014/main" id="{0628257A-03FF-4D7E-A756-2577EE90C43A}"/>
              </a:ext>
            </a:extLst>
          </p:cNvPr>
          <p:cNvSpPr>
            <a:spLocks noGrp="1"/>
          </p:cNvSpPr>
          <p:nvPr/>
        </p:nvSpPr>
        <p:spPr>
          <a:xfrm>
            <a:off x="1016032" y="3524250"/>
            <a:ext cx="9144000" cy="1476375"/>
          </a:xfrm>
          <a:prstGeom prst="rect">
            <a:avLst/>
          </a:prstGeom>
          <a:noFill/>
          <a:ln w="0">
            <a:noFill/>
            <a:prstDash val="solid"/>
          </a:ln>
        </p:spPr>
        <p:txBody>
          <a:bodyPr/>
          <a:lstStyle>
            <a:defPPr algn="l">
              <a:defRPr sz="1388" b="0">
                <a:solidFill>
                  <a:srgbClr val="5A6473"/>
                </a:solidFill>
                <a:latin typeface="Noto Sans SC"/>
                <a:ea typeface="Noto Sans SC"/>
                <a:cs typeface="Noto Sans SC"/>
              </a:defRPr>
            </a:defPPr>
          </a:lstStyle>
          <a:p>
            <a:pPr algn="l">
              <a:defRPr sz="1388" b="0">
                <a:solidFill>
                  <a:srgbClr val="5A6473"/>
                </a:solidFill>
                <a:latin typeface="Noto Sans SC"/>
                <a:ea typeface="Noto Sans SC"/>
                <a:cs typeface="Noto Sans SC"/>
              </a:defRPr>
            </a:pPr>
            <a:r>
              <a:rPr sz="1600" b="0" dirty="0">
                <a:solidFill>
                  <a:srgbClr val="5A6473"/>
                </a:solidFill>
                <a:latin typeface="Noto Sans SC"/>
                <a:ea typeface="Noto Sans SC"/>
                <a:cs typeface="Noto Sans SC"/>
              </a:rPr>
              <a:t>• </a:t>
            </a:r>
            <a:r>
              <a:rPr sz="1600" b="0" dirty="0" err="1">
                <a:solidFill>
                  <a:srgbClr val="5A6473"/>
                </a:solidFill>
                <a:latin typeface="Noto Sans SC"/>
                <a:ea typeface="Noto Sans SC"/>
                <a:cs typeface="Noto Sans SC"/>
              </a:rPr>
              <a:t>使用规划扑克对第一次版本开发任务进行了团队估算</a:t>
            </a:r>
            <a:r>
              <a:rPr sz="1600" b="0" dirty="0">
                <a:solidFill>
                  <a:srgbClr val="5A6473"/>
                </a:solidFill>
                <a:latin typeface="Noto Sans SC"/>
                <a:ea typeface="Noto Sans SC"/>
                <a:cs typeface="Noto Sans SC"/>
              </a:rPr>
              <a:t>。</a:t>
            </a:r>
          </a:p>
          <a:p>
            <a:pPr algn="l">
              <a:defRPr sz="1388" b="0">
                <a:solidFill>
                  <a:srgbClr val="5A6473"/>
                </a:solidFill>
                <a:latin typeface="Noto Sans SC"/>
                <a:ea typeface="Noto Sans SC"/>
                <a:cs typeface="Noto Sans SC"/>
              </a:defRPr>
            </a:pPr>
            <a:r>
              <a:rPr sz="1600" b="0" dirty="0">
                <a:solidFill>
                  <a:srgbClr val="5A6473"/>
                </a:solidFill>
                <a:latin typeface="Noto Sans SC"/>
                <a:ea typeface="Noto Sans SC"/>
                <a:cs typeface="Noto Sans SC"/>
              </a:rPr>
              <a:t>• </a:t>
            </a:r>
            <a:r>
              <a:rPr sz="1600" b="0" dirty="0" err="1">
                <a:solidFill>
                  <a:srgbClr val="5A6473"/>
                </a:solidFill>
                <a:latin typeface="Noto Sans SC"/>
                <a:ea typeface="Noto Sans SC"/>
                <a:cs typeface="Noto Sans SC"/>
              </a:rPr>
              <a:t>通过暗牌、翻牌、差异发言和多轮收敛，形成故事点共识</a:t>
            </a:r>
            <a:r>
              <a:rPr sz="1600" b="0" dirty="0">
                <a:solidFill>
                  <a:srgbClr val="5A6473"/>
                </a:solidFill>
                <a:latin typeface="Noto Sans SC"/>
                <a:ea typeface="Noto Sans SC"/>
                <a:cs typeface="Noto Sans SC"/>
              </a:rPr>
              <a:t>。</a:t>
            </a:r>
          </a:p>
          <a:p>
            <a:pPr algn="l">
              <a:defRPr sz="1388" b="0">
                <a:solidFill>
                  <a:srgbClr val="5A6473"/>
                </a:solidFill>
                <a:latin typeface="Noto Sans SC"/>
                <a:ea typeface="Noto Sans SC"/>
                <a:cs typeface="Noto Sans SC"/>
              </a:defRPr>
            </a:pPr>
            <a:r>
              <a:rPr sz="1600" b="0" dirty="0">
                <a:solidFill>
                  <a:srgbClr val="5A6473"/>
                </a:solidFill>
                <a:latin typeface="Noto Sans SC"/>
                <a:ea typeface="Noto Sans SC"/>
                <a:cs typeface="Noto Sans SC"/>
              </a:rPr>
              <a:t>• </a:t>
            </a:r>
            <a:r>
              <a:rPr sz="1600" b="0" dirty="0" err="1">
                <a:solidFill>
                  <a:srgbClr val="5A6473"/>
                </a:solidFill>
                <a:latin typeface="Noto Sans SC"/>
                <a:ea typeface="Noto Sans SC"/>
                <a:cs typeface="Noto Sans SC"/>
              </a:rPr>
              <a:t>重点任务最终故事点：任务</a:t>
            </a:r>
            <a:r>
              <a:rPr sz="1600" b="0" dirty="0">
                <a:solidFill>
                  <a:srgbClr val="5A6473"/>
                </a:solidFill>
                <a:latin typeface="Noto Sans SC"/>
                <a:ea typeface="Noto Sans SC"/>
                <a:cs typeface="Noto Sans SC"/>
              </a:rPr>
              <a:t> 8=13，任务 9=13，任务 10=8，任务 4=8。</a:t>
            </a:r>
          </a:p>
          <a:p>
            <a:pPr algn="l">
              <a:defRPr sz="1388" b="0">
                <a:solidFill>
                  <a:srgbClr val="5A6473"/>
                </a:solidFill>
                <a:latin typeface="Noto Sans SC"/>
                <a:ea typeface="Noto Sans SC"/>
                <a:cs typeface="Noto Sans SC"/>
              </a:defRPr>
            </a:pPr>
            <a:r>
              <a:rPr sz="1600" b="0" dirty="0">
                <a:solidFill>
                  <a:srgbClr val="5A6473"/>
                </a:solidFill>
                <a:latin typeface="Noto Sans SC"/>
                <a:ea typeface="Noto Sans SC"/>
                <a:cs typeface="Noto Sans SC"/>
              </a:rPr>
              <a:t>• </a:t>
            </a:r>
            <a:r>
              <a:rPr sz="1600" b="0" dirty="0" err="1">
                <a:solidFill>
                  <a:srgbClr val="5A6473"/>
                </a:solidFill>
                <a:latin typeface="Noto Sans SC"/>
                <a:ea typeface="Noto Sans SC"/>
                <a:cs typeface="Noto Sans SC"/>
              </a:rPr>
              <a:t>估算结果用于产品待办列表排序、迭代计划和容量匹配</a:t>
            </a:r>
            <a:r>
              <a:rPr sz="1600" b="0" dirty="0">
                <a:solidFill>
                  <a:srgbClr val="5A6473"/>
                </a:solidFill>
                <a:latin typeface="Noto Sans SC"/>
                <a:ea typeface="Noto Sans SC"/>
                <a:cs typeface="Noto Sans SC"/>
              </a:rPr>
              <a:t>。</a:t>
            </a:r>
          </a:p>
          <a:p>
            <a:pPr algn="l">
              <a:defRPr sz="1388" b="0">
                <a:solidFill>
                  <a:srgbClr val="5A6473"/>
                </a:solidFill>
                <a:latin typeface="Noto Sans SC"/>
                <a:ea typeface="Noto Sans SC"/>
                <a:cs typeface="Noto Sans SC"/>
              </a:defRPr>
            </a:pPr>
            <a:r>
              <a:rPr sz="1600" b="0" dirty="0">
                <a:solidFill>
                  <a:srgbClr val="5A6473"/>
                </a:solidFill>
                <a:latin typeface="Noto Sans SC"/>
                <a:ea typeface="Noto Sans SC"/>
                <a:cs typeface="Noto Sans SC"/>
              </a:rPr>
              <a:t>• </a:t>
            </a:r>
            <a:r>
              <a:rPr sz="1600" b="0" dirty="0" err="1">
                <a:solidFill>
                  <a:srgbClr val="5A6473"/>
                </a:solidFill>
                <a:latin typeface="Noto Sans SC"/>
                <a:ea typeface="Noto Sans SC"/>
                <a:cs typeface="Noto Sans SC"/>
              </a:rPr>
              <a:t>面对面沟通有助于统一任务范围、风险和验收标准</a:t>
            </a:r>
            <a:r>
              <a:rPr sz="1600" b="0" dirty="0">
                <a:solidFill>
                  <a:srgbClr val="5A6473"/>
                </a:solidFill>
                <a:latin typeface="Noto Sans SC"/>
                <a:ea typeface="Noto Sans SC"/>
                <a:cs typeface="Noto Sans SC"/>
              </a:rPr>
              <a:t>。</a:t>
            </a:r>
          </a:p>
        </p:txBody>
      </p:sp>
      <p:sp>
        <p:nvSpPr>
          <p:cNvPr id="6" name="矩形 5">
            <a:extLst>
              <a:ext uri="{FF2B5EF4-FFF2-40B4-BE49-F238E27FC236}">
                <a16:creationId xmlns:a16="http://schemas.microsoft.com/office/drawing/2014/main" id="{4B780A5C-4225-498D-A4F4-F7781F3446CE}"/>
              </a:ext>
            </a:extLst>
          </p:cNvPr>
          <p:cNvSpPr>
            <a:spLocks noGrp="1"/>
          </p:cNvSpPr>
          <p:nvPr/>
        </p:nvSpPr>
        <p:spPr>
          <a:xfrm>
            <a:off x="1016032" y="5454682"/>
            <a:ext cx="10160032" cy="12668"/>
          </a:xfrm>
          <a:prstGeom prst="rect">
            <a:avLst/>
          </a:prstGeom>
          <a:solidFill>
            <a:srgbClr val="DCE1E8"/>
          </a:solidFill>
          <a:ln w="0">
            <a:solidFill>
              <a:srgbClr val="DCE1E8"/>
            </a:solidFill>
            <a:prstDash val="solid"/>
          </a:ln>
        </p:spPr>
      </p:sp>
      <p:sp>
        <p:nvSpPr>
          <p:cNvPr id="7" name="矩形 6">
            <a:extLst>
              <a:ext uri="{FF2B5EF4-FFF2-40B4-BE49-F238E27FC236}">
                <a16:creationId xmlns:a16="http://schemas.microsoft.com/office/drawing/2014/main" id="{1AC91DEC-1C0D-456F-B540-BB08AF8DFEA9}"/>
              </a:ext>
            </a:extLst>
          </p:cNvPr>
          <p:cNvSpPr>
            <a:spLocks noGrp="1"/>
          </p:cNvSpPr>
          <p:nvPr/>
        </p:nvSpPr>
        <p:spPr>
          <a:xfrm>
            <a:off x="1016032" y="5689568"/>
            <a:ext cx="5715000" cy="285750"/>
          </a:xfrm>
          <a:prstGeom prst="rect">
            <a:avLst/>
          </a:prstGeom>
          <a:noFill/>
          <a:ln w="0">
            <a:noFill/>
            <a:prstDash val="solid"/>
          </a:ln>
        </p:spPr>
        <p:txBody>
          <a:bodyPr/>
          <a:lstStyle>
            <a:defPPr algn="l">
              <a:defRPr sz="1350" b="0">
                <a:solidFill>
                  <a:srgbClr val="788291"/>
                </a:solidFill>
                <a:latin typeface="Noto Sans SC"/>
                <a:ea typeface="Noto Sans SC"/>
                <a:cs typeface="Noto Sans SC"/>
              </a:defRPr>
            </a:defPPr>
          </a:lstStyle>
          <a:p>
            <a:pPr algn="l">
              <a:defRPr sz="1350" b="0">
                <a:solidFill>
                  <a:srgbClr val="788291"/>
                </a:solidFill>
                <a:latin typeface="Noto Sans SC"/>
                <a:ea typeface="Noto Sans SC"/>
                <a:cs typeface="Noto Sans SC"/>
              </a:defRPr>
            </a:pPr>
            <a:r>
              <a:rPr sz="1350" b="0">
                <a:solidFill>
                  <a:srgbClr val="788291"/>
                </a:solidFill>
                <a:latin typeface="Noto Sans SC"/>
                <a:ea typeface="Noto Sans SC"/>
                <a:cs typeface="Noto Sans SC"/>
              </a:rPr>
              <a:t>感谢老师和同学聆听。</a:t>
            </a:r>
          </a:p>
        </p:txBody>
      </p:sp>
    </p:spTree>
    <p:extLst>
      <p:ext uri="{BB962C8B-B14F-4D97-AF65-F5344CB8AC3E}">
        <p14:creationId xmlns:p14="http://schemas.microsoft.com/office/powerpoint/2010/main" val="146470828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TotalTime>
  <Words>797</Words>
  <Application>Microsoft Office PowerPoint</Application>
  <DocSecurity>0</DocSecurity>
  <PresentationFormat>宽屏</PresentationFormat>
  <Paragraphs>339</Paragraphs>
  <Slides>14</Slides>
  <Notes>14</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14</vt:i4>
      </vt:variant>
    </vt:vector>
  </HeadingPairs>
  <TitlesOfParts>
    <vt:vector size="17" baseType="lpstr">
      <vt:lpstr>Noto Sans SC</vt:lpstr>
      <vt:lpstr>Aptos</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L 刘</cp:lastModifiedBy>
  <cp:revision>7</cp:revision>
  <dcterms:created xsi:type="dcterms:W3CDTF">2026-10-16T02:00:38Z</dcterms:created>
  <dcterms:modified xsi:type="dcterms:W3CDTF">2026-10-16T05:25:34Z</dcterms:modified>
</cp:coreProperties>
</file>