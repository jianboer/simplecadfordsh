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  <p:sldMasterId id="2147483662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20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大家好，今天我们小组汇报讨论二：编写用户故事及其验收测试标准。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我们以多模态CAD智能生成系统为案例，将需求拆成5大目标、25个用户故事，并为每个故事编写了验收用例。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今天汇报约7分钟：任务说明和方法1分钟，5大需求目标4分钟，设计模式和总结2分钟。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先花30秒介绍我们的项目背景。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我们的项目叫SimpleCADforDSH，是运行在DeepSeek Harness里的智能CAD插件。用户用自然语言、图片或草图描述零件需求，系统自动生成可编辑的参数化CAD模型。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目标用户是设计学生、初级工程师和小制造团队，核心能力包括智能生成、资产检索、几何校验、参数化编辑和文件导出。右侧截图是我们实际运行的效果——一句话生成齿轮模型，几何和尺寸都自动校验通过。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先用30秒交代本次讨论的任务背景。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讨论目的：掌握用户故事编写方法和验收标准设计实践。讨论内容：以多模态CAD智能生成系统为案例做需求拆分。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执行过程：PO和ScrumMaster组织，按5大需求迭代拆分，故事和验收用例同步写，最后小组讨论定稿。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最终提交成果：25个用户故事加全套验收用例清单。接下来进入方法和成果展示。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在正式展示用户故事之前，先回顾一下编写方法。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用户故事遵循标准模板：作为一名某类用户，我希望达成某个目标，以便获得某种价值。关键是只讲用户价值，不写技术实现。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同时每个故事都要满足INVEST原则——独立、可协商、有价值、可估计、尺寸合理、可测试。这六条也是我们自检故事质量的标准。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整个项目拆解为5个需求目标，共25个用户故事。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REQ01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是多模态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智能生成，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个故事，覆盖文本、单视角、多视角图像生成以及查看可编辑参数。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REQ02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是资产检索与复用，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个故事，是故事数第二多的模块。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REQ03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质量检查只有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个故事，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REQ04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参数化编辑最多，有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个故事，涵盖从改参数到基础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特征操作。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REQ05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导出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个故事。接下来我们按目标分组，每个目标挑几个代表性故事详细展示。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【约40秒】第一个目标：多模态CAD智能生成，重点讲US01。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US01文本生成：挑两个用例讲——正常：输入长100宽80厚20板、中心孔10mm，尺寸偏差≤0.2mm；异常：缺厚度信息，系统指出缺失不自行猜测。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US02单图生成逻辑和文本一致，额外做视图间尺寸冲突校验，无比例尺时提示补充，一句话带过。US04查看可编辑参数是后续参数化编辑的基础，一句话。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【约35秒】第二个目标：资产检索与复用，重点讲US05。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US05文本检索：正常——输入法兰盘外径100mm6个螺栓孔，返回按相似度排序结果；空库——输入永动机齿轮组，返回空并提示未找到。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US06图像检索快速带：文件类型不支持时不发起检索。US08-10合并成一句：支持查看溯源、规格、版本三类资产信息，来源字段为空必须明确提示缺失。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【约30秒】第三个目标：自动质量检查，两个故事一起讲。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US11几何合法性：举两个例子——单一封闭实体通过；包含2个分离实体不通过。US12尺寸符合性：默认公差0.2mm，指定公差优先；公差内通过、超差不通过。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两关缺一不可：几何合法是前提，尺寸符合是合格线。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【约40秒】第四个目标：参数化编辑，10个故事最多，只挑两个典型。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US13修改关键尺寸：长度100改120其他不变；输入0或非数字拒绝保存——这是参数化编辑的代表。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US21撤销：最近一步可撤销，没有可撤销操作时提示——这是操作可逆的代表。其余8个——草图、打孔、倒角、模型树查看等，都是同类模式：非法输入拒绝、状态不残留，不逐一念。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【约25秒】第五个目标：文件导出，三个格式合并讲。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STEP是参数化CAD数据交换格式，用于外部CAD软件继续编辑；STL是三角网格，用于3D打印；GLB是WebGL二进制，用于网页展示。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验收三件事：文件能生成、外部软件能打开、打开后几何一致。没有有效模型不生成空文件。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回顾25个用户故事的验收用例，我们总结出四类必覆盖的场景。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第一类是正常路径——主流程必须走通，关键数值要有明确的验收标准，比如尺寸偏差不超过0.2mm。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第二类是异常输入——空输入、损坏文件、非法值，系统不能崩溃，要明确提示，而且原有状态不能被破坏。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第三类是边界与冲突——缺参数、尺寸矛盾、多视图冲突，系统不能自己猜，必须把问题暴露给用户。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第四类是状态一致性——改完参数模型要跟着变，撤销后模型树要同步，导出后几何不能变。这四类覆盖了，验收用例才算完整。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最后总结三条经验：不用And/Or、颗粒度不超过1个Sprint、只讲用户价值不写技术实现。一句话：用户故事和验收用例成对写，INVEST六条自检才算完成。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以上就是本次讨论产出的全部用户故事与验收标准，完整25个故事的详细用例见配套文档。汇报到这里，欢迎提问。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【可能被问到】1) 为什么这么拆分颗粒度？答：按单Sprint可完成、按用户价值拆分。2) 公差为什么0.2mm？答：参考机械加工常规精度，故事中可单独指定覆盖。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755DF1A-884C-422C-82CB-0EF528C3CB1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136FD04-287F-4EBD-AC1C-BE2926B6959C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A057E3C-81E0-4FC4-B513-F125F7DA0A1F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5D512A1-3716-438A-B896-7C61EC1688B4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86622F5-8B90-417E-A65B-05EAD06ED28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41B5603-5174-484B-89DE-66C1D37A1889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899B27E-6376-4587-855C-39DCD98441E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240A621-63DE-4B5F-AA3D-D8BD883FD9D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B03F161-B3D9-4016-910C-61FFEFF19EAF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BFED24B-BB0C-427E-B976-414B3FE975C4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14AA7FB-80AB-4558-ABCD-8BBF5D1A743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F56CC17-3978-4F3A-8BCE-4611FB7F07A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27C0C8C-D949-4EA7-B46B-4534EFB9A157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9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0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0DFCCAB-2DF5-4B9C-B371-D420C86E27A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92E06F1-E51F-45A6-835A-8A29137B3D6E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0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9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C6C7070-7CEB-4BC9-98EF-F6C13383AB9E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DDB3306-C343-478F-8837-AC3E1FCEA36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AA8C200-863D-4CCA-B87A-A2DAE5DC188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6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7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22355D-D8D7-42C5-A2E6-AB5DDCD8651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11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945DE63-E737-466D-A6F6-30F23F7510B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8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0E85152-29B9-4E05-A082-DCD7A2AB6A0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22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3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5FB7B67-84EF-43C1-901D-CA51060140C9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53EFCB8-4A0C-47E6-8077-09348921662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D7093F5-C0AC-4A0E-A465-C82DBF177AE9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11" r:id="rId1"/>
    <p:sldLayoutId id="2157483712" r:id="rId2"/>
    <p:sldLayoutId id="2157483713" r:id="rId3"/>
    <p:sldLayoutId id="2157483714" r:id="rId4"/>
    <p:sldLayoutId id="2157483715" r:id="rId5"/>
    <p:sldLayoutId id="2157483716" r:id="rId6"/>
    <p:sldLayoutId id="2157483717" r:id="rId7"/>
    <p:sldLayoutId id="2157483718" r:id="rId8"/>
    <p:sldLayoutId id="2157483719" r:id="rId9"/>
    <p:sldLayoutId id="2157483720" r:id="rId10"/>
    <p:sldLayoutId id="215748372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敏捷开发讨论课 · 讨论二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编写用户故事及其验收测试标准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以多模态 CAD 智能生成系统为例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28647">
            <a:off x="1016026" y="481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520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5 大需求目标 · 25 个用户故事 · 精选汇报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0" y="6223000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第十二组 · 汇报人：侯永森 · 2026年9月22日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654" r="654"/>
          <a:stretch>
            <a:fillRect/>
          </a:stretch>
        </p:blipFill>
        <p:spPr>
          <a:xfrm>
            <a:off x="10414000" y="190500"/>
            <a:ext cx="13970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54" r="654"/>
          <a:stretch>
            <a:fillRect/>
          </a:stretch>
        </p:blipFill>
        <p:spPr>
          <a:xfrm>
            <a:off x="10414000" y="190500"/>
            <a:ext cx="13970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· 项目简介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SimpleCADforDSH：智能参数化 CAD 生成检索插件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968500"/>
            <a:ext cx="533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349500"/>
            <a:ext cx="533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运行在 DeepSeek Harness 中的智能 CAD 插件，用户通过自然语言、图片或草图描述零件需求，自动生成可编辑、可验证、可导出的参数化 CAD 模型。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533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核心用户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5334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机械/工业设计学生 · 初级机械设计人员 · 有资产复用需求的小型制造团队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508500"/>
            <a:ext cx="533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五大核心能力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889500"/>
            <a:ext cx="533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多模态智能生成 · 企业资产检索复用 · 几何与尺寸 QA · 参数化编辑重建 · STEP/STL/GLB 导出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1968500"/>
            <a:ext cx="4826000" cy="3048000"/>
          </a:xfrm>
          <a:prstGeom prst="roundRect">
            <a:avLst>
              <a:gd name="adj" fmla="val 1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 l="5047" r="5047"/>
          <a:stretch>
            <a:fillRect/>
          </a:stretch>
        </p:blipFill>
        <p:spPr>
          <a:xfrm>
            <a:off x="6731000" y="2095500"/>
            <a:ext cx="4572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762000" y="6096000"/>
            <a:ext cx="5334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课程项目 · 敏捷开发实践 · 本次讨论聚焦用户故事与验收标准编写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DISCUSSION · 讨论任务说明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668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本次讨论做什么？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08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032000"/>
            <a:ext cx="4953000" cy="1778000"/>
          </a:xfrm>
          <a:prstGeom prst="roundRect">
            <a:avLst>
              <a:gd name="adj" fmla="val 571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311400"/>
            <a:ext cx="3048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489200"/>
            <a:ext cx="4445000" cy="3556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讨论目的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46400"/>
            <a:ext cx="44450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掌握敏捷用户故事的编写方法与验收测试标准的设计实践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032000"/>
            <a:ext cx="4953000" cy="1778000"/>
          </a:xfrm>
          <a:prstGeom prst="roundRect">
            <a:avLst>
              <a:gd name="adj" fmla="val 571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731000" y="2311400"/>
            <a:ext cx="3048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731000" y="2489200"/>
            <a:ext cx="4445000" cy="3556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讨论内容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731000" y="2946400"/>
            <a:ext cx="44450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基于多模态 CAD 智能生成系统需求，拆分并编写用户故事及配套验收测试用例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4953000" cy="1778000"/>
          </a:xfrm>
          <a:prstGeom prst="roundRect">
            <a:avLst>
              <a:gd name="adj" fmla="val 571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343400"/>
            <a:ext cx="3048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521200"/>
            <a:ext cx="4445000" cy="3556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执行过程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978400"/>
            <a:ext cx="44450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PO 与 ScrumMaster 组织 → 按 5 大需求迭代拆分 → 故事与验收用例同步编写 → 小组讨论优化定稿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4064000"/>
            <a:ext cx="4953000" cy="1778000"/>
          </a:xfrm>
          <a:prstGeom prst="roundRect">
            <a:avLst>
              <a:gd name="adj" fmla="val 5713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731000" y="4343400"/>
            <a:ext cx="3048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731000" y="4521200"/>
            <a:ext cx="4445000" cy="3556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提交成果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731000" y="4978400"/>
            <a:ext cx="44450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25 个用户故事 + 全套验收测试用例清单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6286500"/>
            <a:ext cx="10668000" cy="317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课堂讨论任务 · 敏捷开发实践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 l="654" r="654"/>
          <a:stretch>
            <a:fillRect/>
          </a:stretch>
        </p:blipFill>
        <p:spPr>
          <a:xfrm>
            <a:off x="10414000" y="190500"/>
            <a:ext cx="13970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METHOD · 编写方法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用户故事怎么写才合格？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08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03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标准模板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080000" cy="1524000"/>
          </a:xfrm>
          <a:prstGeom prst="roundRect">
            <a:avLst>
              <a:gd name="adj" fmla="val 666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730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作为一名 </a:t>
            </a: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&lt;用户类型&gt;</a:t>
            </a:r>
            <a:r>
              <a:rPr lang="en-US" sz="15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5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我希望 </a:t>
            </a: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&lt;达成目标&gt;</a:t>
            </a:r>
            <a:r>
              <a:rPr lang="en-US" sz="15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</a:p>
          <a:p>
            <a:pPr marL="0" indent="0" algn="l">
              <a:lnSpc>
                <a:spcPct val="133333"/>
              </a:lnSpc>
            </a:pPr>
            <a:r>
              <a:rPr lang="en-US" sz="15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以便 </a:t>
            </a: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&lt;获得价值&gt;</a:t>
            </a:r>
            <a:r>
              <a:rPr lang="en-US" sz="15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318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不包含技术实现细节，只描述用户价值；验收测试用例随故事一起定义，可测试才算写完。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03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INVEST 六原则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540000"/>
            <a:ext cx="508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marL="177800" indent="-177800" algn="l">
              <a:lnSpc>
                <a:spcPct val="150000"/>
              </a:lnSpc>
              <a:buClr>
                <a:srgbClr val="0D1326"/>
              </a:buClr>
              <a:buFont typeface="Arial"/>
              <a:buChar char="•"/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ndependent — 故事之间尽量解耦</a:t>
            </a:r>
            <a:endParaRPr lang="en-US" sz="1100"/>
          </a:p>
          <a:p>
            <a:pPr marL="177800" indent="-177800" algn="l">
              <a:lnSpc>
                <a:spcPct val="150000"/>
              </a:lnSpc>
              <a:buClr>
                <a:srgbClr val="0D1326"/>
              </a:buClr>
              <a:buFont typeface="Arial"/>
              <a:buChar char="•"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N</a:t>
            </a: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egotiable — 可协商，不是合同条款</a:t>
            </a:r>
          </a:p>
          <a:p>
            <a:pPr marL="177800" indent="-177800" algn="l">
              <a:lnSpc>
                <a:spcPct val="150000"/>
              </a:lnSpc>
              <a:buClr>
                <a:srgbClr val="0D1326"/>
              </a:buClr>
              <a:buFont typeface="Arial"/>
              <a:buChar char="•"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V</a:t>
            </a: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aluable — 对用户有明确价值</a:t>
            </a:r>
          </a:p>
          <a:p>
            <a:pPr marL="177800" indent="-177800" algn="l">
              <a:lnSpc>
                <a:spcPct val="150000"/>
              </a:lnSpc>
              <a:buClr>
                <a:srgbClr val="0D1326"/>
              </a:buClr>
              <a:buFont typeface="Arial"/>
              <a:buChar char="•"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E</a:t>
            </a: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stimable — 可以估算工作量</a:t>
            </a:r>
          </a:p>
          <a:p>
            <a:pPr marL="177800" indent="-177800" algn="l">
              <a:lnSpc>
                <a:spcPct val="150000"/>
              </a:lnSpc>
              <a:buClr>
                <a:srgbClr val="0D1326"/>
              </a:buClr>
              <a:buFont typeface="Arial"/>
              <a:buChar char="•"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</a:t>
            </a: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ized-Right — 足够小，一个迭代可完成</a:t>
            </a:r>
          </a:p>
          <a:p>
            <a:pPr marL="177800" indent="-177800" algn="l">
              <a:lnSpc>
                <a:spcPct val="150000"/>
              </a:lnSpc>
              <a:buClr>
                <a:srgbClr val="0D1326"/>
              </a:buClr>
              <a:buFont typeface="Arial"/>
              <a:buChar char="•"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</a:t>
            </a: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estable — 有明确验收标准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6223000"/>
            <a:ext cx="1066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来源：课堂讨论任务说明 · 敏捷开发用户故事编写实践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 l="654" r="654"/>
          <a:stretch>
            <a:fillRect/>
          </a:stretch>
        </p:blipFill>
        <p:spPr>
          <a:xfrm>
            <a:off x="10414000" y="190500"/>
            <a:ext cx="13970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OVERVIEW · 需求全景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25 个用户故事如何对应 5 大需求？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08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2032000"/>
          <a:ext cx="10668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编号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需求目标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故事数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故事区间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REQ01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多模态 CAD 智能生成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文本 / 图像多方式输入，生成参数化模型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US01–04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REQ02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CAD 资产智能检索与复用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文本 / 图像检索已有资产，查看溯源规格版本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US05–10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REQ03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CAD 模型自动质量检查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几何合法性 + 关键尺寸符合性自动校验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US11–12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REQ04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参数化编辑与模型重建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改参数、重生成、草图、特征操作、撤销与模型树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US13–22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REQ05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CAD 文件导出与兼容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STEP / STL / GLB 三种主流格式导出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US23–25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6223000"/>
            <a:ext cx="1066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共 5 大需求目标 · 25 个用户故事 · 下文按目标分组精选汇报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654" r="654"/>
          <a:stretch>
            <a:fillRect/>
          </a:stretch>
        </p:blipFill>
        <p:spPr>
          <a:xfrm>
            <a:off x="10414000" y="190500"/>
            <a:ext cx="13970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GOAL G1 · 多模态 CAD 智能生成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128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从不同输入到参数化模型：三条路径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43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US01 · 文本描述生成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844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作为初级设计人员，我希望用自然语言描述生成零件模型，减少从零绘图的重复工作。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2004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输入"长100宽80厚20板，中心孔10mm" → 生成模型，尺寸偏差≤0.2mm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异常：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缺厚度信息 → 系统指出缺失，不自行猜测</a:t>
            </a:r>
          </a:p>
        </p:txBody>
      </p:sp>
      <p:cxnSp>
        <p:nvCxnSpPr>
          <p:cNvPr id="8" name="Connector 8"/>
          <p:cNvCxnSpPr/>
          <p:nvPr/>
        </p:nvCxnSpPr>
        <p:spPr>
          <a:xfrm rot="5387722">
            <a:off x="25400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572000" y="1778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US02 · 单视角图像生成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184400"/>
            <a:ext cx="3302000" cy="889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作为初级设计人员，我希望上传一张零件图生成三维模型，把参考图快速转为可编辑模型。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2004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上传标注尺寸的支撑板图 → 生成对应模型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异常：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无尺寸比例尺 → 提示补充尺寸，不拿像素当实际尺寸</a:t>
            </a:r>
          </a:p>
        </p:txBody>
      </p:sp>
      <p:cxnSp>
        <p:nvCxnSpPr>
          <p:cNvPr id="12" name="Connector 12"/>
          <p:cNvCxnSpPr/>
          <p:nvPr/>
        </p:nvCxnSpPr>
        <p:spPr>
          <a:xfrm rot="5387722">
            <a:off x="63500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382000" y="1778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US04 · 查看可编辑参数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1844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作为初级设计人员，我希望查看生成模型的关键尺寸，确认它具备后续参数化编辑基础。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2004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支撑板参数区显示长/宽/厚/孔径，数值与模型一致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约束：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参数必须可进入编辑状态，不是只读文本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461000"/>
            <a:ext cx="10668000" cy="508000"/>
          </a:xfrm>
          <a:prstGeom prst="roundRect">
            <a:avLst>
              <a:gd name="adj" fmla="val 1500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5626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共性设计原则：</a:t>
            </a: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缺信息必须显式提示，不自行猜测；尺寸冲突必须暴露，不静默取一个值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6286500"/>
            <a:ext cx="1066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同组还包含 US03 多视角图像生成（视图间尺寸冲突校验）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 l="654" r="654"/>
          <a:stretch>
            <a:fillRect/>
          </a:stretch>
        </p:blipFill>
        <p:spPr>
          <a:xfrm>
            <a:off x="10414000" y="190500"/>
            <a:ext cx="13970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GOAL G2 · CAD 资产智能检索与复用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128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找到可复用的资产，并且知道它从哪来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43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US05 · 文本检索相似 CAD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84400"/>
            <a:ext cx="3302000" cy="889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作为资深设计工程师，我希望用自然语言描述检索相似模型，提高已有资产复用效率。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2004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输入"法兰盘 外径100mm 6个螺栓孔" → 返回按相似度排序的结果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空库：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输入"永动机齿轮组" → 返回空结果，提示未找到</a:t>
            </a:r>
          </a:p>
        </p:txBody>
      </p:sp>
      <p:cxnSp>
        <p:nvCxnSpPr>
          <p:cNvPr id="8" name="Connector 8"/>
          <p:cNvCxnSpPr/>
          <p:nvPr/>
        </p:nvCxnSpPr>
        <p:spPr>
          <a:xfrm rot="5387722">
            <a:off x="25400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572000" y="1778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US06 · 单张图像检索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184400"/>
            <a:ext cx="3302000" cy="889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作为资深设计工程师，我希望上传一张零件图检索相似模型，在只有参考图时快速定位资产。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2004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上传清晰齿轮图 → 返回对应齿轮模型，按视觉相似度排序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异常：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上传非图像文件 → 提示类型不支持，不发起检索</a:t>
            </a:r>
          </a:p>
        </p:txBody>
      </p:sp>
      <p:cxnSp>
        <p:nvCxnSpPr>
          <p:cNvPr id="12" name="Connector 12"/>
          <p:cNvCxnSpPr/>
          <p:nvPr/>
        </p:nvCxnSpPr>
        <p:spPr>
          <a:xfrm rot="5387722">
            <a:off x="63500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382000" y="1778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US08 · 查看溯源信息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184400"/>
            <a:ext cx="3302000" cy="889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作为资深设计工程师，我希望查看模型溯源信息，评估来源可靠性后再决定是否复用。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2004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来源信息完整 → 界面准确展示，与后台一致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缺失：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来源字段为空 → 显示明确缺失提示，不隐藏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461000"/>
            <a:ext cx="10668000" cy="508000"/>
          </a:xfrm>
          <a:prstGeom prst="roundRect">
            <a:avLst>
              <a:gd name="adj" fmla="val 1500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5626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检索设计原则：</a:t>
            </a: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返回结果必须排序；空结果必须明确提示；检索状态切换不得残留上一次结果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6286500"/>
            <a:ext cx="1066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同组还包含 US07 多图检索、US09 规格信息、US10 版本信息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 l="654" r="654"/>
          <a:stretch>
            <a:fillRect/>
          </a:stretch>
        </p:blipFill>
        <p:spPr>
          <a:xfrm>
            <a:off x="10414000" y="190500"/>
            <a:ext cx="13970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GOAL G3 · CAD 模型自动质量检查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128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两道自动关卡：几何对不对，尺寸准不准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43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US11 · 几何合法性检查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作为初级设计人员，我希望查看几何合法性检查结果，在后续使用前识别不可用模型。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62000" y="3175000"/>
          <a:ext cx="5080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预期结论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单一封闭有效实体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28B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包含 2 个分离实体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未通过 · 非单一实体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存在开口几何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未通过 · 不封闭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编辑后重新检查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基于最新模型生成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" name="Connector 8"/>
          <p:cNvCxnSpPr/>
          <p:nvPr/>
        </p:nvCxnSpPr>
        <p:spPr>
          <a:xfrm rot="5388540">
            <a:off x="4318000" y="3803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477000" y="1905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US12 · 尺寸符合性检查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349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作为初级设计人员，我希望查看关键尺寸符合性结果，确认模型满足设计尺寸要求。</a:t>
            </a:r>
            <a:endParaRPr lang="en-US" sz="1100"/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477000" y="3175000"/>
          <a:ext cx="4953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预期结论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实测值在公差 0.2mm 内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28B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 实测 100.3mm（公差0.2）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未通过 · X 超差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单独指定公差 0.5mm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使用指定公差判定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默认公差口径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0.2mm（未单独指定时）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AutoShape 12"/>
          <p:cNvSpPr/>
          <p:nvPr/>
        </p:nvSpPr>
        <p:spPr>
          <a:xfrm>
            <a:off x="762000" y="6286500"/>
            <a:ext cx="1066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质量检查两关缺一不可：几何合法是前提，尺寸符合是合格线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 l="654" r="654"/>
          <a:stretch>
            <a:fillRect/>
          </a:stretch>
        </p:blipFill>
        <p:spPr>
          <a:xfrm>
            <a:off x="10414000" y="190500"/>
            <a:ext cx="13970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GOAL G4 · 参数化编辑与模型重建（10 个故事，精选 4 个）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128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从改参数到基础特征操作，覆盖完整编辑链路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43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US13 · 修改关键尺寸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844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修改现有模型关键尺寸参数，快速调整设计。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11500"/>
            <a:ext cx="254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长度100→120，其他参数不变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异常：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输入0 → 拒绝保存</a:t>
            </a:r>
          </a:p>
          <a:p>
            <a:pPr marL="0" indent="0" algn="l">
              <a:lnSpc>
                <a:spcPct val="141666"/>
              </a:lnSpc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异常：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输入非数字 → 格式错误</a:t>
            </a:r>
          </a:p>
        </p:txBody>
      </p:sp>
      <p:cxnSp>
        <p:nvCxnSpPr>
          <p:cNvPr id="8" name="Connector 8"/>
          <p:cNvCxnSpPr/>
          <p:nvPr/>
        </p:nvCxnSpPr>
        <p:spPr>
          <a:xfrm rot="5387722">
            <a:off x="17145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683000" y="1778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US15 · 创建矩形轮廓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83000" y="21844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在工作面板创建二维矩形，作为实体建模基础。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3111500"/>
            <a:ext cx="254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创建100×80矩形，闭合轮廓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异常：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输入长度0 → 不创建错误轮廓</a:t>
            </a:r>
          </a:p>
        </p:txBody>
      </p:sp>
      <p:cxnSp>
        <p:nvCxnSpPr>
          <p:cNvPr id="12" name="Connector 12"/>
          <p:cNvCxnSpPr/>
          <p:nvPr/>
        </p:nvCxnSpPr>
        <p:spPr>
          <a:xfrm rot="5387722">
            <a:off x="46355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04000" y="1778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US17 · 创建贯穿孔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21844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在实体指定位置创建贯穿孔，完成安装孔设计。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3111500"/>
            <a:ext cx="254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上表面中心开10mm贯穿孔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约束：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开孔后外形尺寸保持不变</a:t>
            </a:r>
          </a:p>
        </p:txBody>
      </p:sp>
      <p:cxnSp>
        <p:nvCxnSpPr>
          <p:cNvPr id="16" name="Connector 16"/>
          <p:cNvCxnSpPr/>
          <p:nvPr/>
        </p:nvCxnSpPr>
        <p:spPr>
          <a:xfrm rot="5387722">
            <a:off x="75565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9525000" y="17780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US21 · 撤销操作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0" y="21844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撤销最近一次编辑，快速恢复到前一状态。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0" y="3111500"/>
            <a:ext cx="203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撤销开孔 → 恢复无孔状态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空栈：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无可撤销 → 提示无内容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10668000" cy="508000"/>
          </a:xfrm>
          <a:prstGeom prst="roundRect">
            <a:avLst>
              <a:gd name="adj" fmla="val 1500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55626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编辑类故事验收共性：</a:t>
            </a: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非法输入拒绝执行且保持原状态；操作成功后模型几何与参数同步更新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6286500"/>
            <a:ext cx="1066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同组还包含 US14 重生成、US16 拉伸、US18 布尔并集、US19 圆角、US20 倒角、US22 模型树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 l="654" r="654"/>
          <a:stretch>
            <a:fillRect/>
          </a:stretch>
        </p:blipFill>
        <p:spPr>
          <a:xfrm>
            <a:off x="10414000" y="190500"/>
            <a:ext cx="13970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GOAL G5 · CAD 文件导出与兼容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128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三种主流格式，各有各的用途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43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US23 · 导出 STEP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导出 STEP 文件，在外部 CAD 软件中继续编辑使用。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330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用途：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参数化 CAD 数据交换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导出 .step 文件，大小非 0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验证：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FreeCAD 打开正常，几何一致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异常：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无有效模型 → 不生成空文件</a:t>
            </a:r>
          </a:p>
        </p:txBody>
      </p:sp>
      <p:cxnSp>
        <p:nvCxnSpPr>
          <p:cNvPr id="8" name="Connector 8"/>
          <p:cNvCxnSpPr/>
          <p:nvPr/>
        </p:nvCxnSpPr>
        <p:spPr>
          <a:xfrm rot="5387267">
            <a:off x="2603500" y="3613162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572000" y="190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US24 · 导出 STL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413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导出 STL 文件，在网格模型软件中使用。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302000"/>
            <a:ext cx="330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用途：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3D 打印 / 快速原型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导出 .stl 文件，大小非 0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验证：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STL 查看工具打开正常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异常：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无有效模型 → 不生成空文件</a:t>
            </a:r>
          </a:p>
        </p:txBody>
      </p:sp>
      <p:cxnSp>
        <p:nvCxnSpPr>
          <p:cNvPr id="12" name="Connector 12"/>
          <p:cNvCxnSpPr/>
          <p:nvPr/>
        </p:nvCxnSpPr>
        <p:spPr>
          <a:xfrm rot="5387267">
            <a:off x="6413500" y="3613162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382000" y="190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US25 · 导出 GLB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413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导出 GLB 文件，在三维查看环境中展示模型。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302000"/>
            <a:ext cx="330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用途：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Web / 移动端三维展示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正常：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导出 .glb 文件，大小非 0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验证：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GLB 查看工具加载正常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异常：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无有效模型 → 不生成空文件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461000"/>
            <a:ext cx="10668000" cy="508000"/>
          </a:xfrm>
          <a:prstGeom prst="roundRect">
            <a:avLst>
              <a:gd name="adj" fmla="val 1500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5626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导出验收三要素：</a:t>
            </a:r>
            <a:r>
              <a:rPr lang="en-US" sz="13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文件能生成 · 外部软件能打开 · 几何与导出前一致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rcRect l="654" r="654"/>
          <a:stretch>
            <a:fillRect/>
          </a:stretch>
        </p:blipFill>
        <p:spPr>
          <a:xfrm>
            <a:off x="10414000" y="190500"/>
            <a:ext cx="13970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DESIGN PATTERN · 验收用例设计模式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128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每个故事的验收用例都覆盖这四类场景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43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68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0066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正常路径 — 主流程必须走通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4130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合法输入 → 正确输出，关键数值可校验（如尺寸偏差 ≤ 0.2mm）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092">
            <a:off x="762004" y="2978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3175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51000" y="32131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异常输入 — 系统不能崩，要明确提示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36195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空输入、损坏文件、非法数值、非数字 → 拒绝执行，原有状态不被破坏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092">
            <a:off x="762004" y="418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62000" y="438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4196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边界与冲突 — 不猜，要问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51000" y="48260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缺参数、尺寸矛盾、多视图冲突 → 系统指出问题，用户确认前不自行取值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5391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62000" y="5588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651000" y="56261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状态一致性 — 改完要对上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51000" y="60325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编辑后重新检查、撤销后模型树同步、导出后几何不变 — 状态前后自洽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rcRect l="654" r="654"/>
          <a:stretch>
            <a:fillRect/>
          </a:stretch>
        </p:blipFill>
        <p:spPr>
          <a:xfrm>
            <a:off x="10414000" y="190500"/>
            <a:ext cx="13970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 · 经验总结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2065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三条编写经验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8646">
            <a:off x="1016026" y="2025650"/>
            <a:ext cx="15240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2413000"/>
            <a:ext cx="508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451100"/>
            <a:ext cx="952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不用 And / Or — 分支词就是拆信号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2857500"/>
            <a:ext cx="952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故事里出现 And 或 Or，说明藏了两个任务，必须拆成两个 Story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92500"/>
            <a:ext cx="508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51000" y="3530600"/>
            <a:ext cx="952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颗粒度不超过 1 个 Sprint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3937000"/>
            <a:ext cx="952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太大的故事继续拆，小到一个迭代能做完，才好估时和排期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572000"/>
            <a:ext cx="508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651000" y="4610100"/>
            <a:ext cx="952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只讲用户价值，不写技术实现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5016500"/>
            <a:ext cx="952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技术、框架、算法留给 Task；User Story 只描述用户为什么需要它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296">
            <a:off x="1016004" y="5708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016000" y="5969000"/>
            <a:ext cx="914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用户故事与验收用例成对编写 · INVEST 六条自检 · 才算完成；完整 25 个故事的详细用例见配套文档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 l="654" r="654"/>
          <a:stretch>
            <a:fillRect/>
          </a:stretch>
        </p:blipFill>
        <p:spPr>
          <a:xfrm>
            <a:off x="10414000" y="190500"/>
            <a:ext cx="13970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1458</Words>
  <Application>Microsoft Office PowerPoint</Application>
  <PresentationFormat>宽屏</PresentationFormat>
  <Paragraphs>265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Noto Sans SC</vt:lpstr>
      <vt:lpstr>Songti SC</vt:lpstr>
      <vt:lpstr>Arial</vt:lpstr>
      <vt:lpstr>Office 主题​​</vt:lpstr>
      <vt:lpstr>默认主题</vt:lpstr>
      <vt:lpstr>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翊航 严</cp:lastModifiedBy>
  <cp:revision>1</cp:revision>
  <dcterms:modified xsi:type="dcterms:W3CDTF">2026-09-21T14:12:32Z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{"Label":"1","ContentProducer":"001191110102MACQD9K64010000","ProduceID":"7687990715922713822","ReservedCode1":"","ContentPropagator":"","PropagateID":"","ReservedCode2":""}</vt:lpwstr>
  </property>
</Properties>
</file>