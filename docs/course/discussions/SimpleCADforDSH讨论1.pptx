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</p:sldMasterIdLst>
  <p:notesMasterIdLst>
    <p:notesMasterId r:id="rId13"/>
  </p:notesMasterIdLst>
  <p:sldIdLst>
    <p:sldId id="256" r:id="rId4"/>
    <p:sldId id="259" r:id="rId5"/>
    <p:sldId id="257" r:id="rId6"/>
    <p:sldId id="258" r:id="rId7"/>
    <p:sldId id="263" r:id="rId8"/>
    <p:sldId id="262" r:id="rId9"/>
    <p:sldId id="264" r:id="rId10"/>
    <p:sldId id="261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00" y="2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这不是概念图，而是我们本地跑通的真实结果。以 20 齿直齿轮为例：输入一句描述后，系统生成参数化源码和三维模型，实测尺寸 44×44×12 毫米与预期完全一致，单实体、水密、几何有效三项 QA 全部通过，并导出 STEP 和 GLB。右侧参数可以直接在面板修改并自动重建。技术上基于 Node.js、Python build123d 和 DeepSeek API，严格遵守 dsh 官方插件契约。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 CAD 领域存在三个结构性痛点：软件门槛高、重复建模繁重、历史资产沉睡。右侧是传统 SOLIDWORKS 的界面，功能区非常密集，新手往往要数百小时练习。SimpleCADforDSH 面向三类核心用户：学生用自然语言快速生成零件，初级设计人员减少重复劳动，小型制造团队把沉睡的历史资产重新用起来。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这是项目的核心架构。用户输入自然语言后，brief 工具先把描述锁定为结构化工程参数；gen 工具生成 build123d 参数化脚本；几何 QA 做单实体、水密和 0.2 毫米尺寸公差校验；随后在同窗口面板呈现，用户改参数即可重建并导出 STEP、STL、GLB。虚线是闭环回路：QA 不通过就回到生成。下方四个支点分别对应参数化建模、零件库检索、可插拔生成器和一体化面板。整个插件遵守 dsh 官方契约，不修改平台源码。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53044-2839-D4BE-C964-7B3C14C81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37A590-7B3E-D24A-1A9D-02CC85944FD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D60E23-D076-6B62-34CD-18084CE0217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9639FBF-FA70-9327-041B-CB0EFBCDE6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0EF7249-C100-2F42-8E68-06D200C8D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这是项目的核心架构。用户输入自然语言后，brief 工具先把描述锁定为结构化工程参数；gen 工具生成 build123d 参数化脚本；几何 QA 做单实体、水密和 0.2 毫米尺寸公差校验；随后在同窗口面板呈现，用户改参数即可重建并导出 STEP、STL、GLB。虚线是闭环回路：QA 不通过就回到生成。下方四个支点分别对应参数化建模、零件库检索、可插拔生成器和一体化面板。整个插件遵守 dsh 官方契约，不修改平台源码。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CCF00-8F30-39D4-26E9-10ADB2AE68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6E86E3-8A5F-69C8-DC29-344A84F80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68807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团队按 Scrum 组建：一名 PO 把控需求和验收，一名 Scrum Master 保障节奏，下设生成检索、FreeCAD 迁移、集成三个小组，共 8 人。外部我们识别了五类干系人：最终用户关心准确和兼容，平台方关心规范和资源消耗，信息安全关心本地化和合规，资助方关心商业价值，未来维护者关心代码和文档质量；高影响高利益的干系人早期介入共同决策。最后用四句话概括我们的项目理念，并留下两个讨论问题，欢迎大家提问，谢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E500A-8717-2365-40C1-1EE8D6588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B8D7A1-0355-792C-BCF5-800DEE9926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78378-D761-BD69-50CA-AE8EAA866B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EE91963-600C-7BFB-049B-B53382769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57D948-0882-33C8-58B4-21C2425D4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这一页是项目章程，它以项目目标、一期边界和分工为依据，分三块。第一块是假设与约束：四项假设要在对应任务开始前确认，六条实施约束保证范围不蔓延，特别是 G1、G2、G5 必须项不能被增强功能挤占。第二块是四类关键依赖和跟进责任，联调前必须冻结跨组接口。第三块是治理规则：PO 管范围和验收，Scrum Master 管节奏和风险，范围变更走五步流程，材料统一归档到 docs/course；最终验收严格对照 G1 到 G6 的标准做实际验证。底部是风险治理原则，与上一页的风险应对相互呼应。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D3519-EFB3-7076-95CD-A4A70D5EA35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96DE8-763D-00CB-8A95-FAEE42B48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16787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这一页是项目章程，它以项目目标、一期边界和分工为依据，分三块。第一块是假设与约束：四项假设要在对应任务开始前确认，六条实施约束保证范围不蔓延，特别是 G1、G2、G5 必须项不能被增强功能挤占。第二块是四类关键依赖和跟进责任，联调前必须冻结跨组接口。第三块是治理规则：PO 管范围和验收，Scrum Master 管节奏和风险，范围变更走五步流程，材料统一归档到 docs/course；最终验收严格对照 G1 到 G6 的标准做实际验证。底部是风险治理原则，与上一页的风险应对相互呼应。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0F8F9-F793-7E04-C7C0-A44333ACD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413B8A-A724-2B65-A4DA-DACBAA62E3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5E7BDD-5672-787D-7D4F-4CDAFCABA4F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DD0FD54-5FEC-6860-9AE3-ECCF415B9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57DCBC8-F860-92F5-E053-B4B49FDA3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5C023-8BE0-73DE-C2A9-370DEC6D29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380F0-9CFB-CD7E-9754-82E8C533A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446617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subtitle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8B10C73-84F7-4C24-B227-50312ECCCD1F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9DD5055-B168-420F-8D39-5CA02CBFD9A3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03F326C-4764-411A-9382-8FA55525B5A9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2C328F6D-9B09-4040-A1A5-31287B77DBA6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39F8EFB1-2C16-440C-81A0-78C737F097EF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B1E0E7BC-54E6-4AED-A2E6-619C8CB5804A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BE1CDF0-57B4-4EEC-9411-0E9B22EA960D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FE314CC9-4338-4B45-AD18-B24719BEC5AB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72EE103-F6E6-4999-8BB0-8AC7966E36C3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ED7F673A-C1BF-4C9D-99D3-E8BB9BD9BA2C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2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CB71CB00-C15C-453B-A363-062F65ED37CE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title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Click to add text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Date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 panose="020B0604020202090204"/>
              </a:defRPr>
            </a:lvl1pPr>
          </a:lstStyle>
          <a:p>
            <a:pPr marL="0" indent="0" algn="r">
              <a:lnSpc>
                <a:spcPct val="100000"/>
              </a:lnSpc>
            </a:pPr>
            <a:fld id="{723148EC-6F04-4193-92E5-6148883E0E68}" type="slidenum">
              <a:rPr sz="900" b="0" i="0" u="none" strike="noStrik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​</a:t>
            </a:fld>
            <a:endParaRPr sz="900" b="0" i="0" u="none" strike="noStrike">
              <a:solidFill>
                <a:srgbClr val="888888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63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71433">
                  <a:alpha val="92000"/>
                </a:srgbClr>
              </a:gs>
              <a:gs pos="55000">
                <a:srgbClr val="071433">
                  <a:alpha val="70000"/>
                </a:srgbClr>
              </a:gs>
              <a:gs pos="100000">
                <a:srgbClr val="071433">
                  <a:alpha val="2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/>
          <p:cNvCxnSpPr/>
          <p:nvPr/>
        </p:nvCxnSpPr>
        <p:spPr>
          <a:xfrm rot="-71609">
            <a:off x="812866" y="1492250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96E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524000" y="13208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讨论</a:t>
            </a:r>
            <a:r>
              <a:rPr lang="en-US" sz="1300" b="0" i="0" u="none" strike="noStrike" dirty="0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 1 · </a:t>
            </a:r>
            <a:r>
              <a:rPr lang="en-US" sz="1300" b="0" i="0" u="none" strike="noStrike" dirty="0" err="1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软件开发梦想秀</a:t>
            </a:r>
            <a:r>
              <a:rPr lang="en-US" sz="1300" b="0" i="0" u="none" strike="noStrike" dirty="0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300" b="0" i="0" u="none" strike="noStrike" dirty="0" err="1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软件工程与项目管理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87400" y="1981200"/>
            <a:ext cx="7112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SimpleCADforDSH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812800" y="3048000"/>
            <a:ext cx="70612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 dirty="0" err="1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面向</a:t>
            </a:r>
            <a:r>
              <a:rPr lang="en-US" sz="2000" b="1" i="0" u="none" strike="noStrike" dirty="0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 DeepSeek Harness </a:t>
            </a:r>
            <a:r>
              <a:rPr lang="en-US" sz="2000" b="1" i="0" u="none" strike="noStrike" dirty="0" err="1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的智能参数化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 dirty="0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CAD </a:t>
            </a:r>
            <a:r>
              <a:rPr lang="en-US" sz="2000" b="1" i="0" u="none" strike="noStrike" dirty="0" err="1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生成检索插件</a:t>
            </a:r>
            <a:endParaRPr lang="en-US" sz="2000" b="1" i="0" u="none" strike="noStrike" dirty="0">
              <a:solidFill>
                <a:srgbClr val="D4E5F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-6930">
            <a:off x="812806" y="4159250"/>
            <a:ext cx="629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B2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10"/>
          <p:cNvCxnSpPr/>
          <p:nvPr/>
        </p:nvCxnSpPr>
        <p:spPr>
          <a:xfrm rot="-4131">
            <a:off x="812804" y="5937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B2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12799" y="4864101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8FB0D6"/>
                </a:solidFill>
                <a:latin typeface="Noto Sans SC"/>
                <a:sym typeface="Noto Sans SC"/>
              </a:rPr>
              <a:t>第</a:t>
            </a:r>
            <a:r>
              <a:rPr lang="en-US" altLang="zh-CN" sz="1200" dirty="0">
                <a:solidFill>
                  <a:srgbClr val="8FB0D6"/>
                </a:solidFill>
                <a:latin typeface="Noto Sans SC"/>
                <a:sym typeface="Noto Sans SC"/>
              </a:rPr>
              <a:t>12</a:t>
            </a:r>
            <a:r>
              <a:rPr lang="zh-CN" altLang="en-US" sz="1200" dirty="0">
                <a:solidFill>
                  <a:srgbClr val="8FB0D6"/>
                </a:solidFill>
                <a:latin typeface="Noto Sans SC"/>
                <a:sym typeface="Noto Sans SC"/>
              </a:rPr>
              <a:t>组</a:t>
            </a:r>
            <a:endParaRPr lang="en-US" altLang="zh-CN" sz="1200" dirty="0">
              <a:solidFill>
                <a:srgbClr val="8FB0D6"/>
              </a:solidFill>
              <a:latin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8FB0D6"/>
                </a:solidFill>
                <a:latin typeface="Noto Sans SC"/>
                <a:sym typeface="Noto Sans SC"/>
              </a:rPr>
              <a:t>汇报人：李健博</a:t>
            </a:r>
            <a:endParaRPr lang="en-US" altLang="zh-CN" sz="1200" dirty="0">
              <a:solidFill>
                <a:srgbClr val="8FB0D6"/>
              </a:solidFill>
              <a:latin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8FB0D6"/>
                </a:solidFill>
                <a:latin typeface="Noto Sans SC"/>
                <a:sym typeface="Noto Sans SC"/>
              </a:rPr>
              <a:t>小组成员：严翊航、庞佳泽、许祖嘉、常诚、余智皓、侯永森、刘子轩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112000" y="6096000"/>
            <a:ext cx="426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FB0D6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github.com/jianboer/SimpleCADforDSH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06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1100" b="1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 ｜ </a:t>
            </a:r>
            <a:r>
              <a:rPr lang="en-US" sz="1100" b="1" i="0" u="none" strike="noStrike" dirty="0" err="1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产品</a:t>
            </a:r>
            <a:r>
              <a:rPr lang="zh-CN" alt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原型展示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11200" y="685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defRPr/>
            </a:pPr>
            <a:r>
              <a:rPr lang="en-US" altLang="zh-CN" sz="2300" b="1" i="0" u="none" strike="noStrike" dirty="0" err="1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</a:t>
            </a:r>
            <a:r>
              <a:rPr lang="zh-CN" altLang="en-US" sz="23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zh-CN" dirty="0"/>
              <a:t>A parametric CAD model generation and retrieval plugin based on the deepseek harness framework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289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49" r="49"/>
          <a:stretch>
            <a:fillRect/>
          </a:stretch>
        </p:blipFill>
        <p:spPr>
          <a:xfrm>
            <a:off x="767862" y="1435100"/>
            <a:ext cx="6807200" cy="3721100"/>
          </a:xfrm>
          <a:prstGeom prst="rect">
            <a:avLst/>
          </a:prstGeom>
          <a:noFill/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11200" y="5257800"/>
            <a:ext cx="6807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</a:t>
            </a:r>
            <a:r>
              <a:rPr lang="en-US" sz="10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0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同窗口工作面板：对话</a:t>
            </a:r>
            <a:r>
              <a:rPr lang="en-US" sz="10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｜ 3D </a:t>
            </a:r>
            <a:r>
              <a:rPr lang="en-US" sz="10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r>
              <a:rPr lang="en-US" sz="10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0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参数与</a:t>
            </a:r>
            <a:r>
              <a:rPr lang="en-US" sz="1000" b="0" i="0" u="none" strike="noStrik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QA </a:t>
            </a:r>
            <a:r>
              <a:rPr lang="en-US" sz="1000" b="0" i="0" u="none" strike="noStrik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11200" y="5511800"/>
            <a:ext cx="68072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823200" y="1473200"/>
            <a:ext cx="3657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实测样例：spur_gear 直齿轮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1936">
            <a:off x="7823211" y="1822450"/>
            <a:ext cx="3657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3200" y="1981200"/>
            <a:ext cx="177800" cy="177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102600" y="1930400"/>
            <a:ext cx="3378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设计参数：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20 齿渐开线，模数 2、压力角 20°、外径 Ø44、齿宽 12 mm、中心孔 Ø10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3200" y="2616200"/>
            <a:ext cx="177800" cy="177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102600" y="2565400"/>
            <a:ext cx="3378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尺寸实测：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44×44×12 mm，与预期一致（公差 0.2 mm 内）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3200" y="3124200"/>
            <a:ext cx="177800" cy="177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102600" y="3073400"/>
            <a:ext cx="3378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QA 结论：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单实体、水密、几何有效均通过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3200" y="3632200"/>
            <a:ext cx="177800" cy="177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102600" y="3581400"/>
            <a:ext cx="3378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交付产物：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参数化源码 step.py，导出 STEP 与 GLB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3200" y="4140200"/>
            <a:ext cx="177800" cy="177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102600" y="4089400"/>
            <a:ext cx="3378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100" b="1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参数编辑：</a:t>
            </a:r>
            <a:r>
              <a:rPr lang="en-US" sz="11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面板直改长宽高与孔径，自动重建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823200" y="4699000"/>
            <a:ext cx="3657600" cy="1219200"/>
          </a:xfrm>
          <a:prstGeom prst="roundRect">
            <a:avLst>
              <a:gd name="adj" fmla="val 0"/>
            </a:avLst>
          </a:prstGeom>
          <a:solidFill>
            <a:srgbClr val="F2F7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001000" y="4826000"/>
            <a:ext cx="330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技术底座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01000" y="5080000"/>
            <a:ext cx="3327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Node.js 22 · Python build123d · DeepSeek API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altLang="zh-CN" sz="105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Harness Cordis</a:t>
            </a:r>
            <a:r>
              <a:rPr lang="zh-CN" altLang="en-US" sz="105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底层框架；</a:t>
            </a:r>
            <a:r>
              <a:rPr lang="en-US" sz="10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官方插件契约</a:t>
            </a:r>
            <a:endParaRPr lang="en-US" sz="1050" dirty="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同窗口</a:t>
            </a:r>
            <a:r>
              <a:rPr lang="en-US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CAD </a:t>
            </a:r>
            <a:r>
              <a:rPr lang="en-US" sz="10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面板</a:t>
            </a:r>
            <a:endParaRPr lang="en-US" sz="1050" b="0" i="0" u="none" strike="noStrike" dirty="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STEP / STL / GLB </a:t>
            </a:r>
            <a:r>
              <a:rPr lang="en-US" sz="10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导出</a:t>
            </a:r>
            <a:endParaRPr lang="en-US" sz="1050" b="0" i="0" u="none" strike="noStrike" dirty="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4053">
            <a:off x="711204" y="641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11200" y="65024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软件开发梦想秀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0" y="6502400"/>
            <a:ext cx="1320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01 / 08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06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02 ｜ </a:t>
            </a:r>
            <a:r>
              <a:rPr lang="en-US" sz="1100" b="1" i="0" u="none" strike="noStrike" dirty="0" err="1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背景与用户定位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11200" y="685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CAD</a:t>
            </a:r>
            <a:r>
              <a:rPr lang="zh-CN" altLang="en-US" sz="2400" b="1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软件在智能体时代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289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11200" y="1473200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行业现状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11200" y="1854200"/>
            <a:ext cx="60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270000" y="1879600"/>
            <a:ext cx="477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模型厂开始训练三维数据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270000" y="2602612"/>
            <a:ext cx="477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3000"/>
              </a:lnSpc>
              <a:defRPr/>
            </a:pPr>
            <a:r>
              <a:rPr lang="en-US" altLang="zh-CN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GLM-5.3-Flash </a:t>
            </a:r>
            <a:r>
              <a:rPr lang="zh-CN" altLang="en-US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能从零件照片、草图或 </a:t>
            </a:r>
            <a:r>
              <a:rPr lang="en-US" altLang="zh-CN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CAD </a:t>
            </a:r>
            <a:r>
              <a:rPr lang="zh-CN" altLang="en-US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蓝图中理解主体结构、孔位、倒角、曲面和装配关系，再通过 </a:t>
            </a:r>
            <a:r>
              <a:rPr lang="en-US" altLang="zh-CN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build123d </a:t>
            </a:r>
            <a:r>
              <a:rPr lang="zh-CN" altLang="en-US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等代码化工具生成参数化三维模型。    </a:t>
            </a:r>
            <a:r>
              <a:rPr lang="en-US" altLang="zh-CN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--------   </a:t>
            </a:r>
            <a:r>
              <a:rPr lang="en-US" altLang="zh-CN" sz="1200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glm</a:t>
            </a:r>
            <a:r>
              <a:rPr lang="en-US" altLang="zh-CN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5.3 flash </a:t>
            </a:r>
            <a:r>
              <a:rPr lang="zh-CN" altLang="en-US" sz="1200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官方文档</a:t>
            </a:r>
            <a:endParaRPr lang="en-US" altLang="zh-CN" sz="1200" dirty="0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13000"/>
              </a:lnSpc>
              <a:defRPr/>
            </a:pPr>
            <a:r>
              <a:rPr lang="en-US" altLang="zh-CN" sz="1200" dirty="0">
                <a:solidFill>
                  <a:srgbClr val="475569"/>
                </a:solidFill>
                <a:latin typeface="Noto Sans SC"/>
              </a:rPr>
              <a:t>OpenAI </a:t>
            </a:r>
            <a:r>
              <a:rPr lang="zh-CN" altLang="en-US" sz="1200" dirty="0">
                <a:solidFill>
                  <a:srgbClr val="475569"/>
                </a:solidFill>
                <a:latin typeface="Noto Sans SC"/>
              </a:rPr>
              <a:t>发布的 </a:t>
            </a:r>
            <a:r>
              <a:rPr lang="en-US" altLang="zh-CN" sz="1200" dirty="0">
                <a:solidFill>
                  <a:srgbClr val="475569"/>
                </a:solidFill>
                <a:latin typeface="Noto Sans SC"/>
              </a:rPr>
              <a:t>GPT-6-Astra </a:t>
            </a:r>
            <a:r>
              <a:rPr lang="zh-CN" altLang="en-US" sz="1200" dirty="0">
                <a:solidFill>
                  <a:srgbClr val="475569"/>
                </a:solidFill>
                <a:latin typeface="Noto Sans SC"/>
              </a:rPr>
              <a:t>演示了在</a:t>
            </a:r>
            <a:r>
              <a:rPr lang="en-US" altLang="zh-CN" sz="1200" dirty="0">
                <a:solidFill>
                  <a:srgbClr val="475569"/>
                </a:solidFill>
                <a:latin typeface="Noto Sans SC"/>
              </a:rPr>
              <a:t>Blender</a:t>
            </a:r>
            <a:r>
              <a:rPr lang="zh-CN" altLang="en-US" sz="1200" dirty="0">
                <a:solidFill>
                  <a:srgbClr val="475569"/>
                </a:solidFill>
                <a:latin typeface="Noto Sans SC"/>
              </a:rPr>
              <a:t>中自动化建模宇宙飞船</a:t>
            </a:r>
            <a:r>
              <a:rPr lang="en-US" altLang="zh-CN" sz="1200" dirty="0">
                <a:solidFill>
                  <a:srgbClr val="475569"/>
                </a:solidFill>
                <a:latin typeface="Noto Sans SC"/>
              </a:rPr>
              <a:t>3D</a:t>
            </a:r>
            <a:r>
              <a:rPr lang="zh-CN" altLang="en-US" sz="1200" dirty="0">
                <a:solidFill>
                  <a:srgbClr val="475569"/>
                </a:solidFill>
                <a:latin typeface="Noto Sans SC"/>
              </a:rPr>
              <a:t>模型</a:t>
            </a:r>
            <a:endParaRPr lang="en-US" sz="1200" dirty="0">
              <a:solidFill>
                <a:srgbClr val="475569"/>
              </a:solidFill>
              <a:latin typeface="Noto Sans SC"/>
            </a:endParaRPr>
          </a:p>
        </p:txBody>
      </p:sp>
      <p:cxnSp>
        <p:nvCxnSpPr>
          <p:cNvPr id="9" name="Connector 9"/>
          <p:cNvCxnSpPr/>
          <p:nvPr/>
        </p:nvCxnSpPr>
        <p:spPr>
          <a:xfrm rot="-8185">
            <a:off x="711207" y="3440698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11200" y="3444128"/>
            <a:ext cx="60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270000" y="3469528"/>
            <a:ext cx="4775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5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专业</a:t>
            </a:r>
            <a:r>
              <a:rPr lang="en-US" altLang="zh-CN" sz="15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CAD</a:t>
            </a:r>
            <a:r>
              <a:rPr lang="zh-CN" altLang="en-US" sz="15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软件开始落地智能体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270000" y="3799728"/>
            <a:ext cx="4775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zh-CN" sz="1200" dirty="0">
                <a:solidFill>
                  <a:srgbClr val="475569"/>
                </a:solidFill>
                <a:latin typeface="Noto Sans SC"/>
              </a:rPr>
              <a:t>AutoCAD 2027 引入了更高水平的 AI 驱动工作流程，有助于减少摩擦，并在正确的时间提供正确的指导。</a:t>
            </a:r>
            <a:r>
              <a:rPr lang="en-US" altLang="zh-CN" sz="1200" dirty="0">
                <a:solidFill>
                  <a:srgbClr val="475569"/>
                </a:solidFill>
                <a:latin typeface="Noto Sans SC"/>
              </a:rPr>
              <a:t>  --------  Autodesk Assistant</a:t>
            </a:r>
            <a:endParaRPr lang="en-US" sz="1200" dirty="0">
              <a:solidFill>
                <a:srgbClr val="475569"/>
              </a:solidFill>
              <a:latin typeface="Noto Sans SC"/>
            </a:endParaRPr>
          </a:p>
        </p:txBody>
      </p:sp>
      <p:cxnSp>
        <p:nvCxnSpPr>
          <p:cNvPr id="19" name="Connector 19"/>
          <p:cNvCxnSpPr/>
          <p:nvPr/>
        </p:nvCxnSpPr>
        <p:spPr>
          <a:xfrm rot="5390288">
            <a:off x="4076700" y="3714759"/>
            <a:ext cx="449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604000" y="1473200"/>
            <a:ext cx="4876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</a:t>
            </a:r>
            <a:r>
              <a:rPr lang="en-US" sz="1300" b="1" i="0" u="none" strike="noStrike" dirty="0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 err="1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的价值</a:t>
            </a:r>
            <a:endParaRPr lang="en-US" sz="1100" dirty="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1905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1854200"/>
            <a:ext cx="4495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初级</a:t>
            </a:r>
            <a:r>
              <a:rPr lang="en-US" altLang="zh-CN" sz="13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CAD</a:t>
            </a:r>
            <a:r>
              <a:rPr lang="zh-CN" altLang="en-US" sz="13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设计人员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985000" y="2311382"/>
            <a:ext cx="4495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1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自然语言快速生成学习与课程设计所需零件</a:t>
            </a:r>
            <a:r>
              <a:rPr lang="zh-CN" altLang="en-US" sz="11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altLang="zh-CN" sz="1100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重复零件一键生成，改参数即可重建，减少重复劳动</a:t>
            </a:r>
            <a:endParaRPr lang="en-US" altLang="zh-CN" sz="1050" dirty="0"/>
          </a:p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3341078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3290278"/>
            <a:ext cx="4495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50" b="1" dirty="0">
                <a:solidFill>
                  <a:srgbClr val="001C54"/>
                </a:solidFill>
                <a:latin typeface="Noto Sans SC"/>
                <a:sym typeface="Noto Sans SC"/>
              </a:rPr>
              <a:t>国家战略层面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6985000" y="3595078"/>
            <a:ext cx="4495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150" dirty="0">
                <a:solidFill>
                  <a:srgbClr val="475569"/>
                </a:solidFill>
                <a:latin typeface="Noto Sans SC"/>
                <a:sym typeface="Noto Sans SC"/>
              </a:rPr>
              <a:t>软件自主可控与安全；赋能工业智能化；丰富工业软件生态</a:t>
            </a:r>
            <a:endParaRPr lang="en-US" sz="1100" dirty="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654283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85000" y="2603483"/>
            <a:ext cx="4495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50" b="1" i="0" u="none" strike="noStrike" dirty="0" err="1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小型制造团队</a:t>
            </a:r>
            <a:endParaRPr lang="en-US" sz="1100" dirty="0"/>
          </a:p>
        </p:txBody>
      </p:sp>
      <p:sp>
        <p:nvSpPr>
          <p:cNvPr id="29" name="AutoShape 29"/>
          <p:cNvSpPr/>
          <p:nvPr/>
        </p:nvSpPr>
        <p:spPr>
          <a:xfrm>
            <a:off x="6985000" y="2908283"/>
            <a:ext cx="4495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语义检索历史零件与参数模板，设计资产直接复用</a:t>
            </a:r>
            <a:endParaRPr lang="en-US" sz="1100" dirty="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6"/>
          <a:srcRect t="81" b="81"/>
          <a:stretch>
            <a:fillRect/>
          </a:stretch>
        </p:blipFill>
        <p:spPr>
          <a:xfrm>
            <a:off x="7480299" y="3911619"/>
            <a:ext cx="3556000" cy="2209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32" name="Connector 32"/>
          <p:cNvCxnSpPr/>
          <p:nvPr/>
        </p:nvCxnSpPr>
        <p:spPr>
          <a:xfrm rot="-4053">
            <a:off x="711204" y="641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11200" y="65024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软件开发梦想秀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160000" y="6502400"/>
            <a:ext cx="1320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02 / 08</a:t>
            </a:r>
            <a:endParaRPr lang="en-US" sz="1100" dirty="0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73D54F42-CDBB-581F-38CC-4FB07E0204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508" y="4257922"/>
            <a:ext cx="2622698" cy="1974358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594612CF-CD29-5D05-68B5-9D027ED90D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2502" y="4544914"/>
            <a:ext cx="2622698" cy="14766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06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03 ｜ </a:t>
            </a:r>
            <a:r>
              <a:rPr lang="en-US" sz="1100" b="1" i="0" u="none" strike="noStrike" dirty="0" err="1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核心</a:t>
            </a:r>
            <a:r>
              <a:rPr lang="zh-CN" alt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功能愿景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11200" y="685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56" name="Connector 56"/>
          <p:cNvCxnSpPr/>
          <p:nvPr/>
        </p:nvCxnSpPr>
        <p:spPr>
          <a:xfrm rot="-4053">
            <a:off x="711204" y="641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AutoShape 57"/>
          <p:cNvSpPr/>
          <p:nvPr/>
        </p:nvSpPr>
        <p:spPr>
          <a:xfrm>
            <a:off x="711200" y="65024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软件开发梦想秀</a:t>
            </a:r>
            <a:endParaRPr lang="en-US" sz="1100"/>
          </a:p>
        </p:txBody>
      </p:sp>
      <p:sp>
        <p:nvSpPr>
          <p:cNvPr id="58" name="AutoShape 58"/>
          <p:cNvSpPr/>
          <p:nvPr/>
        </p:nvSpPr>
        <p:spPr>
          <a:xfrm>
            <a:off x="10160000" y="6502400"/>
            <a:ext cx="1320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03 / 08</a:t>
            </a:r>
            <a:endParaRPr lang="en-US" sz="1100" dirty="0"/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600EA1C6-6099-F641-221E-DA47FD0C8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433" y="1727196"/>
            <a:ext cx="5065813" cy="4515342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1395369-B5F9-E743-47F7-265785A8B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633" y="1006700"/>
            <a:ext cx="4338849" cy="2361732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896082B2-3926-EF68-D4A8-2FA6C0225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056" y="3333619"/>
            <a:ext cx="4394426" cy="2571882"/>
          </a:xfrm>
          <a:prstGeom prst="rect">
            <a:avLst/>
          </a:prstGeom>
        </p:spPr>
      </p:pic>
      <p:sp>
        <p:nvSpPr>
          <p:cNvPr id="70" name="AutoShape 3">
            <a:extLst>
              <a:ext uri="{FF2B5EF4-FFF2-40B4-BE49-F238E27FC236}">
                <a16:creationId xmlns:a16="http://schemas.microsoft.com/office/drawing/2014/main" id="{50A3DE4B-2EB9-2DC5-C70A-8D82668450D2}"/>
              </a:ext>
            </a:extLst>
          </p:cNvPr>
          <p:cNvSpPr/>
          <p:nvPr/>
        </p:nvSpPr>
        <p:spPr>
          <a:xfrm>
            <a:off x="711200" y="939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五个核心功能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6A052-2AD5-F0BA-5C80-EED39229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87DCDD8-FA6B-FF2E-556D-0B67412C14D3}"/>
              </a:ext>
            </a:extLst>
          </p:cNvPr>
          <p:cNvSpPr/>
          <p:nvPr/>
        </p:nvSpPr>
        <p:spPr>
          <a:xfrm>
            <a:off x="711200" y="406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03 ｜ </a:t>
            </a:r>
            <a:r>
              <a:rPr lang="en-US" sz="1100" b="1" i="0" u="none" strike="noStrike" dirty="0" err="1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核心</a:t>
            </a:r>
            <a:r>
              <a:rPr lang="zh-CN" alt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功能愿景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46D4A19-8574-8EC0-A987-C79EBA57302C}"/>
              </a:ext>
            </a:extLst>
          </p:cNvPr>
          <p:cNvSpPr/>
          <p:nvPr/>
        </p:nvSpPr>
        <p:spPr>
          <a:xfrm>
            <a:off x="711200" y="685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56" name="Connector 56">
            <a:extLst>
              <a:ext uri="{FF2B5EF4-FFF2-40B4-BE49-F238E27FC236}">
                <a16:creationId xmlns:a16="http://schemas.microsoft.com/office/drawing/2014/main" id="{4E1A9758-61FF-4A1F-E3B0-30B18C20D49C}"/>
              </a:ext>
            </a:extLst>
          </p:cNvPr>
          <p:cNvCxnSpPr/>
          <p:nvPr/>
        </p:nvCxnSpPr>
        <p:spPr>
          <a:xfrm rot="-4053">
            <a:off x="711204" y="641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AutoShape 57">
            <a:extLst>
              <a:ext uri="{FF2B5EF4-FFF2-40B4-BE49-F238E27FC236}">
                <a16:creationId xmlns:a16="http://schemas.microsoft.com/office/drawing/2014/main" id="{9971DFD1-C28B-836D-75FA-ED605C946324}"/>
              </a:ext>
            </a:extLst>
          </p:cNvPr>
          <p:cNvSpPr/>
          <p:nvPr/>
        </p:nvSpPr>
        <p:spPr>
          <a:xfrm>
            <a:off x="711200" y="65024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软件开发梦想秀</a:t>
            </a:r>
            <a:endParaRPr lang="en-US" sz="1100"/>
          </a:p>
        </p:txBody>
      </p:sp>
      <p:sp>
        <p:nvSpPr>
          <p:cNvPr id="58" name="AutoShape 58">
            <a:extLst>
              <a:ext uri="{FF2B5EF4-FFF2-40B4-BE49-F238E27FC236}">
                <a16:creationId xmlns:a16="http://schemas.microsoft.com/office/drawing/2014/main" id="{B338FC50-2AFD-7FEA-4388-70E89DDA8BE5}"/>
              </a:ext>
            </a:extLst>
          </p:cNvPr>
          <p:cNvSpPr/>
          <p:nvPr/>
        </p:nvSpPr>
        <p:spPr>
          <a:xfrm>
            <a:off x="10160000" y="6502400"/>
            <a:ext cx="1320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04 / 08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CA601A-EF94-24C2-439C-FEF8FBE78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6" y="1828577"/>
            <a:ext cx="5061210" cy="43436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4718BB0-0C17-5064-BE66-029C65870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231" y="3362869"/>
            <a:ext cx="4243754" cy="29871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8AABE5B-EDFE-301D-FF13-C35034BC0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6986" y="186432"/>
            <a:ext cx="4256719" cy="32425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BD7F232-DFA7-9E95-E0BE-60EEB020D8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5015" y="1219128"/>
            <a:ext cx="3583784" cy="1701500"/>
          </a:xfrm>
          <a:prstGeom prst="rect">
            <a:avLst/>
          </a:prstGeom>
        </p:spPr>
      </p:pic>
      <p:sp>
        <p:nvSpPr>
          <p:cNvPr id="13" name="AutoShape 3">
            <a:extLst>
              <a:ext uri="{FF2B5EF4-FFF2-40B4-BE49-F238E27FC236}">
                <a16:creationId xmlns:a16="http://schemas.microsoft.com/office/drawing/2014/main" id="{E5FFFBF1-675E-69FC-18F1-17762CBBA654}"/>
              </a:ext>
            </a:extLst>
          </p:cNvPr>
          <p:cNvSpPr/>
          <p:nvPr/>
        </p:nvSpPr>
        <p:spPr>
          <a:xfrm>
            <a:off x="711200" y="939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五个核心功能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50591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06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 ｜ </a:t>
            </a:r>
            <a:r>
              <a:rPr lang="en-US" sz="1100" b="1" i="0" u="none" strike="noStrike" dirty="0" err="1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组织与协作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11200" y="685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8 人 Scrum </a:t>
            </a:r>
            <a:r>
              <a:rPr lang="en-US" sz="2200" b="1" i="0" u="none" strike="noStrike" dirty="0" err="1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团队配干系人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289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11200" y="1447800"/>
            <a:ext cx="533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Scrum 团队与初步分工（共 8 人）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1854200"/>
            <a:ext cx="228600" cy="228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66800" y="18034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 dirty="0" err="1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产品负责人</a:t>
            </a:r>
            <a:r>
              <a:rPr 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 PO</a:t>
            </a:r>
            <a:r>
              <a:rPr lang="zh-CN" alt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：许祖嘉                    </a:t>
            </a:r>
            <a:r>
              <a:rPr 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（1 人）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66800" y="20828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需求与用户故事、优先级、验收标准，验收每次迭代成果</a:t>
            </a:r>
            <a:endParaRPr lang="en-US" sz="1100" dirty="0"/>
          </a:p>
        </p:txBody>
      </p:sp>
      <p:cxnSp>
        <p:nvCxnSpPr>
          <p:cNvPr id="9" name="Connector 9"/>
          <p:cNvCxnSpPr>
            <a:cxnSpLocks/>
          </p:cNvCxnSpPr>
          <p:nvPr/>
        </p:nvCxnSpPr>
        <p:spPr>
          <a:xfrm flipV="1">
            <a:off x="711200" y="2432050"/>
            <a:ext cx="3749431" cy="635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2540000"/>
            <a:ext cx="228600" cy="228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066800" y="24892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Scrum Master</a:t>
            </a:r>
            <a:r>
              <a:rPr lang="zh-CN" alt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：李健博                      </a:t>
            </a:r>
            <a:r>
              <a:rPr 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（1 人）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066800" y="27686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Scrum </a:t>
            </a:r>
            <a:r>
              <a:rPr lang="en-US" sz="10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活动、看板、进度与风险阻塞跟踪、资料交接</a:t>
            </a:r>
            <a:endParaRPr lang="en-US" sz="1100" dirty="0"/>
          </a:p>
        </p:txBody>
      </p:sp>
      <p:cxnSp>
        <p:nvCxnSpPr>
          <p:cNvPr id="13" name="Connector 13"/>
          <p:cNvCxnSpPr>
            <a:cxnSpLocks/>
          </p:cNvCxnSpPr>
          <p:nvPr/>
        </p:nvCxnSpPr>
        <p:spPr>
          <a:xfrm flipV="1">
            <a:off x="711200" y="3098800"/>
            <a:ext cx="3749431" cy="254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" y="3225800"/>
            <a:ext cx="228600" cy="228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66800" y="31750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 dirty="0" err="1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生成、检索组</a:t>
            </a:r>
            <a:r>
              <a:rPr lang="zh-CN" alt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：常诚、刘子轩        </a:t>
            </a:r>
            <a:r>
              <a:rPr 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（2 人）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1066800" y="34544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Text/</a:t>
            </a:r>
            <a:r>
              <a:rPr lang="en-US" altLang="zh-CN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image</a:t>
            </a:r>
            <a:r>
              <a:rPr lang="en-US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-to-CAD、CAD </a:t>
            </a:r>
            <a:r>
              <a:rPr lang="en-US" sz="10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模型检索及对应</a:t>
            </a:r>
            <a:r>
              <a:rPr lang="en-US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Skills 与 Tools</a:t>
            </a:r>
            <a:endParaRPr lang="en-US" sz="1100" dirty="0"/>
          </a:p>
        </p:txBody>
      </p:sp>
      <p:cxnSp>
        <p:nvCxnSpPr>
          <p:cNvPr id="17" name="Connector 17"/>
          <p:cNvCxnSpPr>
            <a:cxnSpLocks/>
          </p:cNvCxnSpPr>
          <p:nvPr/>
        </p:nvCxnSpPr>
        <p:spPr>
          <a:xfrm>
            <a:off x="711200" y="3810000"/>
            <a:ext cx="367909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" y="3911600"/>
            <a:ext cx="228600" cy="228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66800" y="38608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 dirty="0" err="1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FreeCAD</a:t>
            </a:r>
            <a:r>
              <a:rPr 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50" b="1" i="0" u="none" strike="noStrike" dirty="0" err="1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迁移组</a:t>
            </a:r>
            <a:r>
              <a:rPr lang="zh-CN" alt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：侯永森、庞佳泽</a:t>
            </a:r>
            <a:r>
              <a:rPr 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（2 人）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1066800" y="41402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基础 CAD 操作筛选、重构，迁移到插件面板并回写模型</a:t>
            </a:r>
            <a:endParaRPr lang="en-US" sz="1100"/>
          </a:p>
        </p:txBody>
      </p:sp>
      <p:cxnSp>
        <p:nvCxnSpPr>
          <p:cNvPr id="21" name="Connector 21"/>
          <p:cNvCxnSpPr>
            <a:cxnSpLocks/>
          </p:cNvCxnSpPr>
          <p:nvPr/>
        </p:nvCxnSpPr>
        <p:spPr>
          <a:xfrm>
            <a:off x="711200" y="4495800"/>
            <a:ext cx="3679092" cy="381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" y="4597400"/>
            <a:ext cx="228600" cy="228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066800" y="45466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 dirty="0" err="1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集成组</a:t>
            </a:r>
            <a:r>
              <a:rPr lang="zh-CN" alt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：严翊航、余智皓                </a:t>
            </a:r>
            <a:r>
              <a:rPr lang="en-US" sz="12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（2 人）</a:t>
            </a:r>
            <a:endParaRPr lang="en-US" sz="1100" dirty="0"/>
          </a:p>
        </p:txBody>
      </p:sp>
      <p:sp>
        <p:nvSpPr>
          <p:cNvPr id="24" name="AutoShape 24"/>
          <p:cNvSpPr/>
          <p:nvPr/>
        </p:nvSpPr>
        <p:spPr>
          <a:xfrm>
            <a:off x="1066800" y="4826000"/>
            <a:ext cx="497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0" i="0" u="none" strike="noStrik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模块接口、联调、测试、Debug、发布</a:t>
            </a:r>
            <a:r>
              <a:rPr lang="zh-CN" altLang="en-US" sz="1050" b="0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zh-CN" altLang="en-US" sz="1050" b="1" i="0" u="none" strike="noStrik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订阅接口</a:t>
            </a:r>
            <a:endParaRPr lang="en-US" sz="1100" b="1" dirty="0"/>
          </a:p>
        </p:txBody>
      </p:sp>
      <p:cxnSp>
        <p:nvCxnSpPr>
          <p:cNvPr id="25" name="Connector 25"/>
          <p:cNvCxnSpPr/>
          <p:nvPr/>
        </p:nvCxnSpPr>
        <p:spPr>
          <a:xfrm rot="5388307">
            <a:off x="3112508" y="3308361"/>
            <a:ext cx="3733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11200" y="5334000"/>
            <a:ext cx="10769600" cy="9906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1C54">
                  <a:alpha val="100000"/>
                </a:srgbClr>
              </a:gs>
              <a:gs pos="60000">
                <a:srgbClr val="003087">
                  <a:alpha val="100000"/>
                </a:srgbClr>
              </a:gs>
              <a:gs pos="100000">
                <a:srgbClr val="0070BA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965200" y="5641975"/>
            <a:ext cx="10261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zh-CN" altLang="zh-CN" sz="2400" dirty="0">
                <a:solidFill>
                  <a:schemeClr val="bg1"/>
                </a:solidFill>
              </a:rPr>
              <a:t>兼顾团队配置与干系人矩阵</a:t>
            </a:r>
            <a:endParaRPr lang="en-US" sz="2400" b="1" i="0" u="none" strike="noStrike" dirty="0">
              <a:solidFill>
                <a:schemeClr val="bg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711200" y="65024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github.com/jianboer/SimpleCADforDSH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10160000" y="6502400"/>
            <a:ext cx="1320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06/ 08</a:t>
            </a:r>
            <a:endParaRPr lang="en-US" sz="11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490AE072-9D66-AF10-84CD-FA9ABF8F72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324" y="720623"/>
            <a:ext cx="4604198" cy="192097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4A7F2F1-E552-44E2-763E-B61E6B0FF0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324" y="2654300"/>
            <a:ext cx="4667611" cy="2578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D9C6D-AA71-7B2A-A92C-31CF16C0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118072D-71EA-E573-A5F5-051DA57A62DB}"/>
              </a:ext>
            </a:extLst>
          </p:cNvPr>
          <p:cNvSpPr/>
          <p:nvPr/>
        </p:nvSpPr>
        <p:spPr>
          <a:xfrm>
            <a:off x="711200" y="406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1100" b="1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 ｜ </a:t>
            </a:r>
            <a:r>
              <a:rPr lang="en-US" sz="1100" b="1" i="0" u="none" strike="noStrike" dirty="0" err="1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项目章程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BDE4BD4-E687-1730-62A8-4992F587B897}"/>
              </a:ext>
            </a:extLst>
          </p:cNvPr>
          <p:cNvSpPr/>
          <p:nvPr/>
        </p:nvSpPr>
        <p:spPr>
          <a:xfrm>
            <a:off x="711200" y="685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150" b="1" i="0" u="none" strike="noStrike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项目章程：目标、风险、责任</a:t>
            </a:r>
            <a:r>
              <a:rPr lang="zh-CN" altLang="en-US" sz="2150" b="1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、治理</a:t>
            </a:r>
            <a:endParaRPr lang="en-US" sz="1100" dirty="0"/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5136A416-E93A-3B84-020F-CB7AB0F7C0EF}"/>
              </a:ext>
            </a:extLst>
          </p:cNvPr>
          <p:cNvCxnSpPr/>
          <p:nvPr/>
        </p:nvCxnSpPr>
        <p:spPr>
          <a:xfrm rot="-4053">
            <a:off x="711204" y="1289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Connector 34">
            <a:extLst>
              <a:ext uri="{FF2B5EF4-FFF2-40B4-BE49-F238E27FC236}">
                <a16:creationId xmlns:a16="http://schemas.microsoft.com/office/drawing/2014/main" id="{3452B7C9-21A8-1B9F-C42B-2ACDC38BDF3D}"/>
              </a:ext>
            </a:extLst>
          </p:cNvPr>
          <p:cNvCxnSpPr/>
          <p:nvPr/>
        </p:nvCxnSpPr>
        <p:spPr>
          <a:xfrm rot="-4053">
            <a:off x="711204" y="641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>
            <a:extLst>
              <a:ext uri="{FF2B5EF4-FFF2-40B4-BE49-F238E27FC236}">
                <a16:creationId xmlns:a16="http://schemas.microsoft.com/office/drawing/2014/main" id="{56B40B1C-5825-015A-BF04-CBA005AABB64}"/>
              </a:ext>
            </a:extLst>
          </p:cNvPr>
          <p:cNvSpPr/>
          <p:nvPr/>
        </p:nvSpPr>
        <p:spPr>
          <a:xfrm>
            <a:off x="711200" y="65024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软件开发梦想秀</a:t>
            </a:r>
            <a:endParaRPr lang="en-US" sz="1100"/>
          </a:p>
        </p:txBody>
      </p:sp>
      <p:sp>
        <p:nvSpPr>
          <p:cNvPr id="36" name="AutoShape 36">
            <a:extLst>
              <a:ext uri="{FF2B5EF4-FFF2-40B4-BE49-F238E27FC236}">
                <a16:creationId xmlns:a16="http://schemas.microsoft.com/office/drawing/2014/main" id="{EF9AD125-20F6-20C3-E6FB-47C301C90C39}"/>
              </a:ext>
            </a:extLst>
          </p:cNvPr>
          <p:cNvSpPr/>
          <p:nvPr/>
        </p:nvSpPr>
        <p:spPr>
          <a:xfrm>
            <a:off x="10160000" y="6502400"/>
            <a:ext cx="1320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07/ 08</a:t>
            </a:r>
            <a:endParaRPr lang="en-US" sz="11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0D0FA1-0494-C06B-8660-F510931BC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830" y="4540157"/>
            <a:ext cx="8155331" cy="18098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8EFE270-D6EE-DDCC-1C7E-1293EEE87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829" y="1371600"/>
            <a:ext cx="8155331" cy="3089938"/>
          </a:xfrm>
          <a:prstGeom prst="rect">
            <a:avLst/>
          </a:prstGeom>
        </p:spPr>
      </p:pic>
      <p:sp>
        <p:nvSpPr>
          <p:cNvPr id="9" name="AutoShape 6">
            <a:extLst>
              <a:ext uri="{FF2B5EF4-FFF2-40B4-BE49-F238E27FC236}">
                <a16:creationId xmlns:a16="http://schemas.microsoft.com/office/drawing/2014/main" id="{74EF749A-4AE7-931F-AB7F-1F44AC02940D}"/>
              </a:ext>
            </a:extLst>
          </p:cNvPr>
          <p:cNvSpPr/>
          <p:nvPr/>
        </p:nvSpPr>
        <p:spPr>
          <a:xfrm>
            <a:off x="711200" y="1422400"/>
            <a:ext cx="60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r>
              <a:rPr lang="zh-CN" altLang="en-US" sz="24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：目标</a:t>
            </a:r>
            <a:endParaRPr lang="en-US" sz="1100" dirty="0"/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1D057957-CADF-43BB-7769-CFF32597B136}"/>
              </a:ext>
            </a:extLst>
          </p:cNvPr>
          <p:cNvSpPr/>
          <p:nvPr/>
        </p:nvSpPr>
        <p:spPr>
          <a:xfrm>
            <a:off x="711200" y="4461538"/>
            <a:ext cx="60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r>
              <a:rPr lang="zh-CN" altLang="en-US" sz="24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：风险与责任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8167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1200" y="406400"/>
            <a:ext cx="635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1100" b="1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r>
              <a:rPr lang="en-US" sz="11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 ｜ </a:t>
            </a:r>
            <a:r>
              <a:rPr lang="en-US" sz="1100" b="1" i="0" u="none" strike="noStrike" dirty="0" err="1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项目章程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11200" y="685800"/>
            <a:ext cx="107696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150" b="1" dirty="0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项目章程：目标、风险、责任、治理</a:t>
            </a:r>
            <a:endParaRPr lang="en-US" altLang="zh-CN" sz="1100" dirty="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289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Connector 34"/>
          <p:cNvCxnSpPr/>
          <p:nvPr/>
        </p:nvCxnSpPr>
        <p:spPr>
          <a:xfrm rot="-4053">
            <a:off x="711204" y="6419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711200" y="6502400"/>
            <a:ext cx="635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95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软件开发梦想秀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0160000" y="6502400"/>
            <a:ext cx="1320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950" b="0" i="0" u="none" strike="noStrik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08/ 08</a:t>
            </a:r>
            <a:endParaRPr lang="en-US" sz="11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080E57BC-F2A4-1EE6-671A-687138C3A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099" y="3142325"/>
            <a:ext cx="6846791" cy="32076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3587A2-176F-376F-7B3B-797E31E9E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003" y="2183428"/>
            <a:ext cx="9449286" cy="895396"/>
          </a:xfrm>
          <a:prstGeom prst="rect">
            <a:avLst/>
          </a:prstGeom>
        </p:spPr>
      </p:pic>
      <p:sp>
        <p:nvSpPr>
          <p:cNvPr id="8" name="AutoShape 6">
            <a:extLst>
              <a:ext uri="{FF2B5EF4-FFF2-40B4-BE49-F238E27FC236}">
                <a16:creationId xmlns:a16="http://schemas.microsoft.com/office/drawing/2014/main" id="{828FC229-7023-9C20-D836-087036931398}"/>
              </a:ext>
            </a:extLst>
          </p:cNvPr>
          <p:cNvSpPr/>
          <p:nvPr/>
        </p:nvSpPr>
        <p:spPr>
          <a:xfrm>
            <a:off x="711200" y="1503978"/>
            <a:ext cx="609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r>
              <a:rPr lang="zh-CN" altLang="en-US" sz="2400" b="1" i="0" u="none" strike="noStrike" dirty="0">
                <a:solidFill>
                  <a:srgbClr val="0070BA"/>
                </a:solidFill>
                <a:latin typeface="Inter"/>
                <a:ea typeface="Inter"/>
                <a:cs typeface="Inter"/>
                <a:sym typeface="Inter"/>
              </a:rPr>
              <a:t>：治理</a:t>
            </a:r>
            <a:endParaRPr lang="en-US" sz="1100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48BC4F19-D89D-1AED-DB9C-7C52502A43AD}"/>
              </a:ext>
            </a:extLst>
          </p:cNvPr>
          <p:cNvSpPr/>
          <p:nvPr/>
        </p:nvSpPr>
        <p:spPr>
          <a:xfrm>
            <a:off x="2229339" y="1640503"/>
            <a:ext cx="533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b="1" dirty="0">
                <a:solidFill>
                  <a:srgbClr val="003087"/>
                </a:solidFill>
                <a:latin typeface="Noto Sans SC"/>
                <a:sym typeface="Noto Sans SC"/>
              </a:rPr>
              <a:t>已建立</a:t>
            </a:r>
            <a:r>
              <a:rPr lang="en-US" altLang="zh-CN" sz="1300" b="1" dirty="0" err="1">
                <a:solidFill>
                  <a:srgbClr val="003087"/>
                </a:solidFill>
                <a:latin typeface="Noto Sans SC"/>
                <a:sym typeface="Noto Sans SC"/>
              </a:rPr>
              <a:t>github</a:t>
            </a:r>
            <a:r>
              <a:rPr lang="zh-CN" altLang="en-US" sz="1300" b="1" dirty="0">
                <a:solidFill>
                  <a:srgbClr val="003087"/>
                </a:solidFill>
                <a:latin typeface="Noto Sans SC"/>
                <a:sym typeface="Noto Sans SC"/>
              </a:rPr>
              <a:t>仓库，欢迎</a:t>
            </a:r>
            <a:r>
              <a:rPr lang="en-US" altLang="zh-CN" sz="1300" b="1" dirty="0">
                <a:solidFill>
                  <a:srgbClr val="003087"/>
                </a:solidFill>
                <a:latin typeface="Noto Sans SC"/>
                <a:sym typeface="Noto Sans SC"/>
              </a:rPr>
              <a:t>fork</a:t>
            </a:r>
            <a:r>
              <a:rPr lang="zh-CN" altLang="en-US" sz="1300" b="1" dirty="0">
                <a:solidFill>
                  <a:srgbClr val="003087"/>
                </a:solidFill>
                <a:latin typeface="Noto Sans SC"/>
                <a:sym typeface="Noto Sans SC"/>
              </a:rPr>
              <a:t>和</a:t>
            </a:r>
            <a:r>
              <a:rPr lang="en-US" altLang="zh-CN" sz="1300" b="1" dirty="0">
                <a:solidFill>
                  <a:srgbClr val="003087"/>
                </a:solidFill>
                <a:latin typeface="Noto Sans SC"/>
                <a:sym typeface="Noto Sans SC"/>
              </a:rPr>
              <a:t>star</a:t>
            </a:r>
            <a:r>
              <a:rPr lang="zh-CN" altLang="en-US" sz="1300" b="1" dirty="0">
                <a:solidFill>
                  <a:srgbClr val="003087"/>
                </a:solidFill>
                <a:latin typeface="Noto Sans SC"/>
                <a:sym typeface="Noto Sans SC"/>
              </a:rPr>
              <a:t>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8B40-AF6B-34E6-5A85-1FA8358E0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7CF4604-4102-02DD-0435-36FCB790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737DF81F-D6B9-A84D-2B8D-AA20ACCC3A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71433">
                  <a:alpha val="92000"/>
                </a:srgbClr>
              </a:gs>
              <a:gs pos="55000">
                <a:srgbClr val="071433">
                  <a:alpha val="70000"/>
                </a:srgbClr>
              </a:gs>
              <a:gs pos="100000">
                <a:srgbClr val="071433">
                  <a:alpha val="2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4" name="Connector 4">
            <a:extLst>
              <a:ext uri="{FF2B5EF4-FFF2-40B4-BE49-F238E27FC236}">
                <a16:creationId xmlns:a16="http://schemas.microsoft.com/office/drawing/2014/main" id="{B5A6E644-6A0E-5E0A-8005-CE99A6C42A80}"/>
              </a:ext>
            </a:extLst>
          </p:cNvPr>
          <p:cNvCxnSpPr/>
          <p:nvPr/>
        </p:nvCxnSpPr>
        <p:spPr>
          <a:xfrm rot="-71609">
            <a:off x="812866" y="1492250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96E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>
              <a:ext uri="{FF2B5EF4-FFF2-40B4-BE49-F238E27FC236}">
                <a16:creationId xmlns:a16="http://schemas.microsoft.com/office/drawing/2014/main" id="{8DF44CE2-6ABF-BE86-CBD6-FCA59A8F62A2}"/>
              </a:ext>
            </a:extLst>
          </p:cNvPr>
          <p:cNvSpPr/>
          <p:nvPr/>
        </p:nvSpPr>
        <p:spPr>
          <a:xfrm>
            <a:off x="1524000" y="1320800"/>
            <a:ext cx="584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讨论</a:t>
            </a:r>
            <a:r>
              <a:rPr lang="en-US" sz="1300" b="0" i="0" u="none" strike="noStrike" dirty="0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 1 · </a:t>
            </a:r>
            <a:r>
              <a:rPr lang="en-US" sz="1300" b="0" i="0" u="none" strike="noStrike" dirty="0" err="1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软件开发梦想秀</a:t>
            </a:r>
            <a:r>
              <a:rPr lang="en-US" sz="1300" b="0" i="0" u="none" strike="noStrike" dirty="0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 ｜ </a:t>
            </a:r>
            <a:r>
              <a:rPr lang="en-US" sz="1300" b="0" i="0" u="none" strike="noStrike" dirty="0" err="1">
                <a:solidFill>
                  <a:srgbClr val="9FC3E8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软件工程与项目管理</a:t>
            </a:r>
            <a:endParaRPr lang="en-US" sz="1100" dirty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5678DC0D-EB4A-F98D-575D-9290F3D399AA}"/>
              </a:ext>
            </a:extLst>
          </p:cNvPr>
          <p:cNvSpPr/>
          <p:nvPr/>
        </p:nvSpPr>
        <p:spPr>
          <a:xfrm>
            <a:off x="787400" y="1981200"/>
            <a:ext cx="7112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感谢聆听！敬请批评指正</a:t>
            </a:r>
            <a:endParaRPr lang="en-US" sz="1100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765DE48-D704-28E5-FF71-689DC5DD4C10}"/>
              </a:ext>
            </a:extLst>
          </p:cNvPr>
          <p:cNvSpPr/>
          <p:nvPr/>
        </p:nvSpPr>
        <p:spPr>
          <a:xfrm>
            <a:off x="812800" y="3048000"/>
            <a:ext cx="70612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 dirty="0" err="1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面向</a:t>
            </a:r>
            <a:r>
              <a:rPr lang="en-US" sz="2000" b="1" i="0" u="none" strike="noStrike" dirty="0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 DeepSeek Harness </a:t>
            </a:r>
            <a:r>
              <a:rPr lang="en-US" sz="2000" b="1" i="0" u="none" strike="noStrike" dirty="0" err="1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的智能参数化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2000" b="1" i="0" u="none" strike="noStrike" dirty="0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CAD </a:t>
            </a:r>
            <a:r>
              <a:rPr lang="en-US" sz="2000" b="1" i="0" u="none" strike="noStrike" dirty="0" err="1">
                <a:solidFill>
                  <a:srgbClr val="D4E5F7"/>
                </a:solidFill>
                <a:latin typeface="Noto Sans SC"/>
                <a:ea typeface="Noto Sans SC"/>
                <a:cs typeface="Noto Sans SC"/>
                <a:sym typeface="Noto Sans SC"/>
              </a:rPr>
              <a:t>生成检索插件</a:t>
            </a:r>
            <a:endParaRPr lang="en-US" sz="2000" b="1" i="0" u="none" strike="noStrike" dirty="0">
              <a:solidFill>
                <a:srgbClr val="D4E5F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F11A0290-9265-59CB-647F-0E5E55B05F08}"/>
              </a:ext>
            </a:extLst>
          </p:cNvPr>
          <p:cNvCxnSpPr/>
          <p:nvPr/>
        </p:nvCxnSpPr>
        <p:spPr>
          <a:xfrm rot="-6930">
            <a:off x="812806" y="4159250"/>
            <a:ext cx="629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B2">
                <a:alpha val="6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47698620-D7B0-AFA1-C0D1-6371BB9A8C40}"/>
              </a:ext>
            </a:extLst>
          </p:cNvPr>
          <p:cNvCxnSpPr/>
          <p:nvPr/>
        </p:nvCxnSpPr>
        <p:spPr>
          <a:xfrm rot="-4131">
            <a:off x="812804" y="5937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B2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>
              <a:ext uri="{FF2B5EF4-FFF2-40B4-BE49-F238E27FC236}">
                <a16:creationId xmlns:a16="http://schemas.microsoft.com/office/drawing/2014/main" id="{D48FB280-1405-80EF-142A-9A9A2E71703B}"/>
              </a:ext>
            </a:extLst>
          </p:cNvPr>
          <p:cNvSpPr/>
          <p:nvPr/>
        </p:nvSpPr>
        <p:spPr>
          <a:xfrm>
            <a:off x="812799" y="4864101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8FB0D6"/>
                </a:solidFill>
                <a:latin typeface="Noto Sans SC"/>
                <a:sym typeface="Noto Sans SC"/>
              </a:rPr>
              <a:t>第</a:t>
            </a:r>
            <a:r>
              <a:rPr lang="en-US" altLang="zh-CN" sz="1200" dirty="0">
                <a:solidFill>
                  <a:srgbClr val="8FB0D6"/>
                </a:solidFill>
                <a:latin typeface="Noto Sans SC"/>
                <a:sym typeface="Noto Sans SC"/>
              </a:rPr>
              <a:t>12</a:t>
            </a:r>
            <a:r>
              <a:rPr lang="zh-CN" altLang="en-US" sz="1200" dirty="0">
                <a:solidFill>
                  <a:srgbClr val="8FB0D6"/>
                </a:solidFill>
                <a:latin typeface="Noto Sans SC"/>
                <a:sym typeface="Noto Sans SC"/>
              </a:rPr>
              <a:t>组</a:t>
            </a:r>
            <a:endParaRPr lang="en-US" altLang="zh-CN" sz="1200" dirty="0">
              <a:solidFill>
                <a:srgbClr val="8FB0D6"/>
              </a:solidFill>
              <a:latin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8FB0D6"/>
                </a:solidFill>
                <a:latin typeface="Noto Sans SC"/>
                <a:sym typeface="Noto Sans SC"/>
              </a:rPr>
              <a:t>汇报人：李健博</a:t>
            </a:r>
            <a:endParaRPr lang="en-US" altLang="zh-CN" sz="1200" dirty="0">
              <a:solidFill>
                <a:srgbClr val="8FB0D6"/>
              </a:solidFill>
              <a:latin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8FB0D6"/>
                </a:solidFill>
                <a:latin typeface="Noto Sans SC"/>
                <a:sym typeface="Noto Sans SC"/>
              </a:rPr>
              <a:t>小组成员：严翊航、庞佳泽、许祖嘉、常诚、余智皓、侯永森、刘子轩</a:t>
            </a:r>
            <a:endParaRPr lang="en-US" sz="1100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1C018263-4B92-815D-EC1A-FA068D946A6B}"/>
              </a:ext>
            </a:extLst>
          </p:cNvPr>
          <p:cNvSpPr/>
          <p:nvPr/>
        </p:nvSpPr>
        <p:spPr>
          <a:xfrm>
            <a:off x="7112000" y="6096000"/>
            <a:ext cx="426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FB0D6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github.com/jianboer/SimpleCADforDSH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4139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1158</Words>
  <Application>Microsoft Office PowerPoint</Application>
  <PresentationFormat>宽屏</PresentationFormat>
  <Paragraphs>112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Inter</vt:lpstr>
      <vt:lpstr>Noto Sans SC</vt:lpstr>
      <vt:lpstr>Arial</vt:lpstr>
      <vt:lpstr>Roboto Mono</vt:lpstr>
      <vt:lpstr>Office 主题​​</vt:lpstr>
      <vt:lpstr>默认主题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李健博</dc:creator>
  <cp:lastModifiedBy>健博 李</cp:lastModifiedBy>
  <cp:revision>19</cp:revision>
  <dcterms:created xsi:type="dcterms:W3CDTF">2026-09-13T14:45:36Z</dcterms:created>
  <dcterms:modified xsi:type="dcterms:W3CDTF">2026-09-14T11:06:52Z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BAAABC6643957A0D10B7A66A7A0208A8_42</vt:lpwstr>
  </property>
  <property fmtid="{D5CDD505-2E9C-101B-9397-08002B2CF9AE}" pid="3" name="KSOProductBuildVer">
    <vt:lpwstr>2052-12.1.28492.28492</vt:lpwstr>
  </property>
</Properties>
</file>